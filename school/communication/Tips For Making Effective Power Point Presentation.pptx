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77" r:id="rId8"/>
    <p:sldId id="278" r:id="rId9"/>
    <p:sldId id="279" r:id="rId10"/>
    <p:sldId id="280" r:id="rId11"/>
    <p:sldId id="262" r:id="rId12"/>
    <p:sldId id="276" r:id="rId13"/>
    <p:sldId id="269" r:id="rId14"/>
    <p:sldId id="266" r:id="rId15"/>
    <p:sldId id="267" r:id="rId16"/>
    <p:sldId id="268" r:id="rId17"/>
    <p:sldId id="263" r:id="rId18"/>
    <p:sldId id="271" r:id="rId19"/>
    <p:sldId id="272" r:id="rId20"/>
    <p:sldId id="270" r:id="rId21"/>
    <p:sldId id="273" r:id="rId22"/>
    <p:sldId id="274" r:id="rId23"/>
    <p:sldId id="264" r:id="rId24"/>
    <p:sldId id="275" r:id="rId25"/>
    <p:sldId id="265"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5" d="100"/>
          <a:sy n="75" d="100"/>
        </p:scale>
        <p:origin x="54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D2B190-89CA-4553-8207-904DBBF4F6EE}" type="datetimeFigureOut">
              <a:rPr lang="en-TZ" smtClean="0"/>
              <a:t>15/12/2025</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FA63F969-0C25-41FD-8A48-758360C3A084}" type="slidenum">
              <a:rPr lang="en-TZ" smtClean="0"/>
              <a:t>‹#›</a:t>
            </a:fld>
            <a:endParaRPr lang="en-TZ"/>
          </a:p>
        </p:txBody>
      </p:sp>
    </p:spTree>
    <p:extLst>
      <p:ext uri="{BB962C8B-B14F-4D97-AF65-F5344CB8AC3E}">
        <p14:creationId xmlns:p14="http://schemas.microsoft.com/office/powerpoint/2010/main" val="3569187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D2B190-89CA-4553-8207-904DBBF4F6EE}" type="datetimeFigureOut">
              <a:rPr lang="en-TZ" smtClean="0"/>
              <a:t>15/12/2025</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FA63F969-0C25-41FD-8A48-758360C3A084}" type="slidenum">
              <a:rPr lang="en-TZ" smtClean="0"/>
              <a:t>‹#›</a:t>
            </a:fld>
            <a:endParaRPr lang="en-TZ"/>
          </a:p>
        </p:txBody>
      </p:sp>
    </p:spTree>
    <p:extLst>
      <p:ext uri="{BB962C8B-B14F-4D97-AF65-F5344CB8AC3E}">
        <p14:creationId xmlns:p14="http://schemas.microsoft.com/office/powerpoint/2010/main" val="371010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D2B190-89CA-4553-8207-904DBBF4F6EE}" type="datetimeFigureOut">
              <a:rPr lang="en-TZ" smtClean="0"/>
              <a:t>15/12/2025</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FA63F969-0C25-41FD-8A48-758360C3A084}" type="slidenum">
              <a:rPr lang="en-TZ" smtClean="0"/>
              <a:t>‹#›</a:t>
            </a:fld>
            <a:endParaRPr lang="en-TZ"/>
          </a:p>
        </p:txBody>
      </p:sp>
    </p:spTree>
    <p:extLst>
      <p:ext uri="{BB962C8B-B14F-4D97-AF65-F5344CB8AC3E}">
        <p14:creationId xmlns:p14="http://schemas.microsoft.com/office/powerpoint/2010/main" val="3400222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D2B190-89CA-4553-8207-904DBBF4F6EE}" type="datetimeFigureOut">
              <a:rPr lang="en-TZ" smtClean="0"/>
              <a:t>15/12/2025</a:t>
            </a:fld>
            <a:endParaRPr lang="en-TZ"/>
          </a:p>
        </p:txBody>
      </p:sp>
      <p:sp>
        <p:nvSpPr>
          <p:cNvPr id="6" name="Footer Placeholder 5"/>
          <p:cNvSpPr>
            <a:spLocks noGrp="1"/>
          </p:cNvSpPr>
          <p:nvPr>
            <p:ph type="ftr" sz="quarter" idx="11"/>
          </p:nvPr>
        </p:nvSpPr>
        <p:spPr/>
        <p:txBody>
          <a:bodyPr/>
          <a:lstStyle/>
          <a:p>
            <a:endParaRPr lang="en-TZ"/>
          </a:p>
        </p:txBody>
      </p:sp>
      <p:sp>
        <p:nvSpPr>
          <p:cNvPr id="7" name="Slide Number Placeholder 6"/>
          <p:cNvSpPr>
            <a:spLocks noGrp="1"/>
          </p:cNvSpPr>
          <p:nvPr>
            <p:ph type="sldNum" sz="quarter" idx="12"/>
          </p:nvPr>
        </p:nvSpPr>
        <p:spPr/>
        <p:txBody>
          <a:bodyPr/>
          <a:lstStyle/>
          <a:p>
            <a:fld id="{FA63F969-0C25-41FD-8A48-758360C3A084}" type="slidenum">
              <a:rPr lang="en-TZ" smtClean="0"/>
              <a:t>‹#›</a:t>
            </a:fld>
            <a:endParaRPr lang="en-TZ"/>
          </a:p>
        </p:txBody>
      </p:sp>
    </p:spTree>
    <p:extLst>
      <p:ext uri="{BB962C8B-B14F-4D97-AF65-F5344CB8AC3E}">
        <p14:creationId xmlns:p14="http://schemas.microsoft.com/office/powerpoint/2010/main" val="3912145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D2B190-89CA-4553-8207-904DBBF4F6EE}" type="datetimeFigureOut">
              <a:rPr lang="en-TZ" smtClean="0"/>
              <a:t>15/12/2025</a:t>
            </a:fld>
            <a:endParaRPr lang="en-TZ"/>
          </a:p>
        </p:txBody>
      </p:sp>
      <p:sp>
        <p:nvSpPr>
          <p:cNvPr id="8" name="Footer Placeholder 7"/>
          <p:cNvSpPr>
            <a:spLocks noGrp="1"/>
          </p:cNvSpPr>
          <p:nvPr>
            <p:ph type="ftr" sz="quarter" idx="11"/>
          </p:nvPr>
        </p:nvSpPr>
        <p:spPr/>
        <p:txBody>
          <a:bodyPr/>
          <a:lstStyle/>
          <a:p>
            <a:endParaRPr lang="en-TZ"/>
          </a:p>
        </p:txBody>
      </p:sp>
      <p:sp>
        <p:nvSpPr>
          <p:cNvPr id="9" name="Slide Number Placeholder 8"/>
          <p:cNvSpPr>
            <a:spLocks noGrp="1"/>
          </p:cNvSpPr>
          <p:nvPr>
            <p:ph type="sldNum" sz="quarter" idx="12"/>
          </p:nvPr>
        </p:nvSpPr>
        <p:spPr/>
        <p:txBody>
          <a:bodyPr/>
          <a:lstStyle/>
          <a:p>
            <a:fld id="{FA63F969-0C25-41FD-8A48-758360C3A084}" type="slidenum">
              <a:rPr lang="en-TZ" smtClean="0"/>
              <a:t>‹#›</a:t>
            </a:fld>
            <a:endParaRPr lang="en-TZ"/>
          </a:p>
        </p:txBody>
      </p:sp>
    </p:spTree>
    <p:extLst>
      <p:ext uri="{BB962C8B-B14F-4D97-AF65-F5344CB8AC3E}">
        <p14:creationId xmlns:p14="http://schemas.microsoft.com/office/powerpoint/2010/main" val="1965238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D2B190-89CA-4553-8207-904DBBF4F6EE}" type="datetimeFigureOut">
              <a:rPr lang="en-TZ" smtClean="0"/>
              <a:t>15/12/2025</a:t>
            </a:fld>
            <a:endParaRPr lang="en-TZ"/>
          </a:p>
        </p:txBody>
      </p:sp>
      <p:sp>
        <p:nvSpPr>
          <p:cNvPr id="4" name="Footer Placeholder 3"/>
          <p:cNvSpPr>
            <a:spLocks noGrp="1"/>
          </p:cNvSpPr>
          <p:nvPr>
            <p:ph type="ftr" sz="quarter" idx="11"/>
          </p:nvPr>
        </p:nvSpPr>
        <p:spPr/>
        <p:txBody>
          <a:bodyPr/>
          <a:lstStyle/>
          <a:p>
            <a:endParaRPr lang="en-TZ"/>
          </a:p>
        </p:txBody>
      </p:sp>
      <p:sp>
        <p:nvSpPr>
          <p:cNvPr id="5" name="Slide Number Placeholder 4"/>
          <p:cNvSpPr>
            <a:spLocks noGrp="1"/>
          </p:cNvSpPr>
          <p:nvPr>
            <p:ph type="sldNum" sz="quarter" idx="12"/>
          </p:nvPr>
        </p:nvSpPr>
        <p:spPr/>
        <p:txBody>
          <a:bodyPr/>
          <a:lstStyle/>
          <a:p>
            <a:fld id="{FA63F969-0C25-41FD-8A48-758360C3A084}" type="slidenum">
              <a:rPr lang="en-TZ" smtClean="0"/>
              <a:t>‹#›</a:t>
            </a:fld>
            <a:endParaRPr lang="en-TZ"/>
          </a:p>
        </p:txBody>
      </p:sp>
    </p:spTree>
    <p:extLst>
      <p:ext uri="{BB962C8B-B14F-4D97-AF65-F5344CB8AC3E}">
        <p14:creationId xmlns:p14="http://schemas.microsoft.com/office/powerpoint/2010/main" val="1318835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D2B190-89CA-4553-8207-904DBBF4F6EE}" type="datetimeFigureOut">
              <a:rPr lang="en-TZ" smtClean="0"/>
              <a:t>15/12/2025</a:t>
            </a:fld>
            <a:endParaRPr lang="en-TZ"/>
          </a:p>
        </p:txBody>
      </p:sp>
      <p:sp>
        <p:nvSpPr>
          <p:cNvPr id="3" name="Footer Placeholder 2"/>
          <p:cNvSpPr>
            <a:spLocks noGrp="1"/>
          </p:cNvSpPr>
          <p:nvPr>
            <p:ph type="ftr" sz="quarter" idx="11"/>
          </p:nvPr>
        </p:nvSpPr>
        <p:spPr/>
        <p:txBody>
          <a:bodyPr/>
          <a:lstStyle/>
          <a:p>
            <a:endParaRPr lang="en-TZ"/>
          </a:p>
        </p:txBody>
      </p:sp>
      <p:sp>
        <p:nvSpPr>
          <p:cNvPr id="4" name="Slide Number Placeholder 3"/>
          <p:cNvSpPr>
            <a:spLocks noGrp="1"/>
          </p:cNvSpPr>
          <p:nvPr>
            <p:ph type="sldNum" sz="quarter" idx="12"/>
          </p:nvPr>
        </p:nvSpPr>
        <p:spPr/>
        <p:txBody>
          <a:bodyPr/>
          <a:lstStyle/>
          <a:p>
            <a:fld id="{FA63F969-0C25-41FD-8A48-758360C3A084}" type="slidenum">
              <a:rPr lang="en-TZ" smtClean="0"/>
              <a:t>‹#›</a:t>
            </a:fld>
            <a:endParaRPr lang="en-TZ"/>
          </a:p>
        </p:txBody>
      </p:sp>
    </p:spTree>
    <p:extLst>
      <p:ext uri="{BB962C8B-B14F-4D97-AF65-F5344CB8AC3E}">
        <p14:creationId xmlns:p14="http://schemas.microsoft.com/office/powerpoint/2010/main" val="1989611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D2B190-89CA-4553-8207-904DBBF4F6EE}" type="datetimeFigureOut">
              <a:rPr lang="en-TZ" smtClean="0"/>
              <a:t>15/12/2025</a:t>
            </a:fld>
            <a:endParaRPr lang="en-TZ"/>
          </a:p>
        </p:txBody>
      </p:sp>
      <p:sp>
        <p:nvSpPr>
          <p:cNvPr id="6" name="Footer Placeholder 5"/>
          <p:cNvSpPr>
            <a:spLocks noGrp="1"/>
          </p:cNvSpPr>
          <p:nvPr>
            <p:ph type="ftr" sz="quarter" idx="11"/>
          </p:nvPr>
        </p:nvSpPr>
        <p:spPr/>
        <p:txBody>
          <a:bodyPr/>
          <a:lstStyle/>
          <a:p>
            <a:endParaRPr lang="en-TZ"/>
          </a:p>
        </p:txBody>
      </p:sp>
      <p:sp>
        <p:nvSpPr>
          <p:cNvPr id="7" name="Slide Number Placeholder 6"/>
          <p:cNvSpPr>
            <a:spLocks noGrp="1"/>
          </p:cNvSpPr>
          <p:nvPr>
            <p:ph type="sldNum" sz="quarter" idx="12"/>
          </p:nvPr>
        </p:nvSpPr>
        <p:spPr/>
        <p:txBody>
          <a:bodyPr/>
          <a:lstStyle/>
          <a:p>
            <a:fld id="{FA63F969-0C25-41FD-8A48-758360C3A084}" type="slidenum">
              <a:rPr lang="en-TZ" smtClean="0"/>
              <a:t>‹#›</a:t>
            </a:fld>
            <a:endParaRPr lang="en-TZ"/>
          </a:p>
        </p:txBody>
      </p:sp>
    </p:spTree>
    <p:extLst>
      <p:ext uri="{BB962C8B-B14F-4D97-AF65-F5344CB8AC3E}">
        <p14:creationId xmlns:p14="http://schemas.microsoft.com/office/powerpoint/2010/main" val="795758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D2B190-89CA-4553-8207-904DBBF4F6EE}" type="datetimeFigureOut">
              <a:rPr lang="en-TZ" smtClean="0"/>
              <a:t>15/12/2025</a:t>
            </a:fld>
            <a:endParaRPr lang="en-TZ"/>
          </a:p>
        </p:txBody>
      </p:sp>
      <p:sp>
        <p:nvSpPr>
          <p:cNvPr id="6" name="Footer Placeholder 5"/>
          <p:cNvSpPr>
            <a:spLocks noGrp="1"/>
          </p:cNvSpPr>
          <p:nvPr>
            <p:ph type="ftr" sz="quarter" idx="11"/>
          </p:nvPr>
        </p:nvSpPr>
        <p:spPr/>
        <p:txBody>
          <a:bodyPr/>
          <a:lstStyle/>
          <a:p>
            <a:endParaRPr lang="en-TZ"/>
          </a:p>
        </p:txBody>
      </p:sp>
      <p:sp>
        <p:nvSpPr>
          <p:cNvPr id="7" name="Slide Number Placeholder 6"/>
          <p:cNvSpPr>
            <a:spLocks noGrp="1"/>
          </p:cNvSpPr>
          <p:nvPr>
            <p:ph type="sldNum" sz="quarter" idx="12"/>
          </p:nvPr>
        </p:nvSpPr>
        <p:spPr/>
        <p:txBody>
          <a:bodyPr/>
          <a:lstStyle/>
          <a:p>
            <a:fld id="{FA63F969-0C25-41FD-8A48-758360C3A084}" type="slidenum">
              <a:rPr lang="en-TZ" smtClean="0"/>
              <a:t>‹#›</a:t>
            </a:fld>
            <a:endParaRPr lang="en-TZ"/>
          </a:p>
        </p:txBody>
      </p:sp>
    </p:spTree>
    <p:extLst>
      <p:ext uri="{BB962C8B-B14F-4D97-AF65-F5344CB8AC3E}">
        <p14:creationId xmlns:p14="http://schemas.microsoft.com/office/powerpoint/2010/main" val="3541558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D2B190-89CA-4553-8207-904DBBF4F6EE}" type="datetimeFigureOut">
              <a:rPr lang="en-TZ" smtClean="0"/>
              <a:t>15/12/2025</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FA63F969-0C25-41FD-8A48-758360C3A084}" type="slidenum">
              <a:rPr lang="en-TZ" smtClean="0"/>
              <a:t>‹#›</a:t>
            </a:fld>
            <a:endParaRPr lang="en-TZ"/>
          </a:p>
        </p:txBody>
      </p:sp>
    </p:spTree>
    <p:extLst>
      <p:ext uri="{BB962C8B-B14F-4D97-AF65-F5344CB8AC3E}">
        <p14:creationId xmlns:p14="http://schemas.microsoft.com/office/powerpoint/2010/main" val="2767704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D2B190-89CA-4553-8207-904DBBF4F6EE}" type="datetimeFigureOut">
              <a:rPr lang="en-TZ" smtClean="0"/>
              <a:t>15/12/2025</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FA63F969-0C25-41FD-8A48-758360C3A084}" type="slidenum">
              <a:rPr lang="en-TZ" smtClean="0"/>
              <a:t>‹#›</a:t>
            </a:fld>
            <a:endParaRPr lang="en-TZ"/>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0783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D2B190-89CA-4553-8207-904DBBF4F6EE}" type="datetimeFigureOut">
              <a:rPr lang="en-TZ" smtClean="0"/>
              <a:t>15/12/2025</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FA63F969-0C25-41FD-8A48-758360C3A084}" type="slidenum">
              <a:rPr lang="en-TZ" smtClean="0"/>
              <a:t>‹#›</a:t>
            </a:fld>
            <a:endParaRPr lang="en-TZ"/>
          </a:p>
        </p:txBody>
      </p:sp>
    </p:spTree>
    <p:extLst>
      <p:ext uri="{BB962C8B-B14F-4D97-AF65-F5344CB8AC3E}">
        <p14:creationId xmlns:p14="http://schemas.microsoft.com/office/powerpoint/2010/main" val="9770165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D2B190-89CA-4553-8207-904DBBF4F6EE}" type="datetimeFigureOut">
              <a:rPr lang="en-TZ" smtClean="0"/>
              <a:t>15/12/2025</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FA63F969-0C25-41FD-8A48-758360C3A084}" type="slidenum">
              <a:rPr lang="en-TZ" smtClean="0"/>
              <a:t>‹#›</a:t>
            </a:fld>
            <a:endParaRPr lang="en-TZ"/>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301758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D2B190-89CA-4553-8207-904DBBF4F6EE}" type="datetimeFigureOut">
              <a:rPr lang="en-TZ" smtClean="0"/>
              <a:t>15/12/2025</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FA63F969-0C25-41FD-8A48-758360C3A084}" type="slidenum">
              <a:rPr lang="en-TZ" smtClean="0"/>
              <a:t>‹#›</a:t>
            </a:fld>
            <a:endParaRPr lang="en-TZ"/>
          </a:p>
        </p:txBody>
      </p:sp>
    </p:spTree>
    <p:extLst>
      <p:ext uri="{BB962C8B-B14F-4D97-AF65-F5344CB8AC3E}">
        <p14:creationId xmlns:p14="http://schemas.microsoft.com/office/powerpoint/2010/main" val="18372564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D2B190-89CA-4553-8207-904DBBF4F6EE}" type="datetimeFigureOut">
              <a:rPr lang="en-TZ" smtClean="0"/>
              <a:t>15/12/2025</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FA63F969-0C25-41FD-8A48-758360C3A084}" type="slidenum">
              <a:rPr lang="en-TZ" smtClean="0"/>
              <a:t>‹#›</a:t>
            </a:fld>
            <a:endParaRPr lang="en-TZ"/>
          </a:p>
        </p:txBody>
      </p:sp>
    </p:spTree>
    <p:extLst>
      <p:ext uri="{BB962C8B-B14F-4D97-AF65-F5344CB8AC3E}">
        <p14:creationId xmlns:p14="http://schemas.microsoft.com/office/powerpoint/2010/main" val="17826561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D2B190-89CA-4553-8207-904DBBF4F6EE}" type="datetimeFigureOut">
              <a:rPr lang="en-TZ" smtClean="0"/>
              <a:t>15/12/2025</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FA63F969-0C25-41FD-8A48-758360C3A084}" type="slidenum">
              <a:rPr lang="en-TZ" smtClean="0"/>
              <a:t>‹#›</a:t>
            </a:fld>
            <a:endParaRPr lang="en-TZ"/>
          </a:p>
        </p:txBody>
      </p:sp>
    </p:spTree>
    <p:extLst>
      <p:ext uri="{BB962C8B-B14F-4D97-AF65-F5344CB8AC3E}">
        <p14:creationId xmlns:p14="http://schemas.microsoft.com/office/powerpoint/2010/main" val="833178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D2B190-89CA-4553-8207-904DBBF4F6EE}" type="datetimeFigureOut">
              <a:rPr lang="en-TZ" smtClean="0"/>
              <a:t>15/12/2025</a:t>
            </a:fld>
            <a:endParaRPr lang="en-TZ"/>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TZ"/>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A63F969-0C25-41FD-8A48-758360C3A084}" type="slidenum">
              <a:rPr lang="en-TZ" smtClean="0"/>
              <a:t>‹#›</a:t>
            </a:fld>
            <a:endParaRPr lang="en-TZ"/>
          </a:p>
        </p:txBody>
      </p:sp>
    </p:spTree>
    <p:extLst>
      <p:ext uri="{BB962C8B-B14F-4D97-AF65-F5344CB8AC3E}">
        <p14:creationId xmlns:p14="http://schemas.microsoft.com/office/powerpoint/2010/main" val="241033954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95C12-F5D5-B606-1549-D9E2ACD5EC56}"/>
              </a:ext>
            </a:extLst>
          </p:cNvPr>
          <p:cNvSpPr>
            <a:spLocks noGrp="1"/>
          </p:cNvSpPr>
          <p:nvPr>
            <p:ph type="ctrTitle"/>
          </p:nvPr>
        </p:nvSpPr>
        <p:spPr>
          <a:xfrm>
            <a:off x="1507067" y="1600200"/>
            <a:ext cx="7766936" cy="2450636"/>
          </a:xfrm>
        </p:spPr>
        <p:txBody>
          <a:bodyPr>
            <a:normAutofit fontScale="90000"/>
          </a:bodyPr>
          <a:lstStyle/>
          <a:p>
            <a:pPr algn="ctr"/>
            <a:r>
              <a:rPr lang="en-US" b="1" dirty="0">
                <a:solidFill>
                  <a:srgbClr val="FF0000"/>
                </a:solidFill>
                <a:latin typeface="Arial Black" panose="020B0A04020102020204" pitchFamily="34" charset="0"/>
              </a:rPr>
              <a:t>Tips For Making Effective Power Point Presentation</a:t>
            </a:r>
            <a:endParaRPr lang="en-TZ" b="1" dirty="0">
              <a:solidFill>
                <a:srgbClr val="FF0000"/>
              </a:solidFill>
              <a:latin typeface="Arial Black" panose="020B0A04020102020204" pitchFamily="34" charset="0"/>
            </a:endParaRPr>
          </a:p>
        </p:txBody>
      </p:sp>
      <p:sp>
        <p:nvSpPr>
          <p:cNvPr id="3" name="Subtitle 2">
            <a:extLst>
              <a:ext uri="{FF2B5EF4-FFF2-40B4-BE49-F238E27FC236}">
                <a16:creationId xmlns:a16="http://schemas.microsoft.com/office/drawing/2014/main" id="{5A8D5EE3-CC5E-747B-302F-F762C58595A9}"/>
              </a:ext>
            </a:extLst>
          </p:cNvPr>
          <p:cNvSpPr>
            <a:spLocks noGrp="1"/>
          </p:cNvSpPr>
          <p:nvPr>
            <p:ph type="subTitle" idx="1"/>
          </p:nvPr>
        </p:nvSpPr>
        <p:spPr/>
        <p:txBody>
          <a:bodyPr/>
          <a:lstStyle/>
          <a:p>
            <a:endParaRPr lang="en-TZ" dirty="0"/>
          </a:p>
        </p:txBody>
      </p:sp>
    </p:spTree>
    <p:extLst>
      <p:ext uri="{BB962C8B-B14F-4D97-AF65-F5344CB8AC3E}">
        <p14:creationId xmlns:p14="http://schemas.microsoft.com/office/powerpoint/2010/main" val="2878737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198A1-F363-9D5F-12EB-9E569D2240E3}"/>
              </a:ext>
            </a:extLst>
          </p:cNvPr>
          <p:cNvSpPr>
            <a:spLocks noGrp="1"/>
          </p:cNvSpPr>
          <p:nvPr>
            <p:ph type="title"/>
          </p:nvPr>
        </p:nvSpPr>
        <p:spPr/>
        <p:txBody>
          <a:bodyPr>
            <a:normAutofit/>
          </a:bodyPr>
          <a:lstStyle/>
          <a:p>
            <a:r>
              <a:rPr lang="en-US" sz="4800" dirty="0">
                <a:solidFill>
                  <a:srgbClr val="00B0F0"/>
                </a:solidFill>
                <a:latin typeface="Arial Black" panose="020B0A04020102020204" pitchFamily="34" charset="0"/>
                <a:cs typeface="Arial" panose="020B0604020202020204" pitchFamily="34" charset="0"/>
              </a:rPr>
              <a:t>Introduction</a:t>
            </a:r>
            <a:endParaRPr lang="en-TZ" sz="4800" dirty="0">
              <a:solidFill>
                <a:srgbClr val="00B0F0"/>
              </a:solidFill>
              <a:latin typeface="Arial Black" panose="020B0A040201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F268C0C-26A9-A277-D754-E6335049AEF3}"/>
              </a:ext>
            </a:extLst>
          </p:cNvPr>
          <p:cNvSpPr>
            <a:spLocks noGrp="1"/>
          </p:cNvSpPr>
          <p:nvPr>
            <p:ph idx="1"/>
          </p:nvPr>
        </p:nvSpPr>
        <p:spPr/>
        <p:txBody>
          <a:bodyPr>
            <a:normAutofit fontScale="92500" lnSpcReduction="20000"/>
          </a:bodyPr>
          <a:lstStyle/>
          <a:p>
            <a:pPr marL="0" indent="0">
              <a:lnSpc>
                <a:spcPct val="200000"/>
              </a:lnSpc>
              <a:buNone/>
            </a:pPr>
            <a:r>
              <a:rPr lang="en-US" sz="2400" b="0" i="0" dirty="0">
                <a:solidFill>
                  <a:srgbClr val="262222"/>
                </a:solidFill>
                <a:effectLst/>
                <a:latin typeface="Arial" panose="020B0604020202020204" pitchFamily="34" charset="0"/>
                <a:cs typeface="Arial" panose="020B0604020202020204" pitchFamily="34" charset="0"/>
              </a:rPr>
              <a:t>It’s not surprising PowerPoint slideshows have become the norm for visuals in most business presentations. Slideshows are quick to produce, easy to update and effective to inject visual interest into the presentation. However, slideshows can also spell disaster even for experienced presenters. The key to success is to make certain your slide show is a visual aid and not a visual distraction</a:t>
            </a:r>
          </a:p>
          <a:p>
            <a:endParaRPr lang="en-US" b="0" i="0" dirty="0">
              <a:solidFill>
                <a:srgbClr val="262222"/>
              </a:solidFill>
              <a:effectLst/>
              <a:latin typeface="Open Sans" panose="020F0502020204030204" pitchFamily="34" charset="0"/>
            </a:endParaRPr>
          </a:p>
        </p:txBody>
      </p:sp>
    </p:spTree>
    <p:extLst>
      <p:ext uri="{BB962C8B-B14F-4D97-AF65-F5344CB8AC3E}">
        <p14:creationId xmlns:p14="http://schemas.microsoft.com/office/powerpoint/2010/main" val="2930018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2EDC6-5B6A-2101-FD93-E1A81CB5DA71}"/>
              </a:ext>
            </a:extLst>
          </p:cNvPr>
          <p:cNvSpPr>
            <a:spLocks noGrp="1"/>
          </p:cNvSpPr>
          <p:nvPr>
            <p:ph type="title"/>
          </p:nvPr>
        </p:nvSpPr>
        <p:spPr/>
        <p:txBody>
          <a:bodyPr/>
          <a:lstStyle/>
          <a:p>
            <a:pPr algn="ctr"/>
            <a:r>
              <a:rPr lang="en-US" b="1" dirty="0">
                <a:solidFill>
                  <a:srgbClr val="00B050"/>
                </a:solidFill>
                <a:latin typeface="Arial Black" panose="020B0A04020102020204" pitchFamily="34" charset="0"/>
              </a:rPr>
              <a:t>Things to avoid when preparing your PowerPoint presentation</a:t>
            </a:r>
            <a:endParaRPr lang="en-TZ" b="1" dirty="0">
              <a:solidFill>
                <a:srgbClr val="00B050"/>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FDE20E74-DD5C-9F5F-83C4-F0F1333F3BF2}"/>
              </a:ext>
            </a:extLst>
          </p:cNvPr>
          <p:cNvSpPr>
            <a:spLocks noGrp="1"/>
          </p:cNvSpPr>
          <p:nvPr>
            <p:ph idx="1"/>
          </p:nvPr>
        </p:nvSpPr>
        <p:spPr/>
        <p:txBody>
          <a:bodyPr>
            <a:normAutofit fontScale="77500" lnSpcReduction="20000"/>
          </a:bodyPr>
          <a:lstStyle/>
          <a:p>
            <a:pPr>
              <a:lnSpc>
                <a:spcPct val="150000"/>
              </a:lnSpc>
            </a:pPr>
            <a:r>
              <a:rPr lang="en-US" sz="2200" b="1" i="0" dirty="0">
                <a:solidFill>
                  <a:srgbClr val="C00000"/>
                </a:solidFill>
                <a:effectLst/>
                <a:latin typeface="Arial" panose="020B0604020202020204" pitchFamily="34" charset="0"/>
                <a:cs typeface="Arial" panose="020B0604020202020204" pitchFamily="34" charset="0"/>
              </a:rPr>
              <a:t>Slide Transitions And Sound Effects: </a:t>
            </a:r>
            <a:r>
              <a:rPr lang="en-US" sz="2200" b="0" i="0" dirty="0">
                <a:solidFill>
                  <a:srgbClr val="C00000"/>
                </a:solidFill>
                <a:effectLst/>
                <a:latin typeface="Arial" panose="020B0604020202020204" pitchFamily="34" charset="0"/>
                <a:cs typeface="Arial" panose="020B0604020202020204" pitchFamily="34" charset="0"/>
              </a:rPr>
              <a:t> </a:t>
            </a:r>
            <a:r>
              <a:rPr lang="en-US" sz="2200" b="0" i="0" dirty="0">
                <a:solidFill>
                  <a:srgbClr val="262222"/>
                </a:solidFill>
                <a:effectLst/>
                <a:latin typeface="Open Sans" panose="020B0606030504020204" pitchFamily="34" charset="0"/>
              </a:rPr>
              <a:t>Transitions and sound effects can become the focus of attention, which in turn distracts the audience. Worse yet, when a presentation containing several effects and transitions runs on a computer much slower than the one on which it was created, the result is a sluggish, almost comical</a:t>
            </a:r>
          </a:p>
          <a:p>
            <a:endParaRPr lang="en-US" sz="2200" dirty="0">
              <a:solidFill>
                <a:srgbClr val="262222"/>
              </a:solidFill>
              <a:latin typeface="Open Sans" panose="020B0606030504020204" pitchFamily="34" charset="0"/>
            </a:endParaRPr>
          </a:p>
          <a:p>
            <a:pPr>
              <a:lnSpc>
                <a:spcPct val="170000"/>
              </a:lnSpc>
            </a:pPr>
            <a:r>
              <a:rPr lang="en-US" sz="2200" b="1" i="0" dirty="0">
                <a:solidFill>
                  <a:srgbClr val="C00000"/>
                </a:solidFill>
                <a:effectLst/>
                <a:latin typeface="Open Sans" panose="020B0606030504020204" pitchFamily="34" charset="0"/>
              </a:rPr>
              <a:t>Standard Clipart</a:t>
            </a:r>
            <a:r>
              <a:rPr lang="en-US" sz="2200" b="1" i="0" dirty="0">
                <a:solidFill>
                  <a:srgbClr val="262222"/>
                </a:solidFill>
                <a:effectLst/>
                <a:latin typeface="Open Sans" panose="020B0606030504020204" pitchFamily="34" charset="0"/>
              </a:rPr>
              <a:t>: </a:t>
            </a:r>
            <a:r>
              <a:rPr lang="en-US" sz="2200" b="0" i="0" dirty="0">
                <a:solidFill>
                  <a:srgbClr val="262222"/>
                </a:solidFill>
                <a:effectLst/>
                <a:latin typeface="Open Sans" panose="020B0606030504020204" pitchFamily="34" charset="0"/>
              </a:rPr>
              <a:t>PowerPoint is now so widely used the clipart included with it has become a “visual cliché.” It shows a lack of creativity and a tired adherence to a standard form. First, make certain that you need graphical images to enhance your message. </a:t>
            </a:r>
          </a:p>
          <a:p>
            <a:endParaRPr lang="en-TZ" dirty="0"/>
          </a:p>
        </p:txBody>
      </p:sp>
    </p:spTree>
    <p:extLst>
      <p:ext uri="{BB962C8B-B14F-4D97-AF65-F5344CB8AC3E}">
        <p14:creationId xmlns:p14="http://schemas.microsoft.com/office/powerpoint/2010/main" val="2532624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BF68B-C282-ECA1-CA4F-6908A5465918}"/>
              </a:ext>
            </a:extLst>
          </p:cNvPr>
          <p:cNvSpPr>
            <a:spLocks noGrp="1"/>
          </p:cNvSpPr>
          <p:nvPr>
            <p:ph type="title"/>
          </p:nvPr>
        </p:nvSpPr>
        <p:spPr/>
        <p:txBody>
          <a:bodyPr/>
          <a:lstStyle/>
          <a:p>
            <a:endParaRPr lang="en-TZ" dirty="0">
              <a:solidFill>
                <a:srgbClr val="00B050"/>
              </a:solidFill>
            </a:endParaRPr>
          </a:p>
        </p:txBody>
      </p:sp>
      <p:sp>
        <p:nvSpPr>
          <p:cNvPr id="3" name="Content Placeholder 2">
            <a:extLst>
              <a:ext uri="{FF2B5EF4-FFF2-40B4-BE49-F238E27FC236}">
                <a16:creationId xmlns:a16="http://schemas.microsoft.com/office/drawing/2014/main" id="{E2446B8C-00DB-E1F1-3560-ECC66A6EC30C}"/>
              </a:ext>
            </a:extLst>
          </p:cNvPr>
          <p:cNvSpPr>
            <a:spLocks noGrp="1"/>
          </p:cNvSpPr>
          <p:nvPr>
            <p:ph idx="1"/>
          </p:nvPr>
        </p:nvSpPr>
        <p:spPr/>
        <p:txBody>
          <a:bodyPr>
            <a:normAutofit/>
          </a:bodyPr>
          <a:lstStyle/>
          <a:p>
            <a:pPr>
              <a:lnSpc>
                <a:spcPct val="150000"/>
              </a:lnSpc>
            </a:pPr>
            <a:r>
              <a:rPr lang="en-US" b="1" i="0" dirty="0">
                <a:solidFill>
                  <a:srgbClr val="C00000"/>
                </a:solidFill>
                <a:effectLst/>
                <a:latin typeface="Open Sans" panose="020B0606030504020204" pitchFamily="34" charset="0"/>
              </a:rPr>
              <a:t>Presentation Templates: </a:t>
            </a:r>
            <a:r>
              <a:rPr lang="en-US" b="1" i="0" dirty="0">
                <a:solidFill>
                  <a:srgbClr val="262222"/>
                </a:solidFill>
                <a:effectLst/>
                <a:latin typeface="Open Sans" panose="020B0606030504020204" pitchFamily="34" charset="0"/>
              </a:rPr>
              <a:t> </a:t>
            </a:r>
            <a:r>
              <a:rPr lang="en-US" b="0" i="0" dirty="0">
                <a:solidFill>
                  <a:srgbClr val="262222"/>
                </a:solidFill>
                <a:effectLst/>
                <a:latin typeface="Open Sans" panose="020B0606030504020204" pitchFamily="34" charset="0"/>
              </a:rPr>
              <a:t>Another visual cliché. Templates force you to fit your original ideas into someone else’s pre-packaged mold. The templates often contain distracting backgrounds and poor color combinations. Select a good book on Web graphics and apply the same principles to your slides.</a:t>
            </a:r>
          </a:p>
          <a:p>
            <a:pPr>
              <a:lnSpc>
                <a:spcPct val="160000"/>
              </a:lnSpc>
            </a:pPr>
            <a:r>
              <a:rPr lang="en-US" b="1" i="0" dirty="0">
                <a:solidFill>
                  <a:srgbClr val="C00000"/>
                </a:solidFill>
                <a:effectLst/>
                <a:latin typeface="Open Sans" panose="020B0606030504020204" pitchFamily="34" charset="0"/>
              </a:rPr>
              <a:t>Text-Heavy Slides: </a:t>
            </a:r>
            <a:r>
              <a:rPr lang="en-US" b="0" i="0" dirty="0">
                <a:solidFill>
                  <a:srgbClr val="262222"/>
                </a:solidFill>
                <a:effectLst/>
                <a:latin typeface="Open Sans" panose="020B0606030504020204" pitchFamily="34" charset="0"/>
              </a:rPr>
              <a:t>Projected slides are a good medium for depicting an idea graphically or providing an overview. Slides are a poor medium for detail and reading. Avoid paragraphs, quotations and even complete sentences</a:t>
            </a:r>
            <a:endParaRPr lang="en-TZ" dirty="0"/>
          </a:p>
        </p:txBody>
      </p:sp>
    </p:spTree>
    <p:extLst>
      <p:ext uri="{BB962C8B-B14F-4D97-AF65-F5344CB8AC3E}">
        <p14:creationId xmlns:p14="http://schemas.microsoft.com/office/powerpoint/2010/main" val="1100925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EA5E5-9673-12CF-9979-B6AA535A3B44}"/>
              </a:ext>
            </a:extLst>
          </p:cNvPr>
          <p:cNvSpPr>
            <a:spLocks noGrp="1"/>
          </p:cNvSpPr>
          <p:nvPr>
            <p:ph type="title"/>
          </p:nvPr>
        </p:nvSpPr>
        <p:spPr/>
        <p:txBody>
          <a:bodyPr/>
          <a:lstStyle/>
          <a:p>
            <a:endParaRPr lang="en-TZ" dirty="0">
              <a:solidFill>
                <a:srgbClr val="00B050"/>
              </a:solidFill>
            </a:endParaRPr>
          </a:p>
        </p:txBody>
      </p:sp>
      <p:sp>
        <p:nvSpPr>
          <p:cNvPr id="3" name="Content Placeholder 2">
            <a:extLst>
              <a:ext uri="{FF2B5EF4-FFF2-40B4-BE49-F238E27FC236}">
                <a16:creationId xmlns:a16="http://schemas.microsoft.com/office/drawing/2014/main" id="{2D60F716-B293-7112-9CAF-FEE71712C39D}"/>
              </a:ext>
            </a:extLst>
          </p:cNvPr>
          <p:cNvSpPr>
            <a:spLocks noGrp="1"/>
          </p:cNvSpPr>
          <p:nvPr>
            <p:ph idx="1"/>
          </p:nvPr>
        </p:nvSpPr>
        <p:spPr/>
        <p:txBody>
          <a:bodyPr>
            <a:normAutofit/>
          </a:bodyPr>
          <a:lstStyle/>
          <a:p>
            <a:pPr>
              <a:lnSpc>
                <a:spcPct val="150000"/>
              </a:lnSpc>
            </a:pPr>
            <a:r>
              <a:rPr lang="en-US" b="1" i="0" dirty="0">
                <a:solidFill>
                  <a:srgbClr val="C00000"/>
                </a:solidFill>
                <a:effectLst/>
                <a:latin typeface="Open Sans" panose="020B0606030504020204" pitchFamily="34" charset="0"/>
              </a:rPr>
              <a:t>The “Me” Paradigm:</a:t>
            </a:r>
            <a:r>
              <a:rPr lang="en-US" b="0" i="0" dirty="0">
                <a:solidFill>
                  <a:srgbClr val="C00000"/>
                </a:solidFill>
                <a:effectLst/>
                <a:latin typeface="Open Sans" panose="020B0606030504020204" pitchFamily="34" charset="0"/>
              </a:rPr>
              <a:t> </a:t>
            </a:r>
            <a:r>
              <a:rPr lang="en-US" b="0" i="0" dirty="0">
                <a:solidFill>
                  <a:srgbClr val="262222"/>
                </a:solidFill>
                <a:effectLst/>
                <a:latin typeface="Open Sans" panose="020B0606030504020204" pitchFamily="34" charset="0"/>
              </a:rPr>
              <a:t>Remember the audience and move the circle from “me” to “we.” Make certain all elements of any particular slide are large enough to be seen easily. Size really does matter.</a:t>
            </a:r>
          </a:p>
          <a:p>
            <a:pPr>
              <a:lnSpc>
                <a:spcPct val="150000"/>
              </a:lnSpc>
            </a:pPr>
            <a:endParaRPr lang="en-US" dirty="0">
              <a:solidFill>
                <a:srgbClr val="262222"/>
              </a:solidFill>
              <a:latin typeface="Open Sans" panose="020B0606030504020204" pitchFamily="34" charset="0"/>
            </a:endParaRPr>
          </a:p>
          <a:p>
            <a:pPr>
              <a:lnSpc>
                <a:spcPct val="150000"/>
              </a:lnSpc>
            </a:pPr>
            <a:r>
              <a:rPr lang="en-US" b="1" i="0" dirty="0">
                <a:solidFill>
                  <a:srgbClr val="C00000"/>
                </a:solidFill>
                <a:effectLst/>
                <a:latin typeface="Open Sans" panose="020B0606030504020204" pitchFamily="34" charset="0"/>
              </a:rPr>
              <a:t>Reading: </a:t>
            </a:r>
            <a:r>
              <a:rPr lang="en-US" b="0" i="0" dirty="0">
                <a:solidFill>
                  <a:srgbClr val="262222"/>
                </a:solidFill>
                <a:effectLst/>
                <a:latin typeface="Open Sans" panose="020B0606030504020204" pitchFamily="34" charset="0"/>
              </a:rPr>
              <a:t>A verbal presentation should focus on interactive speaking and listening, not reading by the speaker or the audience. The demands of spoken and written language differ significantly. Spoken language is shorter, less formal and more direct. Reading text ruins a presentation</a:t>
            </a:r>
            <a:endParaRPr lang="en-TZ" dirty="0"/>
          </a:p>
        </p:txBody>
      </p:sp>
    </p:spTree>
    <p:extLst>
      <p:ext uri="{BB962C8B-B14F-4D97-AF65-F5344CB8AC3E}">
        <p14:creationId xmlns:p14="http://schemas.microsoft.com/office/powerpoint/2010/main" val="2947595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0FFDA-0845-CD54-B697-E0314BC5A2A1}"/>
              </a:ext>
            </a:extLst>
          </p:cNvPr>
          <p:cNvSpPr>
            <a:spLocks noGrp="1"/>
          </p:cNvSpPr>
          <p:nvPr>
            <p:ph type="title"/>
          </p:nvPr>
        </p:nvSpPr>
        <p:spPr/>
        <p:txBody>
          <a:bodyPr/>
          <a:lstStyle/>
          <a:p>
            <a:endParaRPr lang="en-TZ" dirty="0">
              <a:solidFill>
                <a:srgbClr val="00B050"/>
              </a:solidFill>
            </a:endParaRPr>
          </a:p>
        </p:txBody>
      </p:sp>
      <p:sp>
        <p:nvSpPr>
          <p:cNvPr id="3" name="Content Placeholder 2">
            <a:extLst>
              <a:ext uri="{FF2B5EF4-FFF2-40B4-BE49-F238E27FC236}">
                <a16:creationId xmlns:a16="http://schemas.microsoft.com/office/drawing/2014/main" id="{2241D89F-D11E-966E-25CC-9CE6174AF73D}"/>
              </a:ext>
            </a:extLst>
          </p:cNvPr>
          <p:cNvSpPr>
            <a:spLocks noGrp="1"/>
          </p:cNvSpPr>
          <p:nvPr>
            <p:ph idx="1"/>
          </p:nvPr>
        </p:nvSpPr>
        <p:spPr/>
        <p:txBody>
          <a:bodyPr/>
          <a:lstStyle/>
          <a:p>
            <a:pPr>
              <a:lnSpc>
                <a:spcPct val="150000"/>
              </a:lnSpc>
            </a:pPr>
            <a:r>
              <a:rPr lang="en-US" b="1" i="0" dirty="0">
                <a:solidFill>
                  <a:srgbClr val="C00000"/>
                </a:solidFill>
                <a:effectLst/>
                <a:latin typeface="Open Sans" panose="020B0606030504020204" pitchFamily="34" charset="0"/>
              </a:rPr>
              <a:t>Faith in Technology</a:t>
            </a:r>
            <a:r>
              <a:rPr lang="en-US" b="1" i="0" dirty="0">
                <a:solidFill>
                  <a:srgbClr val="262222"/>
                </a:solidFill>
                <a:effectLst/>
                <a:latin typeface="Open Sans" panose="020B0606030504020204" pitchFamily="34" charset="0"/>
              </a:rPr>
              <a:t>: </a:t>
            </a:r>
            <a:r>
              <a:rPr lang="en-US" b="0" i="0" dirty="0">
                <a:solidFill>
                  <a:srgbClr val="262222"/>
                </a:solidFill>
                <a:effectLst/>
                <a:latin typeface="Open Sans" panose="020B0606030504020204" pitchFamily="34" charset="0"/>
              </a:rPr>
              <a:t>You never know when an equipment malfunction or incompatible interfaces will force you to give your presentation on another computer. Be prepared by having a back-up of your presentation on a CD-ROM.</a:t>
            </a:r>
            <a:endParaRPr lang="en-TZ" dirty="0"/>
          </a:p>
        </p:txBody>
      </p:sp>
    </p:spTree>
    <p:extLst>
      <p:ext uri="{BB962C8B-B14F-4D97-AF65-F5344CB8AC3E}">
        <p14:creationId xmlns:p14="http://schemas.microsoft.com/office/powerpoint/2010/main" val="375976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3C344-FBF5-91B4-5BA7-DA8C89E5D88C}"/>
              </a:ext>
            </a:extLst>
          </p:cNvPr>
          <p:cNvSpPr>
            <a:spLocks noGrp="1"/>
          </p:cNvSpPr>
          <p:nvPr>
            <p:ph type="title"/>
          </p:nvPr>
        </p:nvSpPr>
        <p:spPr/>
        <p:txBody>
          <a:bodyPr>
            <a:normAutofit fontScale="90000"/>
          </a:bodyPr>
          <a:lstStyle/>
          <a:p>
            <a:pPr algn="ctr"/>
            <a:r>
              <a:rPr lang="en-US" b="1" i="0" dirty="0">
                <a:solidFill>
                  <a:srgbClr val="00B0F0"/>
                </a:solidFill>
                <a:effectLst/>
                <a:latin typeface="Merriweather" panose="00000500000000000000" pitchFamily="2" charset="0"/>
              </a:rPr>
              <a:t>Tips for Making Effective PowerPoint Presentations</a:t>
            </a:r>
            <a:br>
              <a:rPr lang="en-US" b="1" i="0" dirty="0">
                <a:solidFill>
                  <a:srgbClr val="333333"/>
                </a:solidFill>
                <a:effectLst/>
                <a:latin typeface="Merriweather" panose="00000500000000000000" pitchFamily="2" charset="0"/>
              </a:rPr>
            </a:br>
            <a:endParaRPr lang="en-TZ" dirty="0"/>
          </a:p>
        </p:txBody>
      </p:sp>
      <p:sp>
        <p:nvSpPr>
          <p:cNvPr id="3" name="Content Placeholder 2">
            <a:extLst>
              <a:ext uri="{FF2B5EF4-FFF2-40B4-BE49-F238E27FC236}">
                <a16:creationId xmlns:a16="http://schemas.microsoft.com/office/drawing/2014/main" id="{43A84E3A-19BD-3FBC-95DD-E2F142D760FF}"/>
              </a:ext>
            </a:extLst>
          </p:cNvPr>
          <p:cNvSpPr>
            <a:spLocks noGrp="1"/>
          </p:cNvSpPr>
          <p:nvPr>
            <p:ph idx="1"/>
          </p:nvPr>
        </p:nvSpPr>
        <p:spPr/>
        <p:txBody>
          <a:bodyPr>
            <a:normAutofit/>
          </a:bodyPr>
          <a:lstStyle/>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the slide master feature to create a consistent and simple design template. It is fine to vary the content presentation (bulleted list, two-column text, text and image, etc.), but be consistent with other elements such as font, colors and background.</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Simplify and limit the number of words on each screen. Use key phrases and include only essential information.</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Limit punctuation and avoid putting words in all-capital letters. Empty space on the slide will enhance readability.</a:t>
            </a:r>
          </a:p>
        </p:txBody>
      </p:sp>
    </p:spTree>
    <p:extLst>
      <p:ext uri="{BB962C8B-B14F-4D97-AF65-F5344CB8AC3E}">
        <p14:creationId xmlns:p14="http://schemas.microsoft.com/office/powerpoint/2010/main" val="4168988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0B58C-736D-2D6E-2B95-3F4DC36D8BB6}"/>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1DCFADDE-0E4B-4116-E1F6-331002E289FC}"/>
              </a:ext>
            </a:extLst>
          </p:cNvPr>
          <p:cNvSpPr>
            <a:spLocks noGrp="1"/>
          </p:cNvSpPr>
          <p:nvPr>
            <p:ph idx="1"/>
          </p:nvPr>
        </p:nvSpPr>
        <p:spPr/>
        <p:txBody>
          <a:bodyPr>
            <a:normAutofit/>
          </a:bodyPr>
          <a:lstStyle/>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Avoid the use of flashy transitions such as text fly-ins. These features may seem impressive at first but are distracting and get old quickly.</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Overuse of special effects such as animation and sounds may make your presentation “cutesy” and could negatively affect your credibility.</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good-quality images that reinforce and complement your message. Ensure that your image maintains its impact and resolution when projected on a larger screen.</a:t>
            </a:r>
          </a:p>
        </p:txBody>
      </p:sp>
    </p:spTree>
    <p:extLst>
      <p:ext uri="{BB962C8B-B14F-4D97-AF65-F5344CB8AC3E}">
        <p14:creationId xmlns:p14="http://schemas.microsoft.com/office/powerpoint/2010/main" val="1183978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3D76-092A-3B3D-D304-5CE35BCDBC7E}"/>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3A66BFEE-AA3C-62EF-7B6D-D41C50A6BB9D}"/>
              </a:ext>
            </a:extLst>
          </p:cNvPr>
          <p:cNvSpPr>
            <a:spLocks noGrp="1"/>
          </p:cNvSpPr>
          <p:nvPr>
            <p:ph idx="1"/>
          </p:nvPr>
        </p:nvSpPr>
        <p:spPr/>
        <p:txBody>
          <a:bodyPr>
            <a:normAutofit/>
          </a:bodyPr>
          <a:lstStyle/>
          <a:p>
            <a:pPr algn="l" fontAlgn="base">
              <a:lnSpc>
                <a:spcPct val="16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If you use builds (lines of text appearing each time you click the mouse), have content appear on the screen in a consistent, simple manner; from the top or left is best.</a:t>
            </a:r>
          </a:p>
          <a:p>
            <a:pPr algn="l" fontAlgn="base">
              <a:lnSpc>
                <a:spcPct val="16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Limit the number of slides. Presenters who constantly “flip” to the next slide are likely to lose their audience. A good rule of thumb is one slide per minute.</a:t>
            </a:r>
          </a:p>
          <a:p>
            <a:pPr algn="l" fontAlgn="base">
              <a:lnSpc>
                <a:spcPct val="16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Learn to navigate your presentation in a nonlinear fashion. PowerPoint allows the presenter to jump ahead or back without having to page through all the interim slides</a:t>
            </a:r>
          </a:p>
        </p:txBody>
      </p:sp>
    </p:spTree>
    <p:extLst>
      <p:ext uri="{BB962C8B-B14F-4D97-AF65-F5344CB8AC3E}">
        <p14:creationId xmlns:p14="http://schemas.microsoft.com/office/powerpoint/2010/main" val="3987672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D1973-4469-3CD9-7D34-13168F9EDA07}"/>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11319B55-A960-7A83-9054-879D9D21C80C}"/>
              </a:ext>
            </a:extLst>
          </p:cNvPr>
          <p:cNvSpPr>
            <a:spLocks noGrp="1"/>
          </p:cNvSpPr>
          <p:nvPr>
            <p:ph idx="1"/>
          </p:nvPr>
        </p:nvSpPr>
        <p:spPr/>
        <p:txBody>
          <a:bodyPr>
            <a:normAutofit fontScale="92500"/>
          </a:bodyPr>
          <a:lstStyle/>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Practice with someone who has never seen your presentation. Ask them for honest feedback about colors, content and any effects or graphic images you’ve included.</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Do not read from your slides. The content of your slides is for the audience, not for the presenter.</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Do not speak to your slides. Many presenters face their presentation onscreen rather than their audience.</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Do not apologize for anything in your presentation. If you believe something will be hard to read or understand, don’t use it.</a:t>
            </a:r>
          </a:p>
        </p:txBody>
      </p:sp>
    </p:spTree>
    <p:extLst>
      <p:ext uri="{BB962C8B-B14F-4D97-AF65-F5344CB8AC3E}">
        <p14:creationId xmlns:p14="http://schemas.microsoft.com/office/powerpoint/2010/main" val="704676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A14B8-9388-686B-16EC-D90DB8A71D59}"/>
              </a:ext>
            </a:extLst>
          </p:cNvPr>
          <p:cNvSpPr>
            <a:spLocks noGrp="1"/>
          </p:cNvSpPr>
          <p:nvPr>
            <p:ph type="title"/>
          </p:nvPr>
        </p:nvSpPr>
        <p:spPr/>
        <p:txBody>
          <a:bodyPr/>
          <a:lstStyle/>
          <a:p>
            <a:pPr algn="ctr"/>
            <a:r>
              <a:rPr lang="en-US" dirty="0">
                <a:solidFill>
                  <a:srgbClr val="00B0F0"/>
                </a:solidFill>
                <a:latin typeface="Arial Black" panose="020B0A04020102020204" pitchFamily="34" charset="0"/>
              </a:rPr>
              <a:t>Tips for effective PowerPoint presentation</a:t>
            </a:r>
            <a:endParaRPr lang="en-TZ" dirty="0">
              <a:solidFill>
                <a:srgbClr val="00B0F0"/>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34516B73-7192-877D-EA74-D782E09E0DAB}"/>
              </a:ext>
            </a:extLst>
          </p:cNvPr>
          <p:cNvSpPr>
            <a:spLocks noGrp="1"/>
          </p:cNvSpPr>
          <p:nvPr>
            <p:ph idx="1"/>
          </p:nvPr>
        </p:nvSpPr>
        <p:spPr/>
        <p:txBody>
          <a:bodyPr>
            <a:normAutofit/>
          </a:bodyPr>
          <a:lstStyle/>
          <a:p>
            <a:pPr marL="457200" lvl="1" indent="0">
              <a:buNone/>
            </a:pPr>
            <a:endParaRPr lang="en-US" b="1" i="0" dirty="0">
              <a:solidFill>
                <a:srgbClr val="333333"/>
              </a:solidFill>
              <a:effectLst/>
              <a:latin typeface="Merriweather" panose="020F0502020204030204" pitchFamily="2" charset="0"/>
            </a:endParaRPr>
          </a:p>
          <a:p>
            <a:pPr marL="457200" lvl="1" indent="0">
              <a:lnSpc>
                <a:spcPct val="150000"/>
              </a:lnSpc>
              <a:buNone/>
            </a:pPr>
            <a:r>
              <a:rPr lang="en-US" b="1" dirty="0">
                <a:solidFill>
                  <a:srgbClr val="333333"/>
                </a:solidFill>
                <a:latin typeface="Arial" panose="020B0604020202020204" pitchFamily="34" charset="0"/>
                <a:cs typeface="Arial" panose="020B0604020202020204" pitchFamily="34" charset="0"/>
              </a:rPr>
              <a:t>An effective PowerPoint presentation helps communicate ideas clearly and confidently. Well-designed slides keep your audience engaged an focused on key points.</a:t>
            </a:r>
          </a:p>
          <a:p>
            <a:pPr marL="457200" lvl="1" indent="0">
              <a:lnSpc>
                <a:spcPct val="150000"/>
              </a:lnSpc>
              <a:buNone/>
            </a:pPr>
            <a:r>
              <a:rPr lang="en-US" b="1" i="0" dirty="0">
                <a:solidFill>
                  <a:srgbClr val="333333"/>
                </a:solidFill>
                <a:effectLst/>
                <a:latin typeface="Arial" panose="020B0604020202020204" pitchFamily="34" charset="0"/>
                <a:cs typeface="Arial" panose="020B0604020202020204" pitchFamily="34" charset="0"/>
              </a:rPr>
              <a:t>The following are some </a:t>
            </a:r>
            <a:r>
              <a:rPr lang="en-US" b="1" dirty="0">
                <a:solidFill>
                  <a:srgbClr val="333333"/>
                </a:solidFill>
                <a:latin typeface="Arial" panose="020B0604020202020204" pitchFamily="34" charset="0"/>
                <a:cs typeface="Arial" panose="020B0604020202020204" pitchFamily="34" charset="0"/>
              </a:rPr>
              <a:t>of the tips to effective PowerPoint presentation:</a:t>
            </a:r>
            <a:endParaRPr lang="en-US" b="1" i="0" dirty="0">
              <a:solidFill>
                <a:srgbClr val="333333"/>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29428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11F43-B548-71CF-8C3F-CEAC817600A1}"/>
              </a:ext>
            </a:extLst>
          </p:cNvPr>
          <p:cNvSpPr>
            <a:spLocks noGrp="1"/>
          </p:cNvSpPr>
          <p:nvPr>
            <p:ph type="title"/>
          </p:nvPr>
        </p:nvSpPr>
        <p:spPr/>
        <p:txBody>
          <a:bodyPr/>
          <a:lstStyle/>
          <a:p>
            <a:r>
              <a:rPr lang="en-US" b="1" i="0" dirty="0">
                <a:solidFill>
                  <a:srgbClr val="C00000"/>
                </a:solidFill>
                <a:effectLst/>
                <a:latin typeface="Merriweather" panose="020F0502020204030204" pitchFamily="2" charset="0"/>
              </a:rPr>
              <a:t>Fonts</a:t>
            </a:r>
            <a:br>
              <a:rPr lang="en-US" b="1" i="0" dirty="0">
                <a:solidFill>
                  <a:srgbClr val="C00000"/>
                </a:solidFill>
                <a:effectLst/>
                <a:latin typeface="Merriweather" panose="020F0502020204030204" pitchFamily="2" charset="0"/>
              </a:rPr>
            </a:br>
            <a:endParaRPr lang="en-TZ" dirty="0"/>
          </a:p>
        </p:txBody>
      </p:sp>
      <p:sp>
        <p:nvSpPr>
          <p:cNvPr id="3" name="Content Placeholder 2">
            <a:extLst>
              <a:ext uri="{FF2B5EF4-FFF2-40B4-BE49-F238E27FC236}">
                <a16:creationId xmlns:a16="http://schemas.microsoft.com/office/drawing/2014/main" id="{EAC351AD-0A79-5390-0D11-227335E2199D}"/>
              </a:ext>
            </a:extLst>
          </p:cNvPr>
          <p:cNvSpPr>
            <a:spLocks noGrp="1"/>
          </p:cNvSpPr>
          <p:nvPr>
            <p:ph idx="1"/>
          </p:nvPr>
        </p:nvSpPr>
        <p:spPr/>
        <p:txBody>
          <a:bodyPr/>
          <a:lstStyle/>
          <a:p>
            <a:r>
              <a:rPr lang="en-US" b="0" i="0" dirty="0">
                <a:solidFill>
                  <a:srgbClr val="262222"/>
                </a:solidFill>
                <a:effectLst/>
                <a:latin typeface="Arial" panose="020B0604020202020204" pitchFamily="34" charset="0"/>
                <a:cs typeface="Arial" panose="020B0604020202020204" pitchFamily="34" charset="0"/>
              </a:rPr>
              <a:t>Select a single sans-serif fonts such as Arial or Helvetica. Avoid serif fonts such as Times New Roman or Palatino because these fonts are sometimes more difficult to read.</a:t>
            </a:r>
          </a:p>
          <a:p>
            <a:pPr algn="l" fontAlgn="base">
              <a:lnSpc>
                <a:spcPct val="17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no font size smaller than 24 point.</a:t>
            </a:r>
          </a:p>
          <a:p>
            <a:pPr algn="l" fontAlgn="base">
              <a:lnSpc>
                <a:spcPct val="17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the same font for all your headlines.</a:t>
            </a:r>
          </a:p>
          <a:p>
            <a:pPr algn="l" fontAlgn="base">
              <a:lnSpc>
                <a:spcPct val="17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Select a font for body copy and another for headlines.</a:t>
            </a:r>
          </a:p>
          <a:p>
            <a:endParaRPr lang="en-TZ" dirty="0"/>
          </a:p>
        </p:txBody>
      </p:sp>
    </p:spTree>
    <p:extLst>
      <p:ext uri="{BB962C8B-B14F-4D97-AF65-F5344CB8AC3E}">
        <p14:creationId xmlns:p14="http://schemas.microsoft.com/office/powerpoint/2010/main" val="2810568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7A3F8-9471-1DEC-40D4-922E5CB2E206}"/>
              </a:ext>
            </a:extLst>
          </p:cNvPr>
          <p:cNvSpPr>
            <a:spLocks noGrp="1"/>
          </p:cNvSpPr>
          <p:nvPr>
            <p:ph type="title"/>
          </p:nvPr>
        </p:nvSpPr>
        <p:spPr/>
        <p:txBody>
          <a:bodyPr/>
          <a:lstStyle/>
          <a:p>
            <a:endParaRPr lang="en-TZ" dirty="0">
              <a:solidFill>
                <a:srgbClr val="00B050"/>
              </a:solidFill>
            </a:endParaRPr>
          </a:p>
        </p:txBody>
      </p:sp>
      <p:sp>
        <p:nvSpPr>
          <p:cNvPr id="3" name="Content Placeholder 2">
            <a:extLst>
              <a:ext uri="{FF2B5EF4-FFF2-40B4-BE49-F238E27FC236}">
                <a16:creationId xmlns:a16="http://schemas.microsoft.com/office/drawing/2014/main" id="{0F7B5D35-8B59-7B16-0C4D-92BB16165C7E}"/>
              </a:ext>
            </a:extLst>
          </p:cNvPr>
          <p:cNvSpPr>
            <a:spLocks noGrp="1"/>
          </p:cNvSpPr>
          <p:nvPr>
            <p:ph idx="1"/>
          </p:nvPr>
        </p:nvSpPr>
        <p:spPr/>
        <p:txBody>
          <a:bodyPr>
            <a:normAutofit/>
          </a:bodyPr>
          <a:lstStyle/>
          <a:p>
            <a:pPr algn="l" fontAlgn="base">
              <a:lnSpc>
                <a:spcPct val="16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bold and different sizes of those fonts for captions and subheadings.</a:t>
            </a:r>
          </a:p>
          <a:p>
            <a:pPr algn="l" fontAlgn="base">
              <a:lnSpc>
                <a:spcPct val="16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Add a fourth font for page numbers or as a secondary body font for sidebars.</a:t>
            </a:r>
          </a:p>
          <a:p>
            <a:pPr algn="l" fontAlgn="base">
              <a:lnSpc>
                <a:spcPct val="16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Don’t use more than four fonts in any one publication.</a:t>
            </a:r>
          </a:p>
          <a:p>
            <a:pPr algn="l" fontAlgn="base">
              <a:lnSpc>
                <a:spcPct val="16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Clearly label each screen. Use a larger font (35-45 points) or different color for the title.</a:t>
            </a:r>
          </a:p>
        </p:txBody>
      </p:sp>
    </p:spTree>
    <p:extLst>
      <p:ext uri="{BB962C8B-B14F-4D97-AF65-F5344CB8AC3E}">
        <p14:creationId xmlns:p14="http://schemas.microsoft.com/office/powerpoint/2010/main" val="2416854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55810-9423-D682-C5C4-0AB45B3CA46D}"/>
              </a:ext>
            </a:extLst>
          </p:cNvPr>
          <p:cNvSpPr>
            <a:spLocks noGrp="1"/>
          </p:cNvSpPr>
          <p:nvPr>
            <p:ph type="title"/>
          </p:nvPr>
        </p:nvSpPr>
        <p:spPr/>
        <p:txBody>
          <a:bodyPr/>
          <a:lstStyle/>
          <a:p>
            <a:endParaRPr lang="en-TZ" dirty="0">
              <a:solidFill>
                <a:srgbClr val="00B050"/>
              </a:solidFill>
            </a:endParaRPr>
          </a:p>
        </p:txBody>
      </p:sp>
      <p:sp>
        <p:nvSpPr>
          <p:cNvPr id="3" name="Content Placeholder 2">
            <a:extLst>
              <a:ext uri="{FF2B5EF4-FFF2-40B4-BE49-F238E27FC236}">
                <a16:creationId xmlns:a16="http://schemas.microsoft.com/office/drawing/2014/main" id="{AF826469-6516-3622-4411-424A81E46A56}"/>
              </a:ext>
            </a:extLst>
          </p:cNvPr>
          <p:cNvSpPr>
            <a:spLocks noGrp="1"/>
          </p:cNvSpPr>
          <p:nvPr>
            <p:ph idx="1"/>
          </p:nvPr>
        </p:nvSpPr>
        <p:spPr/>
        <p:txBody>
          <a:bodyPr>
            <a:normAutofit/>
          </a:bodyPr>
          <a:lstStyle/>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larger fonts to indicate importance.</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Plan carefully.</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Do your research.</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Know your audience.</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Time your presentation.</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Speak comfortably and clearly.</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Check the spelling and grammar.</a:t>
            </a:r>
          </a:p>
          <a:p>
            <a:endParaRPr lang="en-TZ" dirty="0"/>
          </a:p>
        </p:txBody>
      </p:sp>
    </p:spTree>
    <p:extLst>
      <p:ext uri="{BB962C8B-B14F-4D97-AF65-F5344CB8AC3E}">
        <p14:creationId xmlns:p14="http://schemas.microsoft.com/office/powerpoint/2010/main" val="3988247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E54C3-383A-4634-B1EF-F59751E5B851}"/>
              </a:ext>
            </a:extLst>
          </p:cNvPr>
          <p:cNvSpPr>
            <a:spLocks noGrp="1"/>
          </p:cNvSpPr>
          <p:nvPr>
            <p:ph type="title"/>
          </p:nvPr>
        </p:nvSpPr>
        <p:spPr/>
        <p:txBody>
          <a:bodyPr/>
          <a:lstStyle/>
          <a:p>
            <a:endParaRPr lang="en-TZ" dirty="0">
              <a:solidFill>
                <a:srgbClr val="00B050"/>
              </a:solidFill>
            </a:endParaRPr>
          </a:p>
        </p:txBody>
      </p:sp>
      <p:sp>
        <p:nvSpPr>
          <p:cNvPr id="3" name="Content Placeholder 2">
            <a:extLst>
              <a:ext uri="{FF2B5EF4-FFF2-40B4-BE49-F238E27FC236}">
                <a16:creationId xmlns:a16="http://schemas.microsoft.com/office/drawing/2014/main" id="{397D6BBC-2EE1-F4A8-1CDE-65D91B3FCE30}"/>
              </a:ext>
            </a:extLst>
          </p:cNvPr>
          <p:cNvSpPr>
            <a:spLocks noGrp="1"/>
          </p:cNvSpPr>
          <p:nvPr>
            <p:ph idx="1"/>
          </p:nvPr>
        </p:nvSpPr>
        <p:spPr/>
        <p:txBody>
          <a:bodyPr>
            <a:normAutofit/>
          </a:bodyPr>
          <a:lstStyle/>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Do not read the presentation. Practice the presentation so you can speak from bullet points. The text should be a cue for the presenter rather than a message for the viewer.</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Give a brief overview at the start. Then present the information. Finally review important points.</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It is often more effective to have bulleted points appear one at a time so the audience listens to the presenter rather than reading the screen.</a:t>
            </a:r>
          </a:p>
          <a:p>
            <a:endParaRPr lang="en-TZ" dirty="0"/>
          </a:p>
        </p:txBody>
      </p:sp>
    </p:spTree>
    <p:extLst>
      <p:ext uri="{BB962C8B-B14F-4D97-AF65-F5344CB8AC3E}">
        <p14:creationId xmlns:p14="http://schemas.microsoft.com/office/powerpoint/2010/main" val="1738523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717E9-BA3C-ABD2-EFC1-AE597566CED9}"/>
              </a:ext>
            </a:extLst>
          </p:cNvPr>
          <p:cNvSpPr>
            <a:spLocks noGrp="1"/>
          </p:cNvSpPr>
          <p:nvPr>
            <p:ph type="title"/>
          </p:nvPr>
        </p:nvSpPr>
        <p:spPr/>
        <p:txBody>
          <a:bodyPr/>
          <a:lstStyle/>
          <a:p>
            <a:endParaRPr lang="en-TZ" dirty="0">
              <a:solidFill>
                <a:srgbClr val="00B050"/>
              </a:solidFill>
            </a:endParaRPr>
          </a:p>
        </p:txBody>
      </p:sp>
      <p:sp>
        <p:nvSpPr>
          <p:cNvPr id="3" name="Content Placeholder 2">
            <a:extLst>
              <a:ext uri="{FF2B5EF4-FFF2-40B4-BE49-F238E27FC236}">
                <a16:creationId xmlns:a16="http://schemas.microsoft.com/office/drawing/2014/main" id="{2651436B-6841-C983-BA6B-53285001BD5F}"/>
              </a:ext>
            </a:extLst>
          </p:cNvPr>
          <p:cNvSpPr>
            <a:spLocks noGrp="1"/>
          </p:cNvSpPr>
          <p:nvPr>
            <p:ph idx="1"/>
          </p:nvPr>
        </p:nvSpPr>
        <p:spPr/>
        <p:txBody>
          <a:bodyPr>
            <a:normAutofit/>
          </a:bodyPr>
          <a:lstStyle/>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a wireless mouse or pick up the wired mouse so you can move around as you speak.</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If sound effects are used, wait until the sound has finished to speak.</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If the content is complex, print the slides so the audience can take notes.</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Do not turn your back on the audience. Try to position the monitor so you can speak from it.</a:t>
            </a:r>
          </a:p>
          <a:p>
            <a:pPr marL="0" indent="0">
              <a:buNone/>
            </a:pPr>
            <a:endParaRPr lang="en-TZ" dirty="0"/>
          </a:p>
        </p:txBody>
      </p:sp>
    </p:spTree>
    <p:extLst>
      <p:ext uri="{BB962C8B-B14F-4D97-AF65-F5344CB8AC3E}">
        <p14:creationId xmlns:p14="http://schemas.microsoft.com/office/powerpoint/2010/main" val="2960314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209FE-3D04-B279-99B8-1F5ECDC4D545}"/>
              </a:ext>
            </a:extLst>
          </p:cNvPr>
          <p:cNvSpPr>
            <a:spLocks noGrp="1"/>
          </p:cNvSpPr>
          <p:nvPr>
            <p:ph type="title"/>
          </p:nvPr>
        </p:nvSpPr>
        <p:spPr/>
        <p:txBody>
          <a:bodyPr/>
          <a:lstStyle/>
          <a:p>
            <a:r>
              <a:rPr lang="en-US" b="1" i="0" dirty="0">
                <a:solidFill>
                  <a:srgbClr val="FF0000"/>
                </a:solidFill>
                <a:effectLst/>
                <a:latin typeface="Merriweather" panose="00000500000000000000" pitchFamily="2" charset="0"/>
              </a:rPr>
              <a:t>Design and Graphical Images</a:t>
            </a:r>
            <a:br>
              <a:rPr lang="en-US" b="1" i="0" dirty="0">
                <a:solidFill>
                  <a:srgbClr val="FF0000"/>
                </a:solidFill>
                <a:effectLst/>
                <a:latin typeface="Merriweather" panose="00000500000000000000" pitchFamily="2" charset="0"/>
              </a:rPr>
            </a:br>
            <a:endParaRPr lang="en-TZ" dirty="0">
              <a:solidFill>
                <a:srgbClr val="00B050"/>
              </a:solidFill>
            </a:endParaRPr>
          </a:p>
        </p:txBody>
      </p:sp>
      <p:sp>
        <p:nvSpPr>
          <p:cNvPr id="3" name="Content Placeholder 2">
            <a:extLst>
              <a:ext uri="{FF2B5EF4-FFF2-40B4-BE49-F238E27FC236}">
                <a16:creationId xmlns:a16="http://schemas.microsoft.com/office/drawing/2014/main" id="{97508022-D1A7-73E2-6690-47E076C17AF6}"/>
              </a:ext>
            </a:extLst>
          </p:cNvPr>
          <p:cNvSpPr>
            <a:spLocks noGrp="1"/>
          </p:cNvSpPr>
          <p:nvPr>
            <p:ph idx="1"/>
          </p:nvPr>
        </p:nvSpPr>
        <p:spPr/>
        <p:txBody>
          <a:bodyPr>
            <a:normAutofit/>
          </a:bodyPr>
          <a:lstStyle/>
          <a:p>
            <a:r>
              <a:rPr lang="en-US" b="0" i="0" dirty="0">
                <a:solidFill>
                  <a:srgbClr val="262222"/>
                </a:solidFill>
                <a:effectLst/>
                <a:latin typeface="Arial" panose="020B0604020202020204" pitchFamily="34" charset="0"/>
                <a:cs typeface="Arial" panose="020B0604020202020204" pitchFamily="34" charset="0"/>
              </a:rPr>
              <a:t>Use design templates.</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Standardize position, colors, and styles.</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Include only necessary information.</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Limit the information to essentials.</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Content should be self-evident</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colors that contrast and compliment.</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Too may slides can lose your audience.</a:t>
            </a:r>
          </a:p>
          <a:p>
            <a:pPr lvl="1"/>
            <a:endParaRPr lang="en-TZ" dirty="0"/>
          </a:p>
        </p:txBody>
      </p:sp>
    </p:spTree>
    <p:extLst>
      <p:ext uri="{BB962C8B-B14F-4D97-AF65-F5344CB8AC3E}">
        <p14:creationId xmlns:p14="http://schemas.microsoft.com/office/powerpoint/2010/main" val="1536669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A167F-74BC-C67B-AF07-5E856946604A}"/>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EC1F89A8-FE2C-77B0-2B24-048D9118B285}"/>
              </a:ext>
            </a:extLst>
          </p:cNvPr>
          <p:cNvSpPr>
            <a:spLocks noGrp="1"/>
          </p:cNvSpPr>
          <p:nvPr>
            <p:ph idx="1"/>
          </p:nvPr>
        </p:nvSpPr>
        <p:spPr/>
        <p:txBody>
          <a:bodyPr>
            <a:normAutofit/>
          </a:bodyPr>
          <a:lstStyle/>
          <a:p>
            <a:pPr algn="l" fontAlgn="base">
              <a:lnSpc>
                <a:spcPct val="16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Keep the background consistent and subtle.</a:t>
            </a:r>
          </a:p>
          <a:p>
            <a:pPr algn="l" fontAlgn="base">
              <a:lnSpc>
                <a:spcPct val="16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Limit the number of transitions used. It is often better to use only one so the audience knows what to expect.</a:t>
            </a:r>
          </a:p>
          <a:p>
            <a:pPr algn="l" fontAlgn="base">
              <a:lnSpc>
                <a:spcPct val="16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a single style of dingbat for bullets throughout the page.</a:t>
            </a:r>
          </a:p>
          <a:p>
            <a:pPr algn="l" fontAlgn="base">
              <a:lnSpc>
                <a:spcPct val="16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the same graphical rule at the top of all pages in a multi-page document.</a:t>
            </a:r>
          </a:p>
          <a:p>
            <a:pPr algn="l" fontAlgn="base">
              <a:lnSpc>
                <a:spcPct val="16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one or two large images rather than several small images.</a:t>
            </a:r>
          </a:p>
        </p:txBody>
      </p:sp>
    </p:spTree>
    <p:extLst>
      <p:ext uri="{BB962C8B-B14F-4D97-AF65-F5344CB8AC3E}">
        <p14:creationId xmlns:p14="http://schemas.microsoft.com/office/powerpoint/2010/main" val="1889130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37728-AD9F-65CC-04C2-4F275C1F2031}"/>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20F49AD9-CB47-2EAE-9F70-3D6819BFE679}"/>
              </a:ext>
            </a:extLst>
          </p:cNvPr>
          <p:cNvSpPr>
            <a:spLocks noGrp="1"/>
          </p:cNvSpPr>
          <p:nvPr>
            <p:ph idx="1"/>
          </p:nvPr>
        </p:nvSpPr>
        <p:spPr/>
        <p:txBody>
          <a:bodyPr>
            <a:normAutofit/>
          </a:bodyPr>
          <a:lstStyle/>
          <a:p>
            <a:pPr algn="l" fontAlgn="base">
              <a:lnSpc>
                <a:spcPct val="2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Prioritize images instead of a barrage of images for competing attention.</a:t>
            </a:r>
          </a:p>
          <a:p>
            <a:pPr algn="l" fontAlgn="base">
              <a:lnSpc>
                <a:spcPct val="2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Check all images on a projection screen before the actual presentation.</a:t>
            </a:r>
          </a:p>
          <a:p>
            <a:pPr algn="l" fontAlgn="base">
              <a:lnSpc>
                <a:spcPct val="2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Avoid flashy images and noisy animation effects unless it relates directly to the slide.</a:t>
            </a:r>
          </a:p>
          <a:p>
            <a:pPr marL="0" indent="0">
              <a:buNone/>
            </a:pPr>
            <a:endParaRPr lang="en-TZ" dirty="0"/>
          </a:p>
        </p:txBody>
      </p:sp>
    </p:spTree>
    <p:extLst>
      <p:ext uri="{BB962C8B-B14F-4D97-AF65-F5344CB8AC3E}">
        <p14:creationId xmlns:p14="http://schemas.microsoft.com/office/powerpoint/2010/main" val="2890230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F15D6-BF5D-B0C9-8CB1-797B93E17072}"/>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601B2781-E4CC-F30D-314E-E64F98F7ADE0}"/>
              </a:ext>
            </a:extLst>
          </p:cNvPr>
          <p:cNvSpPr>
            <a:spLocks noGrp="1"/>
          </p:cNvSpPr>
          <p:nvPr>
            <p:ph idx="1"/>
          </p:nvPr>
        </p:nvSpPr>
        <p:spPr>
          <a:xfrm>
            <a:off x="838200" y="1825625"/>
            <a:ext cx="10515600" cy="4667250"/>
          </a:xfrm>
        </p:spPr>
        <p:txBody>
          <a:bodyPr>
            <a:normAutofit/>
          </a:bodyPr>
          <a:lstStyle/>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Make images all the same size.</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the same border.</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Arrange images vertically or horizontally.</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only enough text when using charts or graphical images to explain the chart or graph and clearly label the image.</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Keep the design clean and uncluttered. Leave empty space around the text and graphical images.</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quality clipart and use it sparingly. A graphical image should relate to and enhance the topic of the slide.</a:t>
            </a:r>
          </a:p>
          <a:p>
            <a:pPr marL="0" indent="0">
              <a:buNone/>
            </a:pPr>
            <a:endParaRPr lang="en-TZ" dirty="0"/>
          </a:p>
        </p:txBody>
      </p:sp>
    </p:spTree>
    <p:extLst>
      <p:ext uri="{BB962C8B-B14F-4D97-AF65-F5344CB8AC3E}">
        <p14:creationId xmlns:p14="http://schemas.microsoft.com/office/powerpoint/2010/main" val="2409747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84956-61BF-6F18-0C77-0EF754BF7C9B}"/>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55C11351-663E-253E-2C49-696633F80913}"/>
              </a:ext>
            </a:extLst>
          </p:cNvPr>
          <p:cNvSpPr>
            <a:spLocks noGrp="1"/>
          </p:cNvSpPr>
          <p:nvPr>
            <p:ph idx="1"/>
          </p:nvPr>
        </p:nvSpPr>
        <p:spPr/>
        <p:txBody>
          <a:bodyPr>
            <a:normAutofit/>
          </a:bodyPr>
          <a:lstStyle/>
          <a:p>
            <a:pPr algn="l" fontAlgn="base">
              <a:buFont typeface="Arial" panose="020B0604020202020204" pitchFamily="34" charset="0"/>
              <a:buChar char="•"/>
            </a:pPr>
            <a:r>
              <a:rPr lang="en-US" b="0" i="0" dirty="0">
                <a:solidFill>
                  <a:srgbClr val="262222"/>
                </a:solidFill>
                <a:effectLst/>
                <a:latin typeface="inherit"/>
              </a:rPr>
              <a:t>Try to use the same style graphical image throughout the presentation (e.g., cartoon, photographs)</a:t>
            </a:r>
          </a:p>
          <a:p>
            <a:pPr algn="l" fontAlgn="base">
              <a:buFont typeface="Arial" panose="020B0604020202020204" pitchFamily="34" charset="0"/>
              <a:buChar char="•"/>
            </a:pPr>
            <a:r>
              <a:rPr lang="en-US" b="0" i="0" dirty="0">
                <a:solidFill>
                  <a:srgbClr val="262222"/>
                </a:solidFill>
                <a:effectLst/>
                <a:latin typeface="inherit"/>
              </a:rPr>
              <a:t>Limit the number of graphical images on each slide.</a:t>
            </a:r>
          </a:p>
          <a:p>
            <a:pPr algn="l" fontAlgn="base">
              <a:buFont typeface="Arial" panose="020B0604020202020204" pitchFamily="34" charset="0"/>
              <a:buChar char="•"/>
            </a:pPr>
            <a:r>
              <a:rPr lang="en-US" b="0" i="0" dirty="0">
                <a:solidFill>
                  <a:srgbClr val="262222"/>
                </a:solidFill>
                <a:effectLst/>
                <a:latin typeface="inherit"/>
              </a:rPr>
              <a:t>Repetition of an image reinforces the message. Tie the number of copies of an image to the numbers in your text.</a:t>
            </a:r>
          </a:p>
          <a:p>
            <a:pPr algn="l" fontAlgn="base">
              <a:buFont typeface="Arial" panose="020B0604020202020204" pitchFamily="34" charset="0"/>
              <a:buChar char="•"/>
            </a:pPr>
            <a:r>
              <a:rPr lang="en-US" b="0" i="0" dirty="0">
                <a:solidFill>
                  <a:srgbClr val="262222"/>
                </a:solidFill>
                <a:effectLst/>
                <a:latin typeface="inherit"/>
              </a:rPr>
              <a:t>Resize, recolor, reverse to turn one image into many. Use duplicates of varying sizes, colors, and orientations to multiply the usefulness of a single clip art image.</a:t>
            </a:r>
          </a:p>
        </p:txBody>
      </p:sp>
    </p:spTree>
    <p:extLst>
      <p:ext uri="{BB962C8B-B14F-4D97-AF65-F5344CB8AC3E}">
        <p14:creationId xmlns:p14="http://schemas.microsoft.com/office/powerpoint/2010/main" val="3056112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1F8BE-31B3-5248-5B88-DEA64C1D9731}"/>
              </a:ext>
            </a:extLst>
          </p:cNvPr>
          <p:cNvSpPr>
            <a:spLocks noGrp="1"/>
          </p:cNvSpPr>
          <p:nvPr>
            <p:ph type="title"/>
          </p:nvPr>
        </p:nvSpPr>
        <p:spPr/>
        <p:txBody>
          <a:bodyPr/>
          <a:lstStyle/>
          <a:p>
            <a:r>
              <a:rPr lang="en-US" b="1" i="0" dirty="0">
                <a:solidFill>
                  <a:srgbClr val="FF0000"/>
                </a:solidFill>
                <a:effectLst/>
                <a:latin typeface="Merriweather" panose="00000500000000000000" pitchFamily="2" charset="0"/>
              </a:rPr>
              <a:t>Color</a:t>
            </a:r>
            <a:br>
              <a:rPr lang="en-US" b="1" i="0" dirty="0">
                <a:solidFill>
                  <a:srgbClr val="333333"/>
                </a:solidFill>
                <a:effectLst/>
                <a:latin typeface="Merriweather" panose="00000500000000000000" pitchFamily="2" charset="0"/>
              </a:rPr>
            </a:br>
            <a:endParaRPr lang="en-TZ" dirty="0"/>
          </a:p>
        </p:txBody>
      </p:sp>
      <p:sp>
        <p:nvSpPr>
          <p:cNvPr id="3" name="Content Placeholder 2">
            <a:extLst>
              <a:ext uri="{FF2B5EF4-FFF2-40B4-BE49-F238E27FC236}">
                <a16:creationId xmlns:a16="http://schemas.microsoft.com/office/drawing/2014/main" id="{84B07703-833B-109C-FE43-D1011D2BA7AD}"/>
              </a:ext>
            </a:extLst>
          </p:cNvPr>
          <p:cNvSpPr>
            <a:spLocks noGrp="1"/>
          </p:cNvSpPr>
          <p:nvPr>
            <p:ph idx="1"/>
          </p:nvPr>
        </p:nvSpPr>
        <p:spPr/>
        <p:txBody>
          <a:bodyPr>
            <a:normAutofit/>
          </a:bodyPr>
          <a:lstStyle/>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Limit the number of colors on a single screen.</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Bright colors make small objects and thin lines stand out. However, some vibrant colors are difficult to read when projected.</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no more than four colors on one chart.</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Check all colors on a projection screen before the actual presentation. Colors may project differently than what appears on the monitor.</a:t>
            </a:r>
          </a:p>
          <a:p>
            <a:pPr marL="0" indent="0">
              <a:buNone/>
            </a:pPr>
            <a:endParaRPr lang="en-TZ" dirty="0"/>
          </a:p>
        </p:txBody>
      </p:sp>
    </p:spTree>
    <p:extLst>
      <p:ext uri="{BB962C8B-B14F-4D97-AF65-F5344CB8AC3E}">
        <p14:creationId xmlns:p14="http://schemas.microsoft.com/office/powerpoint/2010/main" val="1408479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D28A9-B9D1-D30F-432F-ABD54D049AC1}"/>
              </a:ext>
            </a:extLst>
          </p:cNvPr>
          <p:cNvSpPr>
            <a:spLocks noGrp="1"/>
          </p:cNvSpPr>
          <p:nvPr>
            <p:ph type="title"/>
          </p:nvPr>
        </p:nvSpPr>
        <p:spPr/>
        <p:txBody>
          <a:bodyPr/>
          <a:lstStyle/>
          <a:p>
            <a:r>
              <a:rPr lang="en-US" b="1" i="0" dirty="0">
                <a:solidFill>
                  <a:srgbClr val="FF0000"/>
                </a:solidFill>
                <a:effectLst/>
                <a:latin typeface="Merriweather" panose="00000500000000000000" pitchFamily="2" charset="0"/>
              </a:rPr>
              <a:t>General Presentation</a:t>
            </a:r>
            <a:br>
              <a:rPr lang="en-US" b="1" i="0" dirty="0">
                <a:solidFill>
                  <a:srgbClr val="333333"/>
                </a:solidFill>
                <a:effectLst/>
                <a:latin typeface="Merriweather" panose="00000500000000000000" pitchFamily="2" charset="0"/>
              </a:rPr>
            </a:br>
            <a:endParaRPr lang="en-TZ" dirty="0"/>
          </a:p>
        </p:txBody>
      </p:sp>
      <p:sp>
        <p:nvSpPr>
          <p:cNvPr id="3" name="Content Placeholder 2">
            <a:extLst>
              <a:ext uri="{FF2B5EF4-FFF2-40B4-BE49-F238E27FC236}">
                <a16:creationId xmlns:a16="http://schemas.microsoft.com/office/drawing/2014/main" id="{2F22113D-A3EE-AFED-5072-7BFDC14D1B3C}"/>
              </a:ext>
            </a:extLst>
          </p:cNvPr>
          <p:cNvSpPr>
            <a:spLocks noGrp="1"/>
          </p:cNvSpPr>
          <p:nvPr>
            <p:ph idx="1"/>
          </p:nvPr>
        </p:nvSpPr>
        <p:spPr/>
        <p:txBody>
          <a:bodyPr>
            <a:normAutofit lnSpcReduction="10000"/>
          </a:bodyPr>
          <a:lstStyle/>
          <a:p>
            <a:pPr algn="l" fontAlgn="base">
              <a:lnSpc>
                <a:spcPct val="200000"/>
              </a:lnSpc>
              <a:buFont typeface="Arial" panose="020B0604020202020204" pitchFamily="34" charset="0"/>
              <a:buChar char="•"/>
            </a:pPr>
            <a:r>
              <a:rPr lang="en-US" b="0" i="0" dirty="0">
                <a:solidFill>
                  <a:srgbClr val="262222"/>
                </a:solidFill>
                <a:effectLst/>
                <a:latin typeface="inherit"/>
              </a:rPr>
              <a:t>Plan carefully.</a:t>
            </a:r>
          </a:p>
          <a:p>
            <a:pPr algn="l" fontAlgn="base">
              <a:lnSpc>
                <a:spcPct val="200000"/>
              </a:lnSpc>
              <a:buFont typeface="Arial" panose="020B0604020202020204" pitchFamily="34" charset="0"/>
              <a:buChar char="•"/>
            </a:pPr>
            <a:r>
              <a:rPr lang="en-US" b="0" i="0" dirty="0">
                <a:solidFill>
                  <a:srgbClr val="262222"/>
                </a:solidFill>
                <a:effectLst/>
                <a:latin typeface="inherit"/>
              </a:rPr>
              <a:t>Do your research.</a:t>
            </a:r>
          </a:p>
          <a:p>
            <a:pPr algn="l" fontAlgn="base">
              <a:lnSpc>
                <a:spcPct val="200000"/>
              </a:lnSpc>
              <a:buFont typeface="Arial" panose="020B0604020202020204" pitchFamily="34" charset="0"/>
              <a:buChar char="•"/>
            </a:pPr>
            <a:r>
              <a:rPr lang="en-US" b="0" i="0" dirty="0">
                <a:solidFill>
                  <a:srgbClr val="262222"/>
                </a:solidFill>
                <a:effectLst/>
                <a:latin typeface="inherit"/>
              </a:rPr>
              <a:t>Know your audience.</a:t>
            </a:r>
          </a:p>
          <a:p>
            <a:pPr algn="l" fontAlgn="base">
              <a:lnSpc>
                <a:spcPct val="200000"/>
              </a:lnSpc>
              <a:buFont typeface="Arial" panose="020B0604020202020204" pitchFamily="34" charset="0"/>
              <a:buChar char="•"/>
            </a:pPr>
            <a:r>
              <a:rPr lang="en-US" b="0" i="0" dirty="0">
                <a:solidFill>
                  <a:srgbClr val="262222"/>
                </a:solidFill>
                <a:effectLst/>
                <a:latin typeface="inherit"/>
              </a:rPr>
              <a:t>Time your presentation.</a:t>
            </a:r>
          </a:p>
          <a:p>
            <a:pPr algn="l" fontAlgn="base">
              <a:lnSpc>
                <a:spcPct val="200000"/>
              </a:lnSpc>
              <a:buFont typeface="Arial" panose="020B0604020202020204" pitchFamily="34" charset="0"/>
              <a:buChar char="•"/>
            </a:pPr>
            <a:r>
              <a:rPr lang="en-US" b="0" i="0" dirty="0">
                <a:solidFill>
                  <a:srgbClr val="262222"/>
                </a:solidFill>
                <a:effectLst/>
                <a:latin typeface="inherit"/>
              </a:rPr>
              <a:t>Speak comfortably and clearly.</a:t>
            </a:r>
          </a:p>
          <a:p>
            <a:pPr algn="l" fontAlgn="base">
              <a:lnSpc>
                <a:spcPct val="200000"/>
              </a:lnSpc>
              <a:buFont typeface="Arial" panose="020B0604020202020204" pitchFamily="34" charset="0"/>
              <a:buChar char="•"/>
            </a:pPr>
            <a:r>
              <a:rPr lang="en-US" b="0" i="0" dirty="0">
                <a:solidFill>
                  <a:srgbClr val="262222"/>
                </a:solidFill>
                <a:effectLst/>
                <a:latin typeface="inherit"/>
              </a:rPr>
              <a:t>Check the spelling and grammar.</a:t>
            </a:r>
          </a:p>
        </p:txBody>
      </p:sp>
    </p:spTree>
    <p:extLst>
      <p:ext uri="{BB962C8B-B14F-4D97-AF65-F5344CB8AC3E}">
        <p14:creationId xmlns:p14="http://schemas.microsoft.com/office/powerpoint/2010/main" val="3534475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7E9C9-4CDD-1DAC-3F1D-0D6FA3C8AB05}"/>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3A6AB938-203D-E416-284C-94A25CB5ECD3}"/>
              </a:ext>
            </a:extLst>
          </p:cNvPr>
          <p:cNvSpPr>
            <a:spLocks noGrp="1"/>
          </p:cNvSpPr>
          <p:nvPr>
            <p:ph idx="1"/>
          </p:nvPr>
        </p:nvSpPr>
        <p:spPr/>
        <p:txBody>
          <a:bodyPr>
            <a:normAutofit fontScale="92500" lnSpcReduction="10000"/>
          </a:bodyPr>
          <a:lstStyle/>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Do not read the presentation. Practice the presentation so you can speak from bullet points. The text should be a cue for the presenter rather than a message for the viewer.</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Give a brief overview at the start. Then present the information. Finally review important points.</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It is often more effective to have bulleted points appear one at a time so the audience listens to the presenter rather than reading the screen.</a:t>
            </a:r>
          </a:p>
          <a:p>
            <a:pPr algn="l" fontAlgn="base">
              <a:lnSpc>
                <a:spcPct val="1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Use a wireless mouse or pick up the wired mouse so you can move around as you speak.</a:t>
            </a:r>
          </a:p>
        </p:txBody>
      </p:sp>
    </p:spTree>
    <p:extLst>
      <p:ext uri="{BB962C8B-B14F-4D97-AF65-F5344CB8AC3E}">
        <p14:creationId xmlns:p14="http://schemas.microsoft.com/office/powerpoint/2010/main" val="1741472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F805C-FAB5-B4DE-E161-C4C9C502F63C}"/>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5A58563E-DB21-91E9-4DDC-B7A55739971D}"/>
              </a:ext>
            </a:extLst>
          </p:cNvPr>
          <p:cNvSpPr>
            <a:spLocks noGrp="1"/>
          </p:cNvSpPr>
          <p:nvPr>
            <p:ph idx="1"/>
          </p:nvPr>
        </p:nvSpPr>
        <p:spPr/>
        <p:txBody>
          <a:bodyPr>
            <a:normAutofit/>
          </a:bodyPr>
          <a:lstStyle/>
          <a:p>
            <a:pPr algn="l" fontAlgn="base">
              <a:lnSpc>
                <a:spcPct val="2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If sound effects are used, wait until the sound has finished to speak.</a:t>
            </a:r>
          </a:p>
          <a:p>
            <a:pPr algn="l" fontAlgn="base">
              <a:lnSpc>
                <a:spcPct val="2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If the content is complex, print the slides so the audience can take notes.</a:t>
            </a:r>
          </a:p>
          <a:p>
            <a:pPr algn="l" fontAlgn="base">
              <a:lnSpc>
                <a:spcPct val="250000"/>
              </a:lnSpc>
              <a:buFont typeface="Arial" panose="020B0604020202020204" pitchFamily="34" charset="0"/>
              <a:buChar char="•"/>
            </a:pPr>
            <a:r>
              <a:rPr lang="en-US" b="0" i="0" dirty="0">
                <a:solidFill>
                  <a:srgbClr val="262222"/>
                </a:solidFill>
                <a:effectLst/>
                <a:latin typeface="Arial" panose="020B0604020202020204" pitchFamily="34" charset="0"/>
                <a:cs typeface="Arial" panose="020B0604020202020204" pitchFamily="34" charset="0"/>
              </a:rPr>
              <a:t>Do not turn your back on the audience. Try to position the monitor so you can speak from it.</a:t>
            </a:r>
          </a:p>
          <a:p>
            <a:pPr lvl="1"/>
            <a:endParaRPr lang="en-TZ" dirty="0"/>
          </a:p>
        </p:txBody>
      </p:sp>
    </p:spTree>
    <p:extLst>
      <p:ext uri="{BB962C8B-B14F-4D97-AF65-F5344CB8AC3E}">
        <p14:creationId xmlns:p14="http://schemas.microsoft.com/office/powerpoint/2010/main" val="370980498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97</TotalTime>
  <Words>1679</Words>
  <Application>Microsoft Office PowerPoint</Application>
  <PresentationFormat>Widescreen</PresentationFormat>
  <Paragraphs>99</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Arial Black</vt:lpstr>
      <vt:lpstr>inherit</vt:lpstr>
      <vt:lpstr>Merriweather</vt:lpstr>
      <vt:lpstr>Open Sans</vt:lpstr>
      <vt:lpstr>Trebuchet MS</vt:lpstr>
      <vt:lpstr>Wingdings 3</vt:lpstr>
      <vt:lpstr>Facet</vt:lpstr>
      <vt:lpstr>Tips For Making Effective Power Point Presentation</vt:lpstr>
      <vt:lpstr>Introduction</vt:lpstr>
      <vt:lpstr>Things to avoid when preparing your PowerPoint presentation</vt:lpstr>
      <vt:lpstr>PowerPoint Presentation</vt:lpstr>
      <vt:lpstr>PowerPoint Presentation</vt:lpstr>
      <vt:lpstr>PowerPoint Presentation</vt:lpstr>
      <vt:lpstr>Tips for Making Effective PowerPoint Presentations </vt:lpstr>
      <vt:lpstr>PowerPoint Presentation</vt:lpstr>
      <vt:lpstr>PowerPoint Presentation</vt:lpstr>
      <vt:lpstr>PowerPoint Presentation</vt:lpstr>
      <vt:lpstr>Tips for effective PowerPoint presentation</vt:lpstr>
      <vt:lpstr>Fonts </vt:lpstr>
      <vt:lpstr>PowerPoint Presentation</vt:lpstr>
      <vt:lpstr>PowerPoint Presentation</vt:lpstr>
      <vt:lpstr>PowerPoint Presentation</vt:lpstr>
      <vt:lpstr>PowerPoint Presentation</vt:lpstr>
      <vt:lpstr>Design and Graphical Images </vt:lpstr>
      <vt:lpstr>PowerPoint Presentation</vt:lpstr>
      <vt:lpstr>PowerPoint Presentation</vt:lpstr>
      <vt:lpstr>PowerPoint Presentation</vt:lpstr>
      <vt:lpstr>PowerPoint Presentation</vt:lpstr>
      <vt:lpstr>Color </vt:lpstr>
      <vt:lpstr>General Presentation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Meshack Nagunika</dc:creator>
  <cp:lastModifiedBy>Meshack Nagunika</cp:lastModifiedBy>
  <cp:revision>2</cp:revision>
  <dcterms:created xsi:type="dcterms:W3CDTF">2025-12-15T06:24:56Z</dcterms:created>
  <dcterms:modified xsi:type="dcterms:W3CDTF">2025-12-15T08:03:56Z</dcterms:modified>
</cp:coreProperties>
</file>