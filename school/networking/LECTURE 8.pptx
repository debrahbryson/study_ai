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58" r:id="rId5"/>
    <p:sldId id="269" r:id="rId6"/>
    <p:sldId id="267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5" r:id="rId15"/>
    <p:sldId id="270" r:id="rId16"/>
  </p:sldIdLst>
  <p:sldSz cx="12192000" cy="6858000"/>
  <p:notesSz cx="6858000" cy="9144000"/>
  <p:defaultTextStyle>
    <a:defPPr>
      <a:defRPr lang="en-V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2B53C-692E-482F-AC4A-BF00D9692FD5}" type="datetimeFigureOut">
              <a:rPr lang="en-VG" smtClean="0"/>
              <a:t>01/13/2025</a:t>
            </a:fld>
            <a:endParaRPr lang="en-V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DBE31-F250-4E6A-870A-737086DD90AD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74362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A1AE-314D-94EA-2D8F-8F920E0A8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D60F-7F47-1F02-1B3F-65069E7E0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38855-6E2E-4344-A2C4-E12FF001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885DB-3EEA-481D-A0E9-374577BAB8D3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65F0C-829A-F93F-462A-CB691CA6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0C3C-304C-2ED6-9C43-94692F1A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57508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2B6E-D206-7AD8-CED2-4FAD21F6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7499-80A8-8821-EF99-C1BE5663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307B-E0FA-B0DE-47E6-E5CD3470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DC79-E947-45F1-A984-7E82F3E042AF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E671-6B95-DB9D-EB0C-94083D97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E143-666C-790C-48A5-AD5762C3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05477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9BF0-751D-3BC1-1FCB-E98E8A27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1B808-0F93-BC4C-C777-55634DEB0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ABE35-461C-233C-5586-3C55B49E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F572-3CC8-45A0-8E3D-841332492099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AE6E-D876-0736-1CB7-9B679DCA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3988-09DC-12FD-AE33-B92081C6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46398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B973-4394-29FF-530B-85D5D07D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1F6A-6084-9E25-4CD2-9779FB4B8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7EC51-7BAD-48D0-98F9-8CD50D131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12D7F-D9E3-8F14-82B7-41563FF9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098F5-75DA-43DD-A882-7B43F8BA06DF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A1040-DD13-E021-ADC4-F6908166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7A932-E20D-35A9-6477-D70920AB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15370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1783-94A3-B9A9-B378-35712FFC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8725C-9446-0E06-7EBE-828471C1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B37E-DA99-EC27-F661-D93B9A398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D1960-E37F-1FB4-8364-42DD52E24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36B3B-A3D5-A495-BD47-D1CB5B8E8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141239-E071-CDB8-58FE-B76A128D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EB32-6841-44F1-8AD0-C4E9538B8B0F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3C12A-24B7-FC01-9F33-CCC589D5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ABD62-EC97-E843-4F7F-5C08CD6A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195635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9926-DA35-20BE-5622-213E52F7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6C06C-D366-1993-0042-1BF0199A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0B07-B278-425B-8158-266DE7BED9E3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D43E0-65BF-219D-3475-B2514FB8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F15D5-B81F-2F30-AE65-7A671DB8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55235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2E5FD-106C-A003-B36C-7094B115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65DF-A53D-48A9-905C-DF0B9B25BA98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BAC1B-A9CA-645C-3291-1D48C439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47462-DE90-CDC3-E3B7-2DF371F0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46256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AA7C-0669-1600-ED01-789A0301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F18E-E283-EEEB-3C50-341B07F1D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45D8A-36ED-66DC-B8B1-E39E35AFD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873F7-E412-B6ED-8D78-4BC18049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B8D8-AA8E-4625-BCCA-7129262AB12E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20A81-CF4C-2964-15E2-2CFB73D5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02C73-00D7-BA54-354F-7C2394F1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76746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0F9B-2F15-117F-4D05-78069125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0E46B-81C6-0E77-976A-8526B3768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CCBB0-F7E6-71B9-EDEC-98E4F49B4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3CD17-E1DE-4E12-E4EB-C62786AB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EA318-7853-4179-827D-59000888AE68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43361-5B0B-6A38-4947-21277D4D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F6E6E-10F4-047A-58B0-A902D504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42550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FB5D-04CE-1606-6260-3E7F44A3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43788-8D1A-02E3-DD80-74EEA5552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45B82-1D4F-7BFF-C98E-A2906F6B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37C1-82D9-48E2-B6B4-02AAC81D2F8E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316FF-4B7F-4D6F-2D73-AEBC89C2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A8200-424D-81BE-3F13-C0FC44E8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163221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B17E0-8BBE-F839-6753-A335C8522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92525-E5FD-E2B6-E85D-2962D6AFE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56EDE-D501-962D-7B88-FAF4AE02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7243D-4FCF-4A2C-A580-EFA743E89C33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82415-0677-5C46-F4EC-5D872324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11375-A787-5DF4-9F55-CF8EC12C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90448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44E1F-E85A-A046-509E-99ED4D01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5289C-5E90-9DAF-D51F-7A69B8CD4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00C3-F056-7B22-54B5-ADD8760E4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AC85E-6B48-48B1-996D-04E7C6E211EF}" type="datetime8">
              <a:rPr lang="en-VG" smtClean="0"/>
              <a:t>01/13/2025 11:26</a:t>
            </a:fld>
            <a:endParaRPr lang="en-V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BE3FA-7ABF-7299-B1C4-EE4BD420F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683CA-FDF1-7B60-9F3B-25347530C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E56B7-C8D1-4169-B510-98F55686222F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77608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68F8-DAD9-4A1B-0CA9-EA40C3F51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009" y="647114"/>
            <a:ext cx="9626991" cy="1955409"/>
          </a:xfrm>
        </p:spPr>
        <p:txBody>
          <a:bodyPr>
            <a:normAutofit/>
          </a:bodyPr>
          <a:lstStyle/>
          <a:p>
            <a:pPr>
              <a:tabLst>
                <a:tab pos="2068513" algn="l"/>
              </a:tabLst>
            </a:pPr>
            <a:r>
              <a:rPr lang="en-US" dirty="0">
                <a:latin typeface="Arial Narrow" panose="020B0606020202030204" pitchFamily="34" charset="0"/>
              </a:rPr>
              <a:t>Communication network Measurement Tools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DB0DB-7389-EB19-8653-FA161745E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391" y="3443069"/>
            <a:ext cx="9144000" cy="81240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Lecture TWO</a:t>
            </a:r>
            <a:endParaRPr lang="en-VG" sz="3600" b="1" dirty="0">
              <a:solidFill>
                <a:srgbClr val="FF000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01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E0A1F1-739A-4B12-3DA1-06ED982D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0431B0-1628-5E28-BCD6-340F0EF6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2</a:t>
            </a:fld>
            <a:endParaRPr lang="en-V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4A06A-4A16-D183-8AE7-30AFE4277670}"/>
              </a:ext>
            </a:extLst>
          </p:cNvPr>
          <p:cNvSpPr txBox="1"/>
          <p:nvPr/>
        </p:nvSpPr>
        <p:spPr>
          <a:xfrm>
            <a:off x="738414" y="3678694"/>
            <a:ext cx="107151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 Narrow" panose="020B0606020202030204" pitchFamily="34" charset="0"/>
              </a:rPr>
              <a:t>Communication networks are constantly growing in both size and complexity.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 Narrow" panose="020B0606020202030204" pitchFamily="34" charset="0"/>
              </a:rPr>
              <a:t>The traffic demands are increasing while new network applications emerge on daily basis.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 Narrow" panose="020B0606020202030204" pitchFamily="34" charset="0"/>
              </a:rPr>
              <a:t>Network measurements are the only way to gain understanding on how the networks are working and whether network resources are running low.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Arial Narrow" panose="020B0606020202030204" pitchFamily="34" charset="0"/>
              </a:rPr>
              <a:t>This lecture surveys the field of network measurement.</a:t>
            </a:r>
            <a:endParaRPr lang="en-VG" sz="2800" dirty="0">
              <a:latin typeface="Arial Narrow" panose="020B0606020202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D92432-8BD3-FA35-3095-EF641FC81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801" y="283141"/>
            <a:ext cx="6337113" cy="324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1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F7F5-5F8F-DF6C-4E44-1C3C89C4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CA26-11D2-41F3-BB9E-DA0137015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Arial Narrow" panose="020B0606020202030204" pitchFamily="34" charset="0"/>
              </a:rPr>
              <a:t>Network measurements are becoming crucial for the operation and security of the Internet, and of several services including application-level multicast trees, content distribution and peer-to-peer (P2P) systems.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Numerous tools for estimating network performance have been proposed (e.g., bandwidth measurement: latency: traceroute, ping, link quality etc.).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Most of these tools push the measurement function to the end-hosts, thus conforming to the well-known end-to-end principle  that suggests the move of functions closer to the applications and to the end-hosts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br>
              <a:rPr lang="en-US" dirty="0">
                <a:latin typeface="Arial Narrow" panose="020B0606020202030204" pitchFamily="34" charset="0"/>
              </a:rPr>
            </a:b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00191-9769-6CBD-53AB-76C59E4D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D0A40-7D99-B6AE-5749-764F3C9A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3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408376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760D0-27FC-1F0C-40F8-368E4381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D033D-7CF9-1441-F195-E0ED4E3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4</a:t>
            </a:fld>
            <a:endParaRPr lang="en-V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A828F0-1DFB-C601-2BB7-5D87807F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9" y="492369"/>
            <a:ext cx="10515600" cy="5711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Measurement Metrics</a:t>
            </a:r>
          </a:p>
          <a:p>
            <a:r>
              <a:rPr lang="en-US" dirty="0">
                <a:latin typeface="Arial Narrow" panose="020B0606020202030204" pitchFamily="34" charset="0"/>
              </a:rPr>
              <a:t>To determine the performance of the network, multiple different measurement metrics are to be measured. </a:t>
            </a:r>
          </a:p>
          <a:p>
            <a:r>
              <a:rPr lang="en-US" dirty="0">
                <a:latin typeface="Arial Narrow" panose="020B0606020202030204" pitchFamily="34" charset="0"/>
              </a:rPr>
              <a:t>The most typical metrics are:</a:t>
            </a:r>
          </a:p>
          <a:p>
            <a:pPr lvl="3"/>
            <a:r>
              <a:rPr lang="en-US" sz="2800" dirty="0">
                <a:latin typeface="Arial Narrow" panose="020B0606020202030204" pitchFamily="34" charset="0"/>
              </a:rPr>
              <a:t>Connectivity, </a:t>
            </a:r>
          </a:p>
          <a:p>
            <a:pPr lvl="3"/>
            <a:r>
              <a:rPr lang="en-US" sz="2800" dirty="0">
                <a:latin typeface="Arial Narrow" panose="020B0606020202030204" pitchFamily="34" charset="0"/>
              </a:rPr>
              <a:t>Latency, </a:t>
            </a:r>
          </a:p>
          <a:p>
            <a:pPr lvl="3"/>
            <a:r>
              <a:rPr lang="en-US" sz="2800" dirty="0">
                <a:latin typeface="Arial Narrow" panose="020B0606020202030204" pitchFamily="34" charset="0"/>
              </a:rPr>
              <a:t>Packet Loss Rate, </a:t>
            </a:r>
          </a:p>
          <a:p>
            <a:pPr lvl="3"/>
            <a:r>
              <a:rPr lang="en-US" sz="2800" dirty="0">
                <a:latin typeface="Arial Narrow" panose="020B0606020202030204" pitchFamily="34" charset="0"/>
              </a:rPr>
              <a:t>Bandwidth, and </a:t>
            </a:r>
          </a:p>
          <a:p>
            <a:pPr lvl="3"/>
            <a:r>
              <a:rPr lang="en-US" sz="2800" dirty="0">
                <a:latin typeface="Arial Narrow" panose="020B0606020202030204" pitchFamily="34" charset="0"/>
              </a:rPr>
              <a:t>Throughput. </a:t>
            </a:r>
          </a:p>
          <a:p>
            <a:r>
              <a:rPr lang="en-US" dirty="0">
                <a:latin typeface="Arial Narrow" panose="020B0606020202030204" pitchFamily="34" charset="0"/>
              </a:rPr>
              <a:t>In addition, traffic behavior analyses can be made. 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Connectivity</a:t>
            </a:r>
            <a:r>
              <a:rPr lang="en-US" dirty="0">
                <a:latin typeface="Arial Narrow" panose="020B0606020202030204" pitchFamily="34" charset="0"/>
              </a:rPr>
              <a:t>, also known as reachability, is the most basic measurement metric. </a:t>
            </a:r>
          </a:p>
        </p:txBody>
      </p:sp>
    </p:spTree>
    <p:extLst>
      <p:ext uri="{BB962C8B-B14F-4D97-AF65-F5344CB8AC3E}">
        <p14:creationId xmlns:p14="http://schemas.microsoft.com/office/powerpoint/2010/main" val="232889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C59B9-A4C6-D01F-D512-CCC3293B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077CD-A218-EE41-B59B-BDDB9011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5</a:t>
            </a:fld>
            <a:endParaRPr lang="en-V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9386D-B787-DC88-BD6F-05A5A6918E0B}"/>
              </a:ext>
            </a:extLst>
          </p:cNvPr>
          <p:cNvSpPr txBox="1"/>
          <p:nvPr/>
        </p:nvSpPr>
        <p:spPr>
          <a:xfrm>
            <a:off x="1033975" y="524750"/>
            <a:ext cx="101240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 Narrow" panose="020B0606020202030204" pitchFamily="34" charset="0"/>
              </a:rPr>
              <a:t>What is Latency?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Latency is the amount of time it takes for a computer or application to respond to your request. The less time it takes the better.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This is a test where </a:t>
            </a:r>
            <a:r>
              <a:rPr lang="en-US" sz="2800" b="1" dirty="0">
                <a:latin typeface="Arial Narrow" panose="020B0606020202030204" pitchFamily="34" charset="0"/>
              </a:rPr>
              <a:t>you want to score low</a:t>
            </a:r>
            <a:r>
              <a:rPr lang="en-US" sz="2800" dirty="0">
                <a:latin typeface="Arial Narrow" panose="020B0606020202030204" pitchFamily="34" charset="0"/>
              </a:rPr>
              <a:t> and there's a theoretical limit to how low you can go.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Absolute zero is impossible on this test.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1C51C1-6ED3-EC5C-8DF6-A3D2C148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341" y="4056331"/>
            <a:ext cx="9509361" cy="20383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6E1D0E-6E5B-665B-CBF9-09D78428DE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334" b="72885"/>
          <a:stretch/>
        </p:blipFill>
        <p:spPr>
          <a:xfrm>
            <a:off x="1311672" y="3142145"/>
            <a:ext cx="9509361" cy="89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3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989F-799C-C2EB-6D5C-47D2549EF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776"/>
            <a:ext cx="10515600" cy="5600188"/>
          </a:xfrm>
        </p:spPr>
        <p:txBody>
          <a:bodyPr>
            <a:noAutofit/>
          </a:bodyPr>
          <a:lstStyle/>
          <a:p>
            <a:r>
              <a:rPr lang="en-US" b="1" i="1" dirty="0">
                <a:latin typeface="Arial Narrow" panose="020B0606020202030204" pitchFamily="34" charset="0"/>
              </a:rPr>
              <a:t>Latency</a:t>
            </a:r>
            <a:r>
              <a:rPr lang="en-US" dirty="0">
                <a:latin typeface="Arial Narrow" panose="020B0606020202030204" pitchFamily="34" charset="0"/>
              </a:rPr>
              <a:t>, referred as network delay, is the time it takes for a packet to arrive from the source host to the destination host.</a:t>
            </a:r>
          </a:p>
          <a:p>
            <a:r>
              <a:rPr lang="en-US" dirty="0">
                <a:latin typeface="Arial Narrow" panose="020B0606020202030204" pitchFamily="34" charset="0"/>
              </a:rPr>
              <a:t>The total end-to-end network delay is actually a product of several different types of delays: </a:t>
            </a:r>
          </a:p>
          <a:p>
            <a:pPr lvl="2"/>
            <a:r>
              <a:rPr lang="en-US" sz="2800" dirty="0">
                <a:latin typeface="Arial Narrow" panose="020B0606020202030204" pitchFamily="34" charset="0"/>
              </a:rPr>
              <a:t>Processing Delay, </a:t>
            </a:r>
          </a:p>
          <a:p>
            <a:pPr lvl="2"/>
            <a:r>
              <a:rPr lang="en-US" sz="2800" dirty="0">
                <a:latin typeface="Arial Narrow" panose="020B0606020202030204" pitchFamily="34" charset="0"/>
              </a:rPr>
              <a:t>Transmission Delay, </a:t>
            </a:r>
          </a:p>
          <a:p>
            <a:pPr lvl="2"/>
            <a:r>
              <a:rPr lang="en-US" sz="2800" dirty="0">
                <a:latin typeface="Arial Narrow" panose="020B0606020202030204" pitchFamily="34" charset="0"/>
              </a:rPr>
              <a:t>Propagation Delay And </a:t>
            </a:r>
          </a:p>
          <a:p>
            <a:pPr lvl="2"/>
            <a:r>
              <a:rPr lang="en-US" sz="2800" dirty="0">
                <a:latin typeface="Arial Narrow" panose="020B0606020202030204" pitchFamily="34" charset="0"/>
              </a:rPr>
              <a:t>Queuing Delay. </a:t>
            </a:r>
          </a:p>
          <a:p>
            <a:r>
              <a:rPr lang="en-US" b="1" i="1" dirty="0">
                <a:latin typeface="Arial Narrow" panose="020B0606020202030204" pitchFamily="34" charset="0"/>
              </a:rPr>
              <a:t>Processing delay </a:t>
            </a:r>
            <a:r>
              <a:rPr lang="en-US" dirty="0">
                <a:latin typeface="Arial Narrow" panose="020B0606020202030204" pitchFamily="34" charset="0"/>
              </a:rPr>
              <a:t>is the total time it takes for all the routers in the network path to process the packet. </a:t>
            </a:r>
          </a:p>
          <a:p>
            <a:r>
              <a:rPr lang="en-US" dirty="0">
                <a:latin typeface="Arial Narrow" panose="020B0606020202030204" pitchFamily="34" charset="0"/>
              </a:rPr>
              <a:t>In IP network, the processing includes decrementing packet’s Time to Live variable by one, check that the IP header checksum matches the header and to decide where the packet is forwarded. 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30EA5-89C5-BA0D-7155-4D2078F4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61D7-467A-1B4C-FE29-000E9F5E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6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06677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989F-799C-C2EB-6D5C-47D2549EF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6437"/>
            <a:ext cx="10515600" cy="5670526"/>
          </a:xfrm>
        </p:spPr>
        <p:txBody>
          <a:bodyPr>
            <a:noAutofit/>
          </a:bodyPr>
          <a:lstStyle/>
          <a:p>
            <a:r>
              <a:rPr lang="en-US" b="1" i="1" dirty="0">
                <a:latin typeface="Arial Narrow" panose="020B0606020202030204" pitchFamily="34" charset="0"/>
              </a:rPr>
              <a:t>Transmission delay </a:t>
            </a:r>
            <a:r>
              <a:rPr lang="en-US" dirty="0">
                <a:latin typeface="Arial Narrow" panose="020B0606020202030204" pitchFamily="34" charset="0"/>
              </a:rPr>
              <a:t>is the time it takes to send the packet through the link. </a:t>
            </a:r>
          </a:p>
          <a:p>
            <a:r>
              <a:rPr lang="en-US" dirty="0">
                <a:latin typeface="Arial Narrow" panose="020B0606020202030204" pitchFamily="34" charset="0"/>
              </a:rPr>
              <a:t>The time is affected by the bit rate of the link. </a:t>
            </a:r>
          </a:p>
          <a:p>
            <a:r>
              <a:rPr lang="en-US" b="1" i="1" dirty="0">
                <a:latin typeface="Arial Narrow" panose="020B0606020202030204" pitchFamily="34" charset="0"/>
              </a:rPr>
              <a:t>Propagation delay </a:t>
            </a:r>
            <a:r>
              <a:rPr lang="en-US" dirty="0">
                <a:latin typeface="Arial Narrow" panose="020B0606020202030204" pitchFamily="34" charset="0"/>
              </a:rPr>
              <a:t>is the time it takes for the physical signal to travel over the transmission medium.</a:t>
            </a:r>
          </a:p>
          <a:p>
            <a:r>
              <a:rPr lang="en-US" b="1" i="1" dirty="0">
                <a:latin typeface="Arial Narrow" panose="020B0606020202030204" pitchFamily="34" charset="0"/>
              </a:rPr>
              <a:t>Queuing delay </a:t>
            </a:r>
            <a:r>
              <a:rPr lang="en-US" dirty="0">
                <a:latin typeface="Arial Narrow" panose="020B0606020202030204" pitchFamily="34" charset="0"/>
              </a:rPr>
              <a:t>is the time the packet spends in buffers of the routers in the network path.</a:t>
            </a:r>
          </a:p>
          <a:p>
            <a:r>
              <a:rPr lang="en-US" dirty="0">
                <a:latin typeface="Arial Narrow" panose="020B0606020202030204" pitchFamily="34" charset="0"/>
              </a:rPr>
              <a:t>Latency can be measured either as one-way or two-way delay. </a:t>
            </a:r>
          </a:p>
          <a:p>
            <a:r>
              <a:rPr lang="en-US" dirty="0">
                <a:latin typeface="Arial Narrow" panose="020B0606020202030204" pitchFamily="34" charset="0"/>
              </a:rPr>
              <a:t>Two-way delay, also known as round-trip time (RTT), is easier to measure as only a single host needs to measure the time between the initial packet and the response.</a:t>
            </a:r>
          </a:p>
          <a:p>
            <a:r>
              <a:rPr lang="en-US" dirty="0">
                <a:latin typeface="Arial Narrow" panose="020B0606020202030204" pitchFamily="34" charset="0"/>
              </a:rPr>
              <a:t>To measure one-way delay, both the source and the destination hosts have to cooperate and be synchronized.</a:t>
            </a:r>
          </a:p>
          <a:p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30EA5-89C5-BA0D-7155-4D2078F4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61D7-467A-1B4C-FE29-000E9F5E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7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83892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1FEE-A876-18D1-4C91-65127BEBD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603"/>
            <a:ext cx="10515600" cy="5220360"/>
          </a:xfrm>
        </p:spPr>
        <p:txBody>
          <a:bodyPr>
            <a:noAutofit/>
          </a:bodyPr>
          <a:lstStyle/>
          <a:p>
            <a:pPr algn="l"/>
            <a:r>
              <a:rPr lang="en-US" b="1" i="1" dirty="0">
                <a:latin typeface="Arial Narrow" panose="020B0606020202030204" pitchFamily="34" charset="0"/>
              </a:rPr>
              <a:t>Packet loss rate </a:t>
            </a:r>
            <a:r>
              <a:rPr lang="en-US" dirty="0">
                <a:latin typeface="Arial Narrow" panose="020B0606020202030204" pitchFamily="34" charset="0"/>
              </a:rPr>
              <a:t>is the rate at which packets are being lost in their transit from the source to the host. 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Packet being lost means that the packet does not arrive to the intended destination. 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To keep the network application usable, there is often some kind of timeout mechanism for lost packets to trigger retransmission. 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If the retransmission timeout is reached before the packet arrives, the packet is regarded as lost even if it eventually would arrive to the destination. 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Packet loss is an important metric, because it may have a dramatic impact on the performance of an application.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F0D0F-D273-264C-17E2-86C8E754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76CA8-5046-C77D-D6BD-8387A275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8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62346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38D5-B0D8-602E-C22A-79A3B835D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5926"/>
            <a:ext cx="10515600" cy="5361037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The packet loss rate is often very different for the same path in opposite directions. </a:t>
            </a:r>
          </a:p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With simple echo-reply measurement tools like </a:t>
            </a:r>
            <a:r>
              <a:rPr lang="en-US" b="1" i="1" u="none" strike="noStrike" baseline="0" dirty="0">
                <a:latin typeface="Arial Narrow" panose="020B0606020202030204" pitchFamily="34" charset="0"/>
              </a:rPr>
              <a:t>Ping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, it is not possible to define whether the original echo packet was lost or the response. </a:t>
            </a:r>
          </a:p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To measure forward loss (source to destination) and reverse loss (destination to source) separately, more advanced tools are needed.</a:t>
            </a:r>
          </a:p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Loss asymmetry is important because many protocols have a different level of fault tolerance for forward and reverse directions. </a:t>
            </a:r>
          </a:p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For example, TCP is far more tolerant for losing an acknowledgment packet than a data packet.</a:t>
            </a:r>
            <a:endParaRPr lang="en-VG" sz="4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86829-2D1F-158D-E798-121F6AFC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08067-A2D2-C839-9D4F-D732CC38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9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49021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52D8-1524-A498-C130-1F1CFAE0B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031"/>
            <a:ext cx="10515600" cy="5754932"/>
          </a:xfrm>
        </p:spPr>
        <p:txBody>
          <a:bodyPr>
            <a:noAutofit/>
          </a:bodyPr>
          <a:lstStyle/>
          <a:p>
            <a:pPr algn="l"/>
            <a:r>
              <a:rPr lang="en-US" b="1" i="1" u="none" strike="noStrike" baseline="0" dirty="0">
                <a:latin typeface="Arial Narrow" panose="020B0606020202030204" pitchFamily="34" charset="0"/>
              </a:rPr>
              <a:t>Bandwidth 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is a two-fold term: the term is used to describe either the </a:t>
            </a:r>
            <a:r>
              <a:rPr lang="en-US" b="0" i="1" u="none" strike="noStrike" baseline="0" dirty="0">
                <a:latin typeface="Arial Narrow" panose="020B0606020202030204" pitchFamily="34" charset="0"/>
              </a:rPr>
              <a:t>physical link capacity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 in terms of signaling or the </a:t>
            </a:r>
            <a:r>
              <a:rPr lang="en-US" b="0" i="1" u="none" strike="noStrike" baseline="0" dirty="0">
                <a:latin typeface="Arial Narrow" panose="020B0606020202030204" pitchFamily="34" charset="0"/>
              </a:rPr>
              <a:t>maximum actual data rate 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of a specific network link or a path can transfer. </a:t>
            </a:r>
          </a:p>
          <a:p>
            <a:pPr algn="l"/>
            <a:r>
              <a:rPr lang="en-US" b="0" i="0" u="none" strike="noStrike" baseline="0" dirty="0">
                <a:latin typeface="Arial Narrow" panose="020B0606020202030204" pitchFamily="34" charset="0"/>
              </a:rPr>
              <a:t>To the data rate in a link or a path, there are three measurable metrics associated: </a:t>
            </a:r>
          </a:p>
          <a:p>
            <a:pPr lvl="3"/>
            <a:r>
              <a:rPr lang="en-US" sz="2600" dirty="0">
                <a:latin typeface="Arial Narrow" panose="020B0606020202030204" pitchFamily="34" charset="0"/>
              </a:rPr>
              <a:t>T</a:t>
            </a:r>
            <a:r>
              <a:rPr lang="en-US" sz="2600" b="0" i="0" u="none" strike="noStrike" baseline="0" dirty="0">
                <a:latin typeface="Arial Narrow" panose="020B0606020202030204" pitchFamily="34" charset="0"/>
              </a:rPr>
              <a:t>otal capacity, </a:t>
            </a:r>
          </a:p>
          <a:p>
            <a:pPr lvl="3"/>
            <a:r>
              <a:rPr lang="en-US" sz="2600" dirty="0">
                <a:latin typeface="Arial Narrow" panose="020B0606020202030204" pitchFamily="34" charset="0"/>
              </a:rPr>
              <a:t>A</a:t>
            </a:r>
            <a:r>
              <a:rPr lang="en-US" sz="2600" b="0" i="0" u="none" strike="noStrike" baseline="0" dirty="0">
                <a:latin typeface="Arial Narrow" panose="020B0606020202030204" pitchFamily="34" charset="0"/>
              </a:rPr>
              <a:t>vailable bandwidth, and </a:t>
            </a:r>
          </a:p>
          <a:p>
            <a:pPr lvl="3"/>
            <a:r>
              <a:rPr lang="en-US" sz="2600" dirty="0">
                <a:latin typeface="Arial Narrow" panose="020B0606020202030204" pitchFamily="34" charset="0"/>
              </a:rPr>
              <a:t>B</a:t>
            </a:r>
            <a:r>
              <a:rPr lang="en-US" sz="2600" b="0" i="0" u="none" strike="noStrike" baseline="0" dirty="0">
                <a:latin typeface="Arial Narrow" panose="020B0606020202030204" pitchFamily="34" charset="0"/>
              </a:rPr>
              <a:t>ulk transfer capacity (BTC). </a:t>
            </a:r>
          </a:p>
          <a:p>
            <a:pPr algn="l"/>
            <a:r>
              <a:rPr lang="en-US" b="1" i="1" u="none" strike="noStrike" baseline="0" dirty="0">
                <a:latin typeface="Arial Narrow" panose="020B0606020202030204" pitchFamily="34" charset="0"/>
              </a:rPr>
              <a:t>Total capacity 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refers to the maximum possible bandwidth the link or a path can transfer.</a:t>
            </a:r>
          </a:p>
          <a:p>
            <a:pPr algn="l"/>
            <a:r>
              <a:rPr lang="en-US" b="1" i="1" u="none" strike="noStrike" baseline="0" dirty="0">
                <a:latin typeface="Arial Narrow" panose="020B0606020202030204" pitchFamily="34" charset="0"/>
              </a:rPr>
              <a:t>Available bandwidth 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refers to maximum unused bandwidth of a link or path during a certain time period. </a:t>
            </a:r>
          </a:p>
          <a:p>
            <a:pPr algn="l"/>
            <a:r>
              <a:rPr lang="en-US" b="1" i="1" u="none" strike="noStrike" baseline="0" dirty="0">
                <a:latin typeface="Arial Narrow" panose="020B0606020202030204" pitchFamily="34" charset="0"/>
              </a:rPr>
              <a:t>Bulk transfer capacity </a:t>
            </a:r>
            <a:r>
              <a:rPr lang="en-US" b="0" i="0" u="none" strike="noStrike" baseline="0" dirty="0">
                <a:latin typeface="Arial Narrow" panose="020B0606020202030204" pitchFamily="34" charset="0"/>
              </a:rPr>
              <a:t>refers to achievable throughput of an established TCP connection.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61D97-8F14-7F43-54D2-ECEBE09C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055A7-F748-F736-D8E1-57324CEE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10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03843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8453-7BD8-2DA4-C16E-ABC559AF2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Arial Narrow" panose="020B0606020202030204" pitchFamily="34" charset="0"/>
              </a:rPr>
              <a:t>Throughput</a:t>
            </a:r>
            <a:r>
              <a:rPr lang="en-US" dirty="0">
                <a:latin typeface="Arial Narrow" panose="020B0606020202030204" pitchFamily="34" charset="0"/>
              </a:rPr>
              <a:t> is a measure for amount of data actually being transferred across a link or network at a certain time.</a:t>
            </a:r>
          </a:p>
          <a:p>
            <a:r>
              <a:rPr lang="en-US" b="1" i="1" dirty="0">
                <a:latin typeface="Arial Narrow" panose="020B0606020202030204" pitchFamily="34" charset="0"/>
              </a:rPr>
              <a:t>Traffic</a:t>
            </a:r>
            <a:r>
              <a:rPr lang="en-US" dirty="0">
                <a:latin typeface="Arial Narrow" panose="020B0606020202030204" pitchFamily="34" charset="0"/>
              </a:rPr>
              <a:t> is not exactly a metric, but something that can be collected from the network and analyzed. </a:t>
            </a:r>
          </a:p>
          <a:p>
            <a:r>
              <a:rPr lang="en-US" dirty="0">
                <a:latin typeface="Arial Narrow" panose="020B0606020202030204" pitchFamily="34" charset="0"/>
              </a:rPr>
              <a:t>Traffic analysis is used to determine the composition of the current traffic in the network. </a:t>
            </a:r>
          </a:p>
          <a:p>
            <a:r>
              <a:rPr lang="en-US" dirty="0">
                <a:latin typeface="Arial Narrow" panose="020B0606020202030204" pitchFamily="34" charset="0"/>
              </a:rPr>
              <a:t>Information is useful for capacity planning, traffic accounting and network security. </a:t>
            </a:r>
          </a:p>
          <a:p>
            <a:r>
              <a:rPr lang="en-US" dirty="0">
                <a:latin typeface="Arial Narrow" panose="020B0606020202030204" pitchFamily="34" charset="0"/>
              </a:rPr>
              <a:t>In addition to traffic behavioral analyses, several other measurement metrics can be determined by the analysis: for example packet loss, available bandwidth and throughput.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1D73A-6605-DEA2-B480-6F2CA08E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5D4EB-91D0-06A7-F04F-B214035F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11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0199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6754-0ADA-29EB-9D03-82C7F536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51" y="136525"/>
            <a:ext cx="10515600" cy="957238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Passive Network Measurements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AA56C-9E09-8089-F4B7-AE9ABA6E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762"/>
            <a:ext cx="10515600" cy="5262587"/>
          </a:xfrm>
        </p:spPr>
        <p:txBody>
          <a:bodyPr>
            <a:noAutofit/>
          </a:bodyPr>
          <a:lstStyle/>
          <a:p>
            <a:r>
              <a:rPr lang="en-US" b="1" i="1" dirty="0">
                <a:effectLst/>
                <a:latin typeface="Arial Narrow" panose="020B0606020202030204" pitchFamily="34" charset="0"/>
              </a:rPr>
              <a:t>Passive network measurement tools </a:t>
            </a:r>
            <a:r>
              <a:rPr lang="en-US" dirty="0">
                <a:effectLst/>
                <a:latin typeface="Arial Narrow" panose="020B0606020202030204" pitchFamily="34" charset="0"/>
              </a:rPr>
              <a:t>rely on monitoring existing traffic between end-hosts to extract their estimates.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These tools are scalable since they do not generate extra traffic for measurement purposes.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Most current tools use packet capture libraries to monitor traffic and to extract various metrics of interest.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Several tools for passive measurements exist, such as Nettimer (for bandwidth estimation), Viznet (for throughput tests), Sting  (for latency tests), etc..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However, passive measurement tools are finding less applicability nowadays due to the fact that existing traffic is not suitable for them to produce an indicative estimate.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br>
              <a:rPr lang="en-US" dirty="0">
                <a:latin typeface="Arial Narrow" panose="020B0606020202030204" pitchFamily="34" charset="0"/>
              </a:rPr>
            </a:b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4DFB6-D7FB-504D-0606-41DB320F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48508-46D6-52EA-E96A-CCF3FC29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12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669408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15DA1B-7B71-4D8D-8B3F-BFD21E686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001" y="1"/>
            <a:ext cx="5398706" cy="166555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4B6EB-09FB-869A-C7B2-156F1A2A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7878-5C22-6C33-DE2E-86FF0866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13</a:t>
            </a:fld>
            <a:endParaRPr lang="en-VG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B6D454-5C4F-6084-95D7-C9BC3A144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686" y="1665560"/>
            <a:ext cx="5788157" cy="24281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4A907C-5B4C-F365-A963-FCD747A77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2547"/>
            <a:ext cx="6096000" cy="311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2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CC51-B9A4-01DE-1A1C-1F56EB2F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129846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Active Network Measurements</a:t>
            </a:r>
            <a:endParaRPr lang="en-VG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85F1-79EA-B973-EEF8-D261ECCC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Arial Narrow" panose="020B0606020202030204" pitchFamily="34" charset="0"/>
              </a:rPr>
              <a:t>A large number of tools actively generate probe traffic to extract their estimates about the network state.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Most of these tools are single-ended and do not require cooperation from the measured host.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Examples include Pathchar, and Sprobe measuring the bottleneck bandwidth, Cprobe and Spruce measuring the available bandwidth. </a:t>
            </a:r>
          </a:p>
          <a:p>
            <a:r>
              <a:rPr lang="en-US" dirty="0">
                <a:effectLst/>
                <a:latin typeface="Arial Narrow" panose="020B0606020202030204" pitchFamily="34" charset="0"/>
              </a:rPr>
              <a:t>Several other tools aim at measuring the roundtrip times (RTT), latency, delay and the throughput of an end-to-end path, such as traceroute, </a:t>
            </a:r>
            <a:r>
              <a:rPr lang="en-US" dirty="0" err="1">
                <a:effectLst/>
                <a:latin typeface="Arial Narrow" panose="020B0606020202030204" pitchFamily="34" charset="0"/>
              </a:rPr>
              <a:t>mtr</a:t>
            </a:r>
            <a:r>
              <a:rPr lang="en-US" dirty="0">
                <a:effectLst/>
                <a:latin typeface="Arial Narrow" panose="020B0606020202030204" pitchFamily="34" charset="0"/>
              </a:rPr>
              <a:t>, ping. </a:t>
            </a:r>
            <a:endParaRPr lang="en-VG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0AFAC-055C-C1EC-BF39-96D6B8F9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6C9B8-582F-847A-E10D-A1116E52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14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81839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64218-6E22-551F-18B8-9A9F3E70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Measurements and Instrumentations (B. Eng 22)</a:t>
            </a:r>
            <a:endParaRPr lang="en-V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96451-BC5F-7E93-538F-522199D2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E56B7-C8D1-4169-B510-98F55686222F}" type="slidenum">
              <a:rPr lang="en-VG" smtClean="0"/>
              <a:t>15</a:t>
            </a:fld>
            <a:endParaRPr lang="en-V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916F0-44CD-6FFD-D155-D35BE4A880C2}"/>
              </a:ext>
            </a:extLst>
          </p:cNvPr>
          <p:cNvSpPr txBox="1"/>
          <p:nvPr/>
        </p:nvSpPr>
        <p:spPr>
          <a:xfrm>
            <a:off x="695793" y="1597749"/>
            <a:ext cx="9550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 Narrow" panose="020B0606020202030204" pitchFamily="34" charset="0"/>
              </a:rPr>
              <a:t>Network Administrators need to know what's happening with their devices all the time be it to view the available resources that the administrator have or to view the bandwidth usage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 Narrow" panose="020B0606020202030204" pitchFamily="34" charset="0"/>
              </a:rPr>
              <a:t>Available tools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 Narrow" panose="020B0606020202030204" pitchFamily="34" charset="0"/>
              </a:rPr>
              <a:t>Paessler PRTG Network 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SolarWinds Network Performance 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Network Lookout Net Monitor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G" sz="2800" dirty="0">
              <a:latin typeface="Arial Narrow" panose="020B060602020203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F86B619-A3D9-2378-7FC9-8B10027AF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548" y="4165600"/>
            <a:ext cx="2928418" cy="182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7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22665</TotalTime>
  <Words>1321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Narrow</vt:lpstr>
      <vt:lpstr>Calibri</vt:lpstr>
      <vt:lpstr>Calibri Light</vt:lpstr>
      <vt:lpstr>Office Theme</vt:lpstr>
      <vt:lpstr>Communication network Measurement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Passive Network Measurements</vt:lpstr>
      <vt:lpstr>PowerPoint Presentation</vt:lpstr>
      <vt:lpstr>Active Network Measurements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Operation of Measuring Instruments</dc:title>
  <dc:creator>Kenedy Greyson</dc:creator>
  <cp:lastModifiedBy>HP</cp:lastModifiedBy>
  <cp:revision>74</cp:revision>
  <dcterms:created xsi:type="dcterms:W3CDTF">2022-10-15T09:13:47Z</dcterms:created>
  <dcterms:modified xsi:type="dcterms:W3CDTF">2025-01-13T08:27:28Z</dcterms:modified>
</cp:coreProperties>
</file>