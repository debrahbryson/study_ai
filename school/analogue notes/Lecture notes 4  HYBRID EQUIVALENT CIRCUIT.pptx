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2" autoAdjust="0"/>
    <p:restoredTop sz="94660"/>
  </p:normalViewPr>
  <p:slideViewPr>
    <p:cSldViewPr snapToGrid="0">
      <p:cViewPr varScale="1">
        <p:scale>
          <a:sx n="63" d="100"/>
          <a:sy n="63" d="100"/>
        </p:scale>
        <p:origin x="1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6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5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2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2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0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9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0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6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50CC6-6939-465B-9C34-C5107AE6260E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9C76B-27F9-4DDD-B1E3-472FBFBC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3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100" b="1" dirty="0">
                <a:solidFill>
                  <a:srgbClr val="00A9EC"/>
                </a:solidFill>
                <a:latin typeface="Berkeley-Black"/>
              </a:rPr>
              <a:t>APPROXIMATE HYBRID EQUIVALENT</a:t>
            </a:r>
            <a:br>
              <a:rPr lang="en-US" sz="3100" b="1" dirty="0">
                <a:solidFill>
                  <a:srgbClr val="00A9EC"/>
                </a:solidFill>
                <a:latin typeface="Berkeley-Black"/>
              </a:rPr>
            </a:br>
            <a:r>
              <a:rPr lang="en-US" sz="3100" b="1" dirty="0">
                <a:solidFill>
                  <a:srgbClr val="00A9EC"/>
                </a:solidFill>
                <a:latin typeface="Berkeley-Black"/>
              </a:rPr>
              <a:t>CIRCUIT</a:t>
            </a:r>
            <a:r>
              <a:rPr lang="en-US" sz="3100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26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11917680" cy="653796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Fixed-Bias Configuration</a:t>
            </a:r>
          </a:p>
          <a:p>
            <a:pPr marL="0" indent="0">
              <a:buNone/>
            </a:pPr>
            <a:r>
              <a:rPr lang="en-US" dirty="0" smtClean="0"/>
              <a:t>For the fixed-bias configuration, the small-signal ac equivalent network appears as shown below using the approximate common-emitter hybrid equivalent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             =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Zi</a:t>
            </a:r>
            <a:r>
              <a:rPr lang="en-US" dirty="0" smtClean="0"/>
              <a:t>:                                                                Zo;</a:t>
            </a:r>
          </a:p>
          <a:p>
            <a:pPr marL="0" indent="0">
              <a:buNone/>
            </a:pP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" y="1947862"/>
            <a:ext cx="4592970" cy="36604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708" y="2727961"/>
            <a:ext cx="6524776" cy="23621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15437"/>
            <a:ext cx="2677478" cy="8425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840" y="5840177"/>
            <a:ext cx="3288351" cy="10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77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1" y="0"/>
            <a:ext cx="12182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25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8120"/>
            <a:ext cx="11917680" cy="6477000"/>
          </a:xfrm>
        </p:spPr>
        <p:txBody>
          <a:bodyPr/>
          <a:lstStyle/>
          <a:p>
            <a:r>
              <a:rPr lang="en-US" dirty="0" smtClean="0"/>
              <a:t>For the network below determine;</a:t>
            </a:r>
          </a:p>
          <a:p>
            <a:pPr marL="0" indent="0">
              <a:buNone/>
            </a:pPr>
            <a:r>
              <a:rPr lang="it-IT" dirty="0" smtClean="0"/>
              <a:t>(a) Zi.</a:t>
            </a:r>
          </a:p>
          <a:p>
            <a:pPr marL="0" indent="0">
              <a:buNone/>
            </a:pPr>
            <a:r>
              <a:rPr lang="it-IT" dirty="0" smtClean="0"/>
              <a:t>(b) Zo.</a:t>
            </a:r>
          </a:p>
          <a:p>
            <a:pPr marL="0" indent="0">
              <a:buNone/>
            </a:pPr>
            <a:r>
              <a:rPr lang="it-IT" dirty="0" smtClean="0"/>
              <a:t>(c) Av.</a:t>
            </a:r>
          </a:p>
          <a:p>
            <a:pPr marL="0" indent="0">
              <a:buNone/>
            </a:pPr>
            <a:r>
              <a:rPr lang="it-IT" dirty="0" smtClean="0"/>
              <a:t>(d) Ai</a:t>
            </a:r>
          </a:p>
          <a:p>
            <a:pPr marL="0" indent="0">
              <a:buNone/>
            </a:pPr>
            <a:r>
              <a:rPr lang="it-IT" dirty="0" smtClean="0"/>
              <a:t>.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6520"/>
            <a:ext cx="5185498" cy="3642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899" y="1691640"/>
            <a:ext cx="6520491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5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167640"/>
            <a:ext cx="11902440" cy="6583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Voltage-Divider Configuration</a:t>
            </a:r>
          </a:p>
          <a:p>
            <a:pPr marL="0" indent="0">
              <a:buNone/>
            </a:pPr>
            <a:r>
              <a:rPr lang="en-US" dirty="0" smtClean="0"/>
              <a:t>For the voltage-divider bias configuration, the resulting small-signal ac equivalent network is as appears below, with RB replaced by R’=R1//R2.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=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1971675"/>
            <a:ext cx="4922757" cy="42157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68" y="2898457"/>
            <a:ext cx="6524776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7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69" y="154543"/>
            <a:ext cx="11902440" cy="669036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Zi</a:t>
            </a:r>
            <a:r>
              <a:rPr lang="en-US" dirty="0" smtClean="0"/>
              <a:t>: From the above figure with RB = R’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Zo: From the above figure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0" y="167640"/>
            <a:ext cx="3067431" cy="923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0" y="1461492"/>
            <a:ext cx="2924176" cy="1023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749" y="2674833"/>
            <a:ext cx="7429302" cy="393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34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" y="106680"/>
            <a:ext cx="11932920" cy="661416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Unbypassed</a:t>
            </a:r>
            <a:r>
              <a:rPr lang="en-US" b="1" dirty="0" smtClean="0"/>
              <a:t> Emitter-Bias Configuration</a:t>
            </a:r>
          </a:p>
          <a:p>
            <a:pPr marL="0" indent="0">
              <a:buNone/>
            </a:pPr>
            <a:r>
              <a:rPr lang="en-US" dirty="0" smtClean="0"/>
              <a:t>For the CE </a:t>
            </a:r>
            <a:r>
              <a:rPr lang="en-US" dirty="0" err="1" smtClean="0"/>
              <a:t>unbypassed</a:t>
            </a:r>
            <a:r>
              <a:rPr lang="en-US" dirty="0" smtClean="0"/>
              <a:t> emitter-bias configuration shown below, the small-signal ac model will be the same as Figure below, with </a:t>
            </a:r>
            <a:r>
              <a:rPr lang="el-GR" dirty="0" smtClean="0"/>
              <a:t>β</a:t>
            </a:r>
            <a:r>
              <a:rPr lang="en-US" dirty="0" smtClean="0"/>
              <a:t>re replaced by </a:t>
            </a:r>
            <a:r>
              <a:rPr lang="en-US" dirty="0" err="1" smtClean="0"/>
              <a:t>hie</a:t>
            </a:r>
            <a:r>
              <a:rPr lang="en-US" dirty="0" smtClean="0"/>
              <a:t> and </a:t>
            </a:r>
            <a:r>
              <a:rPr lang="el-GR" dirty="0" smtClean="0"/>
              <a:t>β</a:t>
            </a:r>
            <a:r>
              <a:rPr lang="en-US" dirty="0" err="1" smtClean="0"/>
              <a:t>Ib</a:t>
            </a:r>
            <a:r>
              <a:rPr lang="en-US" dirty="0" smtClean="0"/>
              <a:t> by </a:t>
            </a:r>
            <a:r>
              <a:rPr lang="en-US" dirty="0" err="1" smtClean="0"/>
              <a:t>hfeIb</a:t>
            </a:r>
            <a:r>
              <a:rPr lang="en-US" dirty="0" smtClean="0"/>
              <a:t>. The analysis will proceed in the same manner.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                 =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" y="2331720"/>
            <a:ext cx="4457700" cy="4457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760" y="2918808"/>
            <a:ext cx="6096000" cy="36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3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9840" y="259081"/>
            <a:ext cx="6202680" cy="64520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360" y="5750898"/>
            <a:ext cx="2270760" cy="104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3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213360"/>
            <a:ext cx="11902440" cy="6477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Common-Base Configuration</a:t>
            </a:r>
          </a:p>
          <a:p>
            <a:pPr marL="0" indent="0">
              <a:buNone/>
            </a:pPr>
            <a:r>
              <a:rPr lang="en-US" dirty="0" smtClean="0"/>
              <a:t>The last configuration to be examined with the approximate hybrid equivalent circuit is the common-base amplifier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  =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2218372"/>
            <a:ext cx="5194770" cy="20488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2560320"/>
            <a:ext cx="5876544" cy="17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6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532" y="325596"/>
            <a:ext cx="5782628" cy="30496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3743324"/>
            <a:ext cx="6456149" cy="311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6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228600"/>
            <a:ext cx="11750040" cy="66294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For the network below, determine:</a:t>
            </a:r>
          </a:p>
          <a:p>
            <a:pPr marL="0" indent="0">
              <a:buNone/>
            </a:pPr>
            <a:r>
              <a:rPr lang="en-US" dirty="0" smtClean="0"/>
              <a:t>(a) </a:t>
            </a:r>
            <a:r>
              <a:rPr lang="en-US" dirty="0" err="1" smtClean="0"/>
              <a:t>Zi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(b) Zo.</a:t>
            </a:r>
          </a:p>
          <a:p>
            <a:pPr marL="0" indent="0">
              <a:buNone/>
            </a:pPr>
            <a:r>
              <a:rPr lang="en-US" dirty="0" smtClean="0"/>
              <a:t>(c) Av.</a:t>
            </a:r>
          </a:p>
          <a:p>
            <a:pPr marL="0" indent="0">
              <a:buNone/>
            </a:pPr>
            <a:r>
              <a:rPr lang="en-US" dirty="0" smtClean="0"/>
              <a:t>(d) Ai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813911"/>
            <a:ext cx="6761865" cy="2447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39" y="3261361"/>
            <a:ext cx="5416625" cy="35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87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75132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COMPLETE HYBRID EQUIVALENT MODEL</a:t>
            </a:r>
          </a:p>
          <a:p>
            <a:pPr marL="0" indent="0">
              <a:buNone/>
            </a:pPr>
            <a:r>
              <a:rPr lang="en-US" dirty="0" smtClean="0"/>
              <a:t>Consider the general configuration of Fig. at the top with the two-port parameters of  particular interest and the substituted complete hybrid equivalent model on fig. at the bottom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60" y="1699260"/>
            <a:ext cx="6948570" cy="2354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0" y="4328161"/>
            <a:ext cx="7524550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47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010" y="487680"/>
            <a:ext cx="9458949" cy="551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83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310" y="381000"/>
            <a:ext cx="11815458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58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002" y="518160"/>
            <a:ext cx="10938764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54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2120" y="295782"/>
            <a:ext cx="7650479" cy="648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89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646" y="0"/>
            <a:ext cx="11701354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34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128" y="121920"/>
            <a:ext cx="10155632" cy="659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4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"/>
            <a:ext cx="12039600" cy="658368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Example;</a:t>
            </a:r>
          </a:p>
          <a:p>
            <a:pPr marL="0" indent="0">
              <a:buNone/>
            </a:pPr>
            <a:r>
              <a:rPr lang="en-US" dirty="0" smtClean="0"/>
              <a:t>For the network of figure below, determine the following parameters using the complete hybrid equivalent model and compare to the results obtained using the approximate model.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1457123"/>
            <a:ext cx="7901940" cy="46017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452" y="5875961"/>
            <a:ext cx="5043428" cy="75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2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265</Words>
  <Application>Microsoft Office PowerPoint</Application>
  <PresentationFormat>Widescreen</PresentationFormat>
  <Paragraphs>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Berkeley-Black</vt:lpstr>
      <vt:lpstr>Calibri</vt:lpstr>
      <vt:lpstr>Calibri Light</vt:lpstr>
      <vt:lpstr>Office Theme</vt:lpstr>
      <vt:lpstr>APPROXIMATE HYBRID EQUIVALENT CIRCUIT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NINGULWAS_</dc:creator>
  <cp:lastModifiedBy>NINGULWAS_</cp:lastModifiedBy>
  <cp:revision>27</cp:revision>
  <dcterms:created xsi:type="dcterms:W3CDTF">2020-12-26T07:42:28Z</dcterms:created>
  <dcterms:modified xsi:type="dcterms:W3CDTF">2020-12-26T09:26:58Z</dcterms:modified>
</cp:coreProperties>
</file>