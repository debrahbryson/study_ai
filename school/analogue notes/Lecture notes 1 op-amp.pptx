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7" r:id="rId2"/>
    <p:sldId id="309" r:id="rId3"/>
    <p:sldId id="259" r:id="rId4"/>
    <p:sldId id="261" r:id="rId5"/>
    <p:sldId id="262" r:id="rId6"/>
    <p:sldId id="308" r:id="rId7"/>
    <p:sldId id="263" r:id="rId8"/>
    <p:sldId id="264" r:id="rId9"/>
    <p:sldId id="310" r:id="rId10"/>
    <p:sldId id="265" r:id="rId11"/>
    <p:sldId id="311" r:id="rId12"/>
    <p:sldId id="266" r:id="rId13"/>
    <p:sldId id="276" r:id="rId14"/>
    <p:sldId id="277" r:id="rId15"/>
    <p:sldId id="278" r:id="rId16"/>
    <p:sldId id="312" r:id="rId17"/>
    <p:sldId id="279" r:id="rId18"/>
    <p:sldId id="280" r:id="rId19"/>
    <p:sldId id="282" r:id="rId20"/>
    <p:sldId id="313" r:id="rId21"/>
    <p:sldId id="283" r:id="rId22"/>
    <p:sldId id="284" r:id="rId23"/>
    <p:sldId id="314" r:id="rId24"/>
    <p:sldId id="285" r:id="rId25"/>
    <p:sldId id="286" r:id="rId26"/>
    <p:sldId id="315" r:id="rId27"/>
    <p:sldId id="287" r:id="rId28"/>
    <p:sldId id="288" r:id="rId29"/>
    <p:sldId id="289" r:id="rId30"/>
    <p:sldId id="292" r:id="rId31"/>
    <p:sldId id="293" r:id="rId32"/>
    <p:sldId id="294" r:id="rId33"/>
    <p:sldId id="316" r:id="rId34"/>
    <p:sldId id="295" r:id="rId35"/>
    <p:sldId id="318" r:id="rId36"/>
    <p:sldId id="296" r:id="rId37"/>
    <p:sldId id="297" r:id="rId38"/>
    <p:sldId id="317" r:id="rId39"/>
    <p:sldId id="298" r:id="rId40"/>
    <p:sldId id="299" r:id="rId41"/>
    <p:sldId id="301" r:id="rId42"/>
    <p:sldId id="30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50" autoAdjust="0"/>
    <p:restoredTop sz="94660"/>
  </p:normalViewPr>
  <p:slideViewPr>
    <p:cSldViewPr snapToGrid="0">
      <p:cViewPr varScale="1">
        <p:scale>
          <a:sx n="72" d="100"/>
          <a:sy n="72" d="100"/>
        </p:scale>
        <p:origin x="7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0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5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2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9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0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3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2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79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3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0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8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096" y="1"/>
            <a:ext cx="10619704" cy="99167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Amplifier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096" y="991673"/>
            <a:ext cx="11037194" cy="5653825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b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amplifier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(OP-Amp) is a circuit that perform mathematical operations such as addition, subtraction, integration and differentiation.</a:t>
            </a:r>
          </a:p>
          <a:p>
            <a:pPr marL="0" indent="0"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OP-Amp is a multistage amplifier composed of three stages </a:t>
            </a:r>
          </a:p>
          <a:p>
            <a:pPr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amplifier as input stage </a:t>
            </a:r>
          </a:p>
          <a:p>
            <a:pPr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high-gain CE amplifier and </a:t>
            </a:r>
          </a:p>
          <a:p>
            <a:pPr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B push pull amplifier as output stage. </a:t>
            </a:r>
          </a:p>
          <a:p>
            <a:pPr marL="0" indent="0"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393" y="3814354"/>
            <a:ext cx="5559914" cy="20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40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05" y="104502"/>
            <a:ext cx="11665131" cy="6570617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electronic circuit in an OP-Amp is the </a:t>
            </a:r>
            <a:r>
              <a:rPr lang="en-US" sz="2400" b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amplifier. </a:t>
            </a:r>
          </a:p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differential amplifier accepts two input signals and amplifies the difference between these two input signals.</a:t>
            </a:r>
          </a:p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NewRoman"/>
              </a:rPr>
              <a:t>The internal stages of an </a:t>
            </a:r>
            <a:r>
              <a:rPr lang="en-US" sz="2400" i="1" dirty="0">
                <a:solidFill>
                  <a:srgbClr val="231F20"/>
                </a:solidFill>
                <a:latin typeface="TimesNewRoman"/>
              </a:rPr>
              <a:t>OP</a:t>
            </a:r>
            <a:r>
              <a:rPr lang="en-US" sz="2400" dirty="0">
                <a:solidFill>
                  <a:srgbClr val="231F20"/>
                </a:solidFill>
                <a:latin typeface="TimesNewRoman"/>
              </a:rPr>
              <a:t>-Amp are </a:t>
            </a:r>
            <a:r>
              <a:rPr lang="en-US" sz="2400" i="1" dirty="0">
                <a:solidFill>
                  <a:srgbClr val="EC008C"/>
                </a:solidFill>
                <a:latin typeface="TimesNewRoman"/>
              </a:rPr>
              <a:t>direct-coupled </a:t>
            </a:r>
            <a:r>
              <a:rPr lang="en-US" sz="2400" i="1" dirty="0">
                <a:solidFill>
                  <a:srgbClr val="231F20"/>
                </a:solidFill>
                <a:latin typeface="TimesNewRoman"/>
              </a:rPr>
              <a:t>i.e</a:t>
            </a:r>
            <a:r>
              <a:rPr lang="en-US" sz="2400" dirty="0">
                <a:solidFill>
                  <a:srgbClr val="231F20"/>
                </a:solidFill>
                <a:latin typeface="TimesNewRoman"/>
              </a:rPr>
              <a:t>., no coupling capacitors are used.</a:t>
            </a:r>
          </a:p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NewRoman"/>
              </a:rPr>
              <a:t> (The direct coupling allows the </a:t>
            </a:r>
            <a:r>
              <a:rPr lang="en-US" sz="2400" i="1" dirty="0">
                <a:solidFill>
                  <a:srgbClr val="231F20"/>
                </a:solidFill>
                <a:latin typeface="TimesNewRoman"/>
              </a:rPr>
              <a:t>OP</a:t>
            </a:r>
            <a:r>
              <a:rPr lang="en-US" sz="2400" dirty="0">
                <a:solidFill>
                  <a:srgbClr val="231F20"/>
                </a:solidFill>
                <a:latin typeface="TimesNewRoman"/>
              </a:rPr>
              <a:t>-Amp </a:t>
            </a:r>
            <a:r>
              <a:rPr lang="en-US" sz="2400" b="1" dirty="0">
                <a:solidFill>
                  <a:srgbClr val="231F20"/>
                </a:solidFill>
                <a:latin typeface="TimesNewRoman"/>
              </a:rPr>
              <a:t>to amplify </a:t>
            </a:r>
            <a:r>
              <a:rPr lang="en-US" sz="2400" b="1" dirty="0" err="1">
                <a:solidFill>
                  <a:srgbClr val="231F20"/>
                </a:solidFill>
                <a:latin typeface="TimesNewRoman"/>
              </a:rPr>
              <a:t>d.c.</a:t>
            </a:r>
            <a:r>
              <a:rPr lang="en-US" sz="2400" b="1" dirty="0">
                <a:solidFill>
                  <a:srgbClr val="231F20"/>
                </a:solidFill>
                <a:latin typeface="TimesNewRoman"/>
              </a:rPr>
              <a:t> as well as </a:t>
            </a:r>
            <a:r>
              <a:rPr lang="en-US" sz="2400" b="1" dirty="0" err="1">
                <a:solidFill>
                  <a:srgbClr val="231F20"/>
                </a:solidFill>
                <a:latin typeface="TimesNewRoman"/>
              </a:rPr>
              <a:t>a.c</a:t>
            </a:r>
            <a:r>
              <a:rPr lang="en-US" sz="2400" b="1" dirty="0">
                <a:solidFill>
                  <a:srgbClr val="231F20"/>
                </a:solidFill>
                <a:latin typeface="TimesNewRoman"/>
              </a:rPr>
              <a:t>. signals</a:t>
            </a:r>
            <a:r>
              <a:rPr lang="en-US" sz="2400" dirty="0">
                <a:solidFill>
                  <a:srgbClr val="231F20"/>
                </a:solidFill>
                <a:latin typeface="TimesNewRoman"/>
              </a:rPr>
              <a:t>).</a:t>
            </a:r>
          </a:p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dirty="0"/>
              <a:t>Note:</a:t>
            </a:r>
          </a:p>
          <a:p>
            <a:pPr marL="228600" marR="0" lvl="0" indent="-22860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NewRoman"/>
                <a:ea typeface="+mn-ea"/>
                <a:cs typeface="+mn-cs"/>
              </a:rPr>
              <a:t>An OP-Amp has </a:t>
            </a: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srgbClr val="EC008C"/>
                </a:solidFill>
                <a:effectLst/>
                <a:uLnTx/>
                <a:uFillTx/>
                <a:latin typeface="TimesNewRoman"/>
                <a:ea typeface="+mn-ea"/>
                <a:cs typeface="+mn-cs"/>
              </a:rPr>
              <a:t>very high input impedance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NewRoman"/>
                <a:ea typeface="+mn-ea"/>
                <a:cs typeface="+mn-cs"/>
              </a:rPr>
              <a:t>(ideally infinite) and </a:t>
            </a: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srgbClr val="EC008C"/>
                </a:solidFill>
                <a:effectLst/>
                <a:uLnTx/>
                <a:uFillTx/>
                <a:latin typeface="TimesNewRoman"/>
                <a:ea typeface="+mn-ea"/>
                <a:cs typeface="+mn-cs"/>
              </a:rPr>
              <a:t>very low output impedance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NewRoman"/>
                <a:ea typeface="+mn-ea"/>
                <a:cs typeface="+mn-cs"/>
              </a:rPr>
              <a:t>(ideally zero).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NewRoman"/>
                <a:ea typeface="+mn-ea"/>
                <a:cs typeface="+mn-cs"/>
              </a:rPr>
              <a:t>The high input impedance </a:t>
            </a:r>
            <a:r>
              <a:rPr lang="en-US" sz="2300" dirty="0">
                <a:solidFill>
                  <a:srgbClr val="231F20"/>
                </a:solidFill>
                <a:latin typeface="TimesNewRoman"/>
              </a:rPr>
              <a:t>causes an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NewRoman"/>
                <a:ea typeface="+mn-ea"/>
                <a:cs typeface="+mn-cs"/>
              </a:rPr>
              <a:t> amplifier to draw a very small current (ideally zero) from the signal source. </a:t>
            </a:r>
          </a:p>
          <a:p>
            <a:pPr marL="0" lvl="0" indent="0"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67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183" y="128789"/>
            <a:ext cx="11822806" cy="661974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rgbClr val="231F20"/>
                </a:solidFill>
                <a:latin typeface="TimesNewRoman"/>
              </a:rPr>
              <a:t>While the very low output impedance causes an amplifier to provide a constant output voltage independent of current drawn from the source.</a:t>
            </a:r>
          </a:p>
          <a:p>
            <a:pPr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231F20"/>
                </a:solidFill>
                <a:latin typeface="TimesNewRoman"/>
              </a:rPr>
              <a:t>An OP-Amp has </a:t>
            </a:r>
            <a:r>
              <a:rPr lang="en-US" sz="3600" i="1" dirty="0">
                <a:solidFill>
                  <a:srgbClr val="EC008C"/>
                </a:solidFill>
                <a:latin typeface="TimesNewRoman"/>
              </a:rPr>
              <a:t>very high *open-loop voltage gain </a:t>
            </a:r>
            <a:r>
              <a:rPr lang="en-US" sz="3600" dirty="0">
                <a:solidFill>
                  <a:srgbClr val="231F20"/>
                </a:solidFill>
                <a:latin typeface="TimesNewRoman"/>
              </a:rPr>
              <a:t>(ideally infinite); typically more than 200,000.</a:t>
            </a:r>
          </a:p>
          <a:p>
            <a:pPr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231F20"/>
                </a:solidFill>
                <a:latin typeface="TimesNewRoman"/>
              </a:rPr>
              <a:t>The OP-Amps are always operated with negative feedback in order to achieve the advantages of negative feedback including </a:t>
            </a:r>
            <a:r>
              <a:rPr lang="en-US" sz="3600" b="1" dirty="0">
                <a:solidFill>
                  <a:srgbClr val="231F20"/>
                </a:solidFill>
                <a:latin typeface="TimesNewRoman"/>
              </a:rPr>
              <a:t>large bandwidth (</a:t>
            </a:r>
            <a:r>
              <a:rPr lang="en-US" sz="3600" b="1" i="1" dirty="0">
                <a:solidFill>
                  <a:srgbClr val="231F20"/>
                </a:solidFill>
                <a:latin typeface="TimesNewRoman"/>
              </a:rPr>
              <a:t>BW</a:t>
            </a:r>
            <a:r>
              <a:rPr lang="en-US" sz="3600" b="1" dirty="0">
                <a:solidFill>
                  <a:srgbClr val="231F20"/>
                </a:solidFill>
                <a:latin typeface="TimesNewRoman"/>
              </a:rPr>
              <a:t>) and gain stability</a:t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5021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4704" y="244700"/>
            <a:ext cx="10259095" cy="450760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400" dirty="0">
                <a:solidFill>
                  <a:srgbClr val="005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rgbClr val="005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5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Amplifier (DA)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577" y="811369"/>
            <a:ext cx="11706896" cy="604663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amplifier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circuit that accepts two input signals and amplifies the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them.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 Block diagram of an ordinary amplifier.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voltage V is amplified to AV where A is the voltage gain of the amplifier. Therefore,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voltage is Vo = AV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			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846" y="3493251"/>
            <a:ext cx="4861151" cy="304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5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730" y="270456"/>
            <a:ext cx="11629622" cy="64008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2 Block diagram of a differential amplifier.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Usually there are two input voltages V</a:t>
            </a:r>
            <a:r>
              <a:rPr lang="en-US" sz="2400" b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V</a:t>
            </a:r>
            <a:r>
              <a:rPr lang="en-US" sz="2400" b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output voltage is V</a:t>
            </a:r>
            <a:r>
              <a:rPr lang="en-US" sz="2400" b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A(V</a:t>
            </a:r>
            <a:r>
              <a:rPr lang="en-US" sz="2400" b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V</a:t>
            </a:r>
            <a:r>
              <a:rPr lang="en-US" sz="2400" b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where A is the voltage gain of the amplifier.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br>
              <a:rPr lang="en-US" sz="2000" b="0" dirty="0">
                <a:solidFill>
                  <a:srgbClr val="005A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263" y="2121890"/>
            <a:ext cx="5146765" cy="361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39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817"/>
            <a:ext cx="10515600" cy="1175657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5AAA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Basic Circuit of Differential Amplifier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097280"/>
            <a:ext cx="11639006" cy="5551714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(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shows the basic circuit of a differential amplifier. 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two transistors Q1 and Q2 that have identical (ideally) characteristics. 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they all share a :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positive supply VCC, 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emitter resistor RE and 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negative supply VEE.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483" y="2272937"/>
            <a:ext cx="4160423" cy="398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24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8" y="257576"/>
            <a:ext cx="11799255" cy="6508984"/>
          </a:xfrm>
        </p:spPr>
        <p:txBody>
          <a:bodyPr>
            <a:normAutofit fontScale="77500" lnSpcReduction="20000"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shows the electronic symbol of differential amplifier.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Figure (ii)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differential amplifier (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a two-input terminal device using </a:t>
            </a:r>
            <a:r>
              <a:rPr lang="en-US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atleast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two transistors.</a:t>
            </a:r>
            <a:b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output terminals marked 1 (</a:t>
            </a:r>
            <a:r>
              <a:rPr lang="en-US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1) and 2(</a:t>
            </a:r>
            <a:r>
              <a:rPr lang="en-US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2).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is appropriate because the amplifier is amplifying the difference between the two input signals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765" y="1079373"/>
            <a:ext cx="2663140" cy="112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98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45" y="154546"/>
            <a:ext cx="11835685" cy="65295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transistors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matched so that their characteristics are the same and  collector resistors 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C1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are also equal.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equality of the matched circuit components makes the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arrangement completely symmetrical.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ways of applying signals to a differential amplifier (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signal is applied to one input of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the other input is grounded. In this case, it is called a </a:t>
            </a:r>
            <a:r>
              <a:rPr lang="en-US" sz="2400" i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single-ended input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arrangement.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signals are applied to both inputs of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 this case, it is called </a:t>
            </a:r>
            <a:r>
              <a:rPr lang="en-US" sz="2400" i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dual-ended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i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double-ended input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arrangement.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198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69816"/>
            <a:ext cx="11821886" cy="6505303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i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Generally, the differential amplifier (DA) is operated for single-ended output</a:t>
            </a:r>
            <a:r>
              <a:rPr lang="en-US" sz="2400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output is taken either from output terminal 1 and ground or from output terminal 2 and ground. 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input/output terminal that is grounded is at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0V</a:t>
            </a:r>
            <a:endParaRPr lang="en-US" sz="2400" b="1" i="1" dirty="0">
              <a:solidFill>
                <a:srgbClr val="ED18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from </a:t>
            </a:r>
            <a:r>
              <a:rPr lang="en-US" sz="2400" b="1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 </a:t>
            </a:r>
            <a:r>
              <a:rPr lang="en-US" sz="24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taken in the following two ways :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can be taken from one of the output terminals and the ground. In that case, it is called </a:t>
            </a:r>
            <a:r>
              <a:rPr lang="en-US" i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single-ended output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arrangement.</a:t>
            </a:r>
            <a:b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can be taken between the two output terminals (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between the collectors of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and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2). In that case, it is called </a:t>
            </a:r>
            <a:r>
              <a:rPr lang="en-US" i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double-ended output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arrangement or </a:t>
            </a:r>
            <a:r>
              <a:rPr lang="en-US" i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output</a:t>
            </a:r>
            <a:r>
              <a:rPr lang="en-US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487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069" y="128788"/>
            <a:ext cx="11768162" cy="6729211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4600" i="0" dirty="0">
                <a:solidFill>
                  <a:srgbClr val="005A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Differential Amplifier</a:t>
            </a:r>
            <a:endParaRPr lang="en-US" sz="4600" dirty="0">
              <a:solidFill>
                <a:srgbClr val="005AA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simplicity, the operation of </a:t>
            </a:r>
            <a:r>
              <a:rPr lang="en-US" sz="46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single-ended input 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signal is applied to one input of </a:t>
            </a:r>
            <a:r>
              <a:rPr lang="en-US" sz="4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 other input is grounded) and </a:t>
            </a:r>
            <a:r>
              <a:rPr lang="en-US" sz="46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double-ended output </a:t>
            </a:r>
            <a:r>
              <a:rPr lang="en-US" sz="4600" b="1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46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be considered</a:t>
            </a:r>
            <a:endParaRPr lang="en-US" sz="46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0000"/>
              </a:lnSpc>
              <a:spcBef>
                <a:spcPts val="0"/>
              </a:spcBef>
              <a:buNone/>
            </a:pPr>
            <a:b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600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600" i="1" dirty="0" err="1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600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 the signal is applied to input 1 (</a:t>
            </a:r>
            <a:r>
              <a:rPr lang="en-US" sz="4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base of transistor </a:t>
            </a:r>
            <a:r>
              <a:rPr lang="en-US" sz="4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460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input 2 (</a:t>
            </a:r>
            <a:r>
              <a:rPr lang="en-US" sz="4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base of transistor </a:t>
            </a:r>
            <a:r>
              <a:rPr lang="en-US" sz="4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460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grounded as shown in Fig. 25.5. The transistor </a:t>
            </a:r>
            <a:r>
              <a:rPr lang="en-US" sz="4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460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act in two ways :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common emitter amplifier and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common collector amplifier. </a:t>
            </a:r>
          </a:p>
          <a:p>
            <a:pPr marL="0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common emitter amplifier, the input signal to </a:t>
            </a:r>
            <a:r>
              <a:rPr lang="en-US" sz="4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460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(input 1) will appear at output 1 (</a:t>
            </a:r>
            <a:r>
              <a:rPr lang="en-US" sz="4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collector of </a:t>
            </a:r>
            <a:r>
              <a:rPr lang="en-US" sz="4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460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amplified inverted signal as shown in Fig. 25.5.</a:t>
            </a:r>
          </a:p>
          <a:p>
            <a:pPr marL="0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4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19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06" y="182881"/>
            <a:ext cx="11823968" cy="6492238"/>
          </a:xfrm>
        </p:spPr>
        <p:txBody>
          <a:bodyPr/>
          <a:lstStyle/>
          <a:p>
            <a:pPr marL="0" lv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common collector amplifier, the signal appears on the emitter of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in phase with the input and only slightly smaller. </a:t>
            </a:r>
          </a:p>
          <a:p>
            <a:pPr marL="0" lv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the emitters of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and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are common, the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emitter signal becomes input to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Therefore,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functions as a </a:t>
            </a:r>
            <a:r>
              <a:rPr lang="en-US" sz="2400" dirty="0">
                <a:solidFill>
                  <a:srgbClr val="00AE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base amplifier. As a result, the signal on the emitter of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will be amplified and appears on output 2 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collector of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in phase with the emitter signal and hence in phase with the input signal (signal at input 1). This is illustrated in Fig. 25.5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924" y="3628775"/>
            <a:ext cx="558165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1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25" y="154546"/>
            <a:ext cx="12024575" cy="6555347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600" b="1" i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26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suppose the signal is applied to input 2(</a:t>
            </a:r>
            <a:r>
              <a:rPr lang="en-US" sz="2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base of transistor </a:t>
            </a:r>
            <a:r>
              <a:rPr lang="en-US" sz="2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input 1(base of transistor </a:t>
            </a:r>
            <a:r>
              <a:rPr lang="en-US" sz="2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grounded. 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explained above, now </a:t>
            </a:r>
            <a:r>
              <a:rPr lang="en-US" sz="2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acts as a common emitter amplifier and common collector amplifier while </a:t>
            </a:r>
            <a:r>
              <a:rPr lang="en-US" sz="2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as a common base amplifier. 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inverted and amplified signal appears at output 2 (</a:t>
            </a:r>
            <a:r>
              <a:rPr lang="en-US" sz="2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at collector of </a:t>
            </a:r>
            <a:r>
              <a:rPr lang="en-US" sz="2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non-inverted, amplified signal appears at output 1(</a:t>
            </a:r>
            <a:r>
              <a:rPr lang="en-US" sz="2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at collector of </a:t>
            </a:r>
            <a:r>
              <a:rPr lang="en-US" sz="2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This is illustrated in Fig. 25.6.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124" y="4162937"/>
            <a:ext cx="3876163" cy="236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6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25" y="154546"/>
            <a:ext cx="12024575" cy="655534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points are worth noting about single-ended input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signal is applied to input 1 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base of transistor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Fig. 25.5), an inverted, amplified signal appears at output 1 and non-inverted, amplified signal appears at output2. Reverse happens when signal is applied to input 2 and input 1 is grounded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only one output terminal is available, the phase of the output of single-ended input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 on which input receives the input signal.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223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25" y="154546"/>
            <a:ext cx="12024575" cy="6555347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NewRoman"/>
              </a:rPr>
              <a:t>This is illustrated in Fig. 25.7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NewRoman"/>
              </a:rPr>
              <a:t>When signal applied to the input of </a:t>
            </a:r>
            <a:r>
              <a:rPr lang="en-US" i="1" dirty="0">
                <a:solidFill>
                  <a:srgbClr val="231F20"/>
                </a:solidFill>
                <a:latin typeface="TimesNewRoman"/>
              </a:rPr>
              <a:t>DA </a:t>
            </a:r>
            <a:r>
              <a:rPr lang="en-US" dirty="0">
                <a:solidFill>
                  <a:srgbClr val="231F20"/>
                </a:solidFill>
                <a:latin typeface="TimesNewRoman"/>
              </a:rPr>
              <a:t>produces no phase shift in the output, it is called </a:t>
            </a:r>
            <a:r>
              <a:rPr lang="en-US" i="1" dirty="0">
                <a:solidFill>
                  <a:srgbClr val="EC008C"/>
                </a:solidFill>
                <a:latin typeface="TimesNewRoman"/>
              </a:rPr>
              <a:t>noninverting input </a:t>
            </a:r>
            <a:r>
              <a:rPr lang="en-US" dirty="0">
                <a:solidFill>
                  <a:srgbClr val="231F20"/>
                </a:solidFill>
                <a:latin typeface="TimesNewRoman"/>
              </a:rPr>
              <a:t>[See Fig. 25.7 (</a:t>
            </a:r>
            <a:r>
              <a:rPr lang="en-US" i="1" dirty="0" err="1">
                <a:solidFill>
                  <a:srgbClr val="231F20"/>
                </a:solidFill>
                <a:latin typeface="TimesNewRoman"/>
              </a:rPr>
              <a:t>i</a:t>
            </a:r>
            <a:r>
              <a:rPr lang="en-US" dirty="0">
                <a:solidFill>
                  <a:srgbClr val="231F20"/>
                </a:solidFill>
                <a:latin typeface="TimesNewRoman"/>
              </a:rPr>
              <a:t>)].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NewRoman"/>
              </a:rPr>
              <a:t>In other words, for noninverting input, the output signal is in phase with the input signal.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NewRoman"/>
              </a:rPr>
              <a:t>When the signal applied to the input of </a:t>
            </a:r>
            <a:r>
              <a:rPr lang="en-US" i="1" dirty="0">
                <a:solidFill>
                  <a:srgbClr val="231F20"/>
                </a:solidFill>
                <a:latin typeface="TimesNewRoman"/>
              </a:rPr>
              <a:t>DA </a:t>
            </a:r>
            <a:r>
              <a:rPr lang="en-US" dirty="0">
                <a:solidFill>
                  <a:srgbClr val="231F20"/>
                </a:solidFill>
                <a:latin typeface="TimesNewRoman"/>
              </a:rPr>
              <a:t>produces 180° phase shift, it is called </a:t>
            </a:r>
            <a:r>
              <a:rPr lang="en-US" i="1" dirty="0">
                <a:solidFill>
                  <a:srgbClr val="EC008C"/>
                </a:solidFill>
                <a:latin typeface="TimesNewRoman"/>
              </a:rPr>
              <a:t>inverting input </a:t>
            </a:r>
            <a:r>
              <a:rPr lang="en-US" dirty="0">
                <a:solidFill>
                  <a:srgbClr val="231F20"/>
                </a:solidFill>
                <a:latin typeface="TimesNewRoman"/>
              </a:rPr>
              <a:t>[See Fig. 25.7 (</a:t>
            </a:r>
            <a:r>
              <a:rPr lang="en-US" i="1" dirty="0">
                <a:solidFill>
                  <a:srgbClr val="231F20"/>
                </a:solidFill>
                <a:latin typeface="TimesNewRoman"/>
              </a:rPr>
              <a:t>ii</a:t>
            </a:r>
            <a:r>
              <a:rPr lang="en-US" dirty="0">
                <a:solidFill>
                  <a:srgbClr val="231F20"/>
                </a:solidFill>
                <a:latin typeface="TimesNewRoman"/>
              </a:rPr>
              <a:t>)]</a:t>
            </a:r>
            <a:r>
              <a:rPr lang="en-US" dirty="0"/>
              <a:t> </a:t>
            </a:r>
            <a:br>
              <a:rPr lang="en-US" dirty="0"/>
            </a:b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828" y="679963"/>
            <a:ext cx="701040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08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25" y="154546"/>
            <a:ext cx="12024575" cy="655534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i="0" dirty="0">
                <a:solidFill>
                  <a:srgbClr val="005A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Common-mode and Differential-mode Signals</a:t>
            </a:r>
            <a:br>
              <a:rPr lang="en-US" sz="2400" b="0" i="0" dirty="0">
                <a:solidFill>
                  <a:srgbClr val="005A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a differential amplifier lies in the fact that the outputs are proportional to the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the two input signals.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 the circuit can be used to amplify the difference between the two input signals or amplify only one input signal simply by grounding the other input.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input signals to a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defined as :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 err="1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Common-mode signals </a:t>
            </a: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Differential-mode signals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28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254" y="4399722"/>
            <a:ext cx="6216052" cy="179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75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691" y="143690"/>
            <a:ext cx="11795760" cy="6557555"/>
          </a:xfrm>
        </p:spPr>
        <p:txBody>
          <a:bodyPr>
            <a:normAutofit fontScale="92500" lnSpcReduction="20000"/>
          </a:bodyPr>
          <a:lstStyle/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AutoNum type="romanLcParenBoth"/>
            </a:pP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Common-mode signals : 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signals to a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in phase and exactly equal in amplitude, they are called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common-mode signals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shown in Fig. 25.8. 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common-mode signals are rejected (not amplified) by the differential amplifier. It is because a differential amplifier amplifies the difference between the two signals 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for common-mode signals, this difference is zero. Note that for common-mode operations,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solidFill>
                <a:srgbClr val="ED18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Differential-mode signals. 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signals to a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180° out of phase and exactly equal in amplitude, they are called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differential-mode signals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shown in Fig. 25.9.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differential-mode signals are amplified by the differential amplifier. It is because the difference in the signals is twice the value of each signal. 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differential-mode signals,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= –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9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948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25" y="154546"/>
            <a:ext cx="12024575" cy="65553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 the differential amplifier amplifies the differential-mode signals while it rejects the common-mode signals.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0" dirty="0">
                <a:solidFill>
                  <a:srgbClr val="005A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Double-ended Input Operation of DA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5A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differential amplifier (DA) has two inputs so that it can simultaneously receive two signals. The</a:t>
            </a:r>
            <a:b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signals to a DA are defined as :</a:t>
            </a:r>
            <a:b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Differential-mode signals </a:t>
            </a:r>
            <a:r>
              <a:rPr lang="en-US" sz="20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(ii) 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Common-mode signals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differential-mode signals are equal in amplitude but 180° out of phase. The common-mode</a:t>
            </a:r>
            <a:b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are equal in magnitude and have the same phase.</a:t>
            </a:r>
          </a:p>
          <a:p>
            <a:pPr marL="0" indent="0">
              <a:buNone/>
            </a:pPr>
            <a:b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Differential input.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mode (arrangement), two opposite-polarity (180° out of phase) signals are applied to the inputs of DA as shown in Fig. 25.10 (</a:t>
            </a:r>
            <a:r>
              <a:rPr lang="en-US" sz="20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775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668" y="257576"/>
            <a:ext cx="12050332" cy="66004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-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719" y="497312"/>
            <a:ext cx="5293216" cy="61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33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667" y="90152"/>
            <a:ext cx="11874321" cy="66454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ED1846"/>
                </a:solidFill>
                <a:latin typeface="TimesNewRoman"/>
              </a:rPr>
              <a:t>(</a:t>
            </a:r>
            <a:r>
              <a:rPr lang="en-US" b="1" i="1" dirty="0">
                <a:solidFill>
                  <a:srgbClr val="ED1846"/>
                </a:solidFill>
                <a:latin typeface="TimesNewRoman"/>
              </a:rPr>
              <a:t>ii</a:t>
            </a:r>
            <a:r>
              <a:rPr lang="en-US" b="1" dirty="0">
                <a:solidFill>
                  <a:srgbClr val="ED1846"/>
                </a:solidFill>
                <a:latin typeface="TimesNewRoman"/>
              </a:rPr>
              <a:t>) Common-mode input. </a:t>
            </a:r>
            <a:r>
              <a:rPr lang="en-US" dirty="0">
                <a:solidFill>
                  <a:srgbClr val="231F20"/>
                </a:solidFill>
                <a:latin typeface="TimesNewRoman"/>
              </a:rPr>
              <a:t>In this mode, two signals equal in amplitude and having the same</a:t>
            </a:r>
            <a:br>
              <a:rPr lang="en-US" dirty="0">
                <a:solidFill>
                  <a:srgbClr val="231F20"/>
                </a:solidFill>
                <a:latin typeface="TimesNewRoman"/>
              </a:rPr>
            </a:br>
            <a:r>
              <a:rPr lang="en-US" dirty="0">
                <a:solidFill>
                  <a:srgbClr val="231F20"/>
                </a:solidFill>
                <a:latin typeface="TimesNewRoman"/>
              </a:rPr>
              <a:t>phase are applied to the inputs of </a:t>
            </a:r>
            <a:r>
              <a:rPr lang="en-US" i="1" dirty="0">
                <a:solidFill>
                  <a:srgbClr val="231F20"/>
                </a:solidFill>
                <a:latin typeface="TimesNewRoman"/>
              </a:rPr>
              <a:t>DA </a:t>
            </a:r>
            <a:r>
              <a:rPr lang="en-US" dirty="0">
                <a:solidFill>
                  <a:srgbClr val="231F20"/>
                </a:solidFill>
                <a:latin typeface="TimesNewRoman"/>
              </a:rPr>
              <a:t>as shown in Fig. 25.11(</a:t>
            </a:r>
            <a:r>
              <a:rPr lang="en-US" i="1" dirty="0" err="1">
                <a:solidFill>
                  <a:srgbClr val="231F20"/>
                </a:solidFill>
                <a:latin typeface="TimesNewRoman"/>
              </a:rPr>
              <a:t>i</a:t>
            </a:r>
            <a:r>
              <a:rPr lang="en-US" dirty="0">
                <a:solidFill>
                  <a:srgbClr val="231F20"/>
                </a:solidFill>
                <a:latin typeface="TimesNewRoman"/>
              </a:rPr>
              <a:t>)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3" y="1120699"/>
            <a:ext cx="4908492" cy="35175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705" y="1231079"/>
            <a:ext cx="5951921" cy="340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422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222068"/>
            <a:ext cx="11808823" cy="6544491"/>
          </a:xfrm>
        </p:spPr>
        <p:txBody>
          <a:bodyPr>
            <a:normAutofit/>
          </a:bodyPr>
          <a:lstStyle/>
          <a:p>
            <a:pPr marL="0" lv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NewRoman"/>
              </a:rPr>
              <a:t>Note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note that common-mode signals are rejected by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action is called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common-mode rejection. </a:t>
            </a:r>
          </a:p>
          <a:p>
            <a:pPr marL="0" lv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of noises and other unwanted signals are common-mode signals.</a:t>
            </a:r>
            <a:b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these unwanted signals appear on the inputs of a DA, they are virtually eliminated on the output</a:t>
            </a:r>
            <a:r>
              <a:rPr lang="en-US" sz="18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22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67" y="91440"/>
            <a:ext cx="11885544" cy="676656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0" i="0" dirty="0">
                <a:solidFill>
                  <a:srgbClr val="005A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Voltage Gains of DA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voltage gain of a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in differential mode is called </a:t>
            </a:r>
            <a:r>
              <a:rPr lang="en-US" i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differential-mode voltage gain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is denoted by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voltage gain of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in common-mode is called </a:t>
            </a:r>
            <a:r>
              <a:rPr lang="en-US" i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common-mode voltage gain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is denoted by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Ideally, a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 very high voltage gain for differential-mode signals and zero gain for</a:t>
            </a:r>
            <a:b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common-mode signals.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practically, differential amplifiers do exhibit a very small common-mode gain (usually much less than 1) while providing a high differential voltage gain (usually several thousands).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higher the differential gain w.r.t. the common-mode gain, the better the performance of the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terms of rejection of common-mode signals.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 a differential amplifier should have high differential voltage gain (</a:t>
            </a:r>
            <a:r>
              <a:rPr lang="en-US" sz="28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</a:t>
            </a:r>
            <a:r>
              <a:rPr lang="en-US" sz="28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very low common mode voltage gain (</a:t>
            </a:r>
            <a:r>
              <a:rPr lang="en-US" sz="28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</a:t>
            </a:r>
            <a:r>
              <a:rPr lang="en-US" sz="28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134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303" y="167425"/>
            <a:ext cx="11835685" cy="642655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rgbClr val="ED1846"/>
              </a:solidFill>
              <a:latin typeface="TimesNewRoman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5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Common-mode Rejection Ratio (CMRR)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2400" dirty="0">
                <a:solidFill>
                  <a:srgbClr val="005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ratio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 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called common-mode rejection ratio 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CMRR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DA6DE-B55D-450C-B84F-2CDC65DD6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727" y="2769704"/>
            <a:ext cx="9211193" cy="367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40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29" y="169817"/>
            <a:ext cx="11834948" cy="6361612"/>
          </a:xfrm>
        </p:spPr>
        <p:txBody>
          <a:bodyPr/>
          <a:lstStyle/>
          <a:p>
            <a:pPr marL="0" lvl="0" indent="0">
              <a:buNone/>
            </a:pPr>
            <a:endParaRPr lang="en-US" sz="1300" b="1" dirty="0">
              <a:solidFill>
                <a:srgbClr val="ED1846"/>
              </a:solidFill>
              <a:latin typeface="TimesNewRoman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CMRR. 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CMRR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ability of a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reject the common-mode signals.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larger the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CMRR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better the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at eliminating common-mode signals. 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 the differential amplifier in Fig. 25.12 has a differential voltage gain of 1500 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1500) and a common-mode gain of 0.01 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0.01)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CMRR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1500/0.01 = 150,000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287" y="3164144"/>
            <a:ext cx="5388901" cy="352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97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25" y="128788"/>
            <a:ext cx="11668260" cy="6478073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the output produced by a difference between the inputs would be 150,000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 as great as an output produced by a common-mode signal.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ability of the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reject common-mode signals is one of its main advantages.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mode signals are usually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undesired signals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caused by external interference.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any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picked up by the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 would be considered undesirable.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230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577" y="231820"/>
            <a:ext cx="11642502" cy="6310648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b="1" i="0" dirty="0">
                <a:solidFill>
                  <a:srgbClr val="005A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 of DA (or OP–amp) due to Mismatch of</a:t>
            </a:r>
            <a:br>
              <a:rPr lang="en-US" b="1" i="0" dirty="0">
                <a:solidFill>
                  <a:srgbClr val="005A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0" dirty="0">
                <a:solidFill>
                  <a:srgbClr val="005A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Transistors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br>
              <a:rPr lang="en-US" b="0" i="0" dirty="0">
                <a:solidFill>
                  <a:srgbClr val="005A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discussion on the differential amplifier (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has been based on the assumption that the transistors are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perfectly matched (i.e.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they have exactly the same electrical characteristics.) 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practice, this cannot happen. There will always be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the characteristics of the two transistors which leads to the following two parameters of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(or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OP–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amp) :</a:t>
            </a:r>
            <a:b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offset voltage 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offset current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b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752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069" y="182880"/>
            <a:ext cx="11351622" cy="6348549"/>
          </a:xfrm>
        </p:spPr>
        <p:txBody>
          <a:bodyPr>
            <a:normAutofit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Offset Voltage. </a:t>
            </a:r>
          </a:p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though the transistors in the differential amplifier are very closely matched, there are some differences in their electrical characteristics. </a:t>
            </a:r>
          </a:p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of these differences is found in the values of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VBE 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two transistors. </a:t>
            </a:r>
          </a:p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VBE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≠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VBE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an imbalance is created in the differential amplifier. </a:t>
            </a:r>
          </a:p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 the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(or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-amp) may show some voltage at the output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 when the voltage applied between two input terminals is zero.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voltage is called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offset voltage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78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1" y="154546"/>
            <a:ext cx="11694017" cy="655534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Fig. 25.22, with the inputs of </a:t>
            </a:r>
            <a:r>
              <a:rPr lang="en-US" sz="26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6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grounded, the output shows a measurable voltage. This voltage is a result of the imbalance in the differential amplifier, which causes one of the transistors to conduct harder than the other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  <a:t>here are several methods that may be used to eliminate output offset voltage. One of these is</a:t>
            </a:r>
            <a:b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</a:br>
            <a: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  <a:t>to apply an </a:t>
            </a:r>
            <a:r>
              <a:rPr lang="en-US" sz="2600" b="0" i="1" dirty="0">
                <a:solidFill>
                  <a:srgbClr val="231F20"/>
                </a:solidFill>
                <a:effectLst/>
                <a:latin typeface="TimesNewRoman"/>
              </a:rPr>
              <a:t>input offset voltage 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  <a:t>between the input terminals of </a:t>
            </a:r>
            <a:r>
              <a:rPr lang="en-US" sz="2600" b="0" i="1" dirty="0">
                <a:solidFill>
                  <a:srgbClr val="231F20"/>
                </a:solidFill>
                <a:effectLst/>
                <a:latin typeface="TimesNewRoman"/>
              </a:rPr>
              <a:t>DA 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  <a:t>(or </a:t>
            </a:r>
            <a:r>
              <a:rPr lang="en-US" sz="2600" b="0" i="1" dirty="0">
                <a:solidFill>
                  <a:srgbClr val="231F20"/>
                </a:solidFill>
                <a:effectLst/>
                <a:latin typeface="TimesNewRoman"/>
              </a:rPr>
              <a:t>OP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  <a:t>- amp) so as to make</a:t>
            </a:r>
            <a:b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</a:br>
            <a: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  <a:t>output 0</a:t>
            </a:r>
            <a:r>
              <a:rPr lang="en-US" sz="2600" b="0" i="1" dirty="0">
                <a:solidFill>
                  <a:srgbClr val="231F20"/>
                </a:solidFill>
                <a:effectLst/>
                <a:latin typeface="TimesNewRoman"/>
              </a:rPr>
              <a:t>V 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  <a:t>as shown in Fig. 25.23. The value of input offset voltage (</a:t>
            </a:r>
            <a:r>
              <a:rPr lang="en-US" sz="2600" b="0" i="1" dirty="0">
                <a:solidFill>
                  <a:srgbClr val="231F20"/>
                </a:solidFill>
                <a:effectLst/>
                <a:latin typeface="TimesNewRoman"/>
              </a:rPr>
              <a:t>Vi</a:t>
            </a:r>
            <a: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  <a:t>0) required to eliminate the</a:t>
            </a:r>
            <a:b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</a:br>
            <a:r>
              <a:rPr lang="en-US" sz="2600" b="0" i="0" dirty="0">
                <a:solidFill>
                  <a:srgbClr val="231F20"/>
                </a:solidFill>
                <a:effectLst/>
                <a:latin typeface="TimesNewRoman"/>
              </a:rPr>
              <a:t>output offset voltage is given by;</a:t>
            </a:r>
            <a:r>
              <a:rPr lang="en-US" sz="2600" dirty="0"/>
              <a:t> </a:t>
            </a:r>
            <a:br>
              <a:rPr lang="en-US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231F20"/>
                </a:solidFill>
                <a:effectLst/>
                <a:latin typeface="TimesNewRoman"/>
              </a:rPr>
              <a:t>Where </a:t>
            </a:r>
            <a:r>
              <a:rPr lang="en-US" b="0" i="1" dirty="0">
                <a:solidFill>
                  <a:srgbClr val="231F20"/>
                </a:solidFill>
                <a:effectLst/>
                <a:latin typeface="TimesNewRoman"/>
              </a:rPr>
              <a:t>A </a:t>
            </a:r>
            <a:r>
              <a:rPr lang="en-US" b="0" i="0" dirty="0">
                <a:solidFill>
                  <a:srgbClr val="231F20"/>
                </a:solidFill>
                <a:effectLst/>
                <a:latin typeface="TimesNewRoman"/>
              </a:rPr>
              <a:t>is voltage gain</a:t>
            </a:r>
            <a:r>
              <a:rPr lang="en-US" dirty="0"/>
              <a:t> </a:t>
            </a:r>
            <a:br>
              <a:rPr lang="en-US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Figure 25.22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989" y="3627136"/>
            <a:ext cx="7671757" cy="2633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F329BB-0897-4855-B542-C572B2FC3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76" y="3627136"/>
            <a:ext cx="2338527" cy="69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90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062" y="167425"/>
            <a:ext cx="11681138" cy="642655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Input Offset Current.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output offset voltage of a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(or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amp) is eliminated, there will be a slight difference between the input currents to the noninverting and inverting inputs of the device. This slight difference in input currents is called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offset current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is caused by a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 (β) mismatch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the transistors in the differential amplifier.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an example,   suppose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75 µA and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65 µA.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747" y="3690133"/>
            <a:ext cx="5571472" cy="77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641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567" y="336884"/>
            <a:ext cx="11451691" cy="6398767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5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Bias Current</a:t>
            </a:r>
            <a:br>
              <a:rPr lang="en-US" sz="2400" dirty="0">
                <a:solidFill>
                  <a:srgbClr val="005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inputs to an OP- amp require some amount of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d.c.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biasing current for the transistors in the differential amplifier. The input bias current is defined as the average of the two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d.c.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 currents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when no signal is applied, the inputs of OP- amp (i.e., DA) will draw a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d.c.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current of 80 µA.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531" y="3125510"/>
            <a:ext cx="6242967" cy="249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72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393"/>
            <a:ext cx="10515600" cy="670485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solidFill>
                  <a:srgbClr val="005AAA"/>
                </a:solidFill>
                <a:latin typeface="ArialBlack"/>
              </a:rPr>
            </a:br>
            <a:r>
              <a:rPr lang="en-US" sz="2700" dirty="0">
                <a:solidFill>
                  <a:srgbClr val="005AAA"/>
                </a:solidFill>
                <a:latin typeface="ArialBlack"/>
              </a:rPr>
              <a:t>A.C. Analysis of Differential Amplifier</a:t>
            </a:r>
            <a:r>
              <a:rPr lang="en-US" sz="2700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026" y="649357"/>
            <a:ext cx="11873947" cy="609725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differential amplifier (</a:t>
            </a:r>
            <a:r>
              <a:rPr lang="en-US" sz="3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has a noninverting input and an inverting input. Fig. 25.27 shows the</a:t>
            </a:r>
            <a:b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amplifier (</a:t>
            </a:r>
            <a:r>
              <a:rPr lang="en-US" sz="3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that is used in </a:t>
            </a:r>
            <a:r>
              <a:rPr lang="en-US" sz="3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 OP- </a:t>
            </a: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amps. Note the circuit has double-ended input and</a:t>
            </a:r>
            <a:b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single-ended output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3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3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3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3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3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3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3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differential amplifier circuit in Fig. 25.27, responds to the difference between the voltages at the two input terminals. i.e. </a:t>
            </a:r>
            <a:r>
              <a:rPr lang="en-US" sz="3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responds to </a:t>
            </a:r>
            <a:r>
              <a:rPr lang="en-US" sz="3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 </a:t>
            </a: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(= </a:t>
            </a:r>
            <a:r>
              <a:rPr lang="en-US" sz="3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– </a:t>
            </a:r>
            <a:r>
              <a:rPr lang="en-US" sz="3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circuit shown in Fig. 25.27 can be drawn as shown in Fig. 25.28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473" y="1682615"/>
            <a:ext cx="5489466" cy="332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65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335" y="296213"/>
            <a:ext cx="11694017" cy="634928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Ideally 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VBE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negligible), the tail current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Fig. 25.27 is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the values of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VEE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set, the tail current is constant. </a:t>
            </a:r>
          </a:p>
          <a:p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to simplify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analysis, we can replace the tail current by a current source 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shown in Fig. 25.29. This will simplify the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analysis of the circuit with almost no loss of 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883" y="1931508"/>
            <a:ext cx="3656920" cy="492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098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093" y="154546"/>
            <a:ext cx="11882907" cy="652958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A.C. Equivalent Circuit.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equivalent circuit of differential amplifier can be obtained by applying the usual rules to Fig. 25.29.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all the capacitors, and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all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d.c.sources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zero.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a differential amplifier has no capacitors, just reduce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d.c.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sources to zero.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a voltage source to zero is equivalent to replacing it by a short.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a current source to zero is equivalent to opening it.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point, ground 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and open the current source.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these conditions to Fig. 25.29, we get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equivalent circuit of differential amplifier shown in Fig. 25.30.</a:t>
            </a:r>
          </a:p>
          <a:p>
            <a:pPr marL="0" indent="0" algn="ctr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323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817" y="169816"/>
            <a:ext cx="11730446" cy="6479177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gain. </a:t>
            </a:r>
          </a:p>
          <a:p>
            <a:pPr marL="0" lvl="0" indent="0">
              <a:buNone/>
            </a:pP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25.30 shows the </a:t>
            </a:r>
            <a:r>
              <a:rPr lang="en-US" sz="2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equivalent circuit of a differential amplifier. </a:t>
            </a:r>
          </a:p>
          <a:p>
            <a:pPr marL="0" lvl="0" indent="0">
              <a:buNone/>
            </a:pP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that </a:t>
            </a:r>
            <a:r>
              <a:rPr lang="en-US" sz="26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en-US" sz="26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(= 25 mV/</a:t>
            </a:r>
            <a:r>
              <a:rPr lang="en-US" sz="2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d.c.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emitter current) is the </a:t>
            </a:r>
            <a:r>
              <a:rPr lang="en-US" sz="2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emitter resistance.</a:t>
            </a:r>
          </a:p>
          <a:p>
            <a:pPr marL="0" lvl="0" indent="0">
              <a:buNone/>
            </a:pP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Since the two </a:t>
            </a:r>
            <a:r>
              <a:rPr lang="en-US" sz="26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en-US" sz="26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e’s</a:t>
            </a:r>
            <a:r>
              <a:rPr lang="en-US" sz="26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in series, the same </a:t>
            </a:r>
            <a:r>
              <a:rPr lang="en-US" sz="2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a.c.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emitter current exists in both transistors. </a:t>
            </a:r>
          </a:p>
          <a:p>
            <a:pPr marL="0" lvl="0" indent="0">
              <a:buNone/>
            </a:pPr>
            <a:br>
              <a:rPr lang="en-US" sz="2600" dirty="0">
                <a:solidFill>
                  <a:prstClr val="black"/>
                </a:solidFill>
              </a:rPr>
            </a:br>
            <a:endParaRPr lang="en-US" sz="2600" dirty="0">
              <a:solidFill>
                <a:prstClr val="black"/>
              </a:solidFill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062" y="2201015"/>
            <a:ext cx="3605349" cy="444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4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1" y="154546"/>
            <a:ext cx="11973059" cy="65424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emitter current is given by;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9296F-3831-4F6D-97AE-76CB7D85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17" y="1073425"/>
            <a:ext cx="11137559" cy="426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091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8F2EB8-6343-4E7A-8911-9957182A2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895" y="635309"/>
            <a:ext cx="11340232" cy="3380099"/>
          </a:xfrm>
        </p:spPr>
      </p:pic>
    </p:spTree>
    <p:extLst>
      <p:ext uri="{BB962C8B-B14F-4D97-AF65-F5344CB8AC3E}">
        <p14:creationId xmlns:p14="http://schemas.microsoft.com/office/powerpoint/2010/main" val="202989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577" y="193184"/>
            <a:ext cx="11835685" cy="6516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Vout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Fig. 25.31 when (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Vin = 1mV (ii) Vin = –1mV 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Figure 25.31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70" y="537403"/>
            <a:ext cx="4017404" cy="52616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591" y="3168203"/>
            <a:ext cx="8068671" cy="326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544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183" y="0"/>
            <a:ext cx="11797048" cy="676140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5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Common-mode Voltage Gain (ACM)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sz="2000" dirty="0">
                <a:solidFill>
                  <a:srgbClr val="005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common-mode signals are equal in amplitude and have the same phase.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25.34(</a:t>
            </a:r>
            <a:r>
              <a:rPr lang="en-US" sz="20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shows the common-mode operation of a differential amplifier (</a:t>
            </a:r>
            <a:r>
              <a:rPr lang="en-US" sz="20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Note that the same input voltage, </a:t>
            </a:r>
            <a:r>
              <a:rPr lang="en-US" sz="20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being applied to each base.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Ideally, there is no </a:t>
            </a:r>
            <a:r>
              <a:rPr lang="en-US" sz="20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output voltage with a common-mode input signal.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because a differential amplifier is designed to respond to </a:t>
            </a:r>
            <a:r>
              <a:rPr lang="en-US" sz="20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between two input signals.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there is no difference between the inputs, the output of </a:t>
            </a:r>
            <a:r>
              <a:rPr lang="en-US" sz="20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zero.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practice, the two halves of the differential amplifier are never completely balanced and there is a very small </a:t>
            </a:r>
            <a:r>
              <a:rPr lang="en-US" sz="20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output voltage for the common-mode signal.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908" y="4262311"/>
            <a:ext cx="4735751" cy="27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64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069" y="222068"/>
            <a:ext cx="11560628" cy="636161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circuit shown in Fig. 25.34(</a:t>
            </a:r>
            <a:r>
              <a:rPr lang="en-US" sz="24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can be redrawn as shown in Fig. 25.34(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In this equivalent circuit, the two parallel resistances of 2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 an equivalent resistance of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Therefore, this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equivalent circuit will not affect the output voltage. Assuming identical transistors, the two emitter currents will be equal and produce the same voltage across emitter resistors. Therefore, there is no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through the wire between the emitters. We can remove this wire and the circuit becomes as shown in Fig. 25.35 (</a:t>
            </a:r>
            <a:r>
              <a:rPr lang="en-US" sz="24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A.C. equivalent circuit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get the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equivalent circuit, we can reduce both supply voltages to zero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we ground each supply point. Replacing the transistors by their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equivalent circuits,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get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equivalent circuit of differential amplifier for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commom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-mode operation as shown in Fig. 25.35 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058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061" y="180304"/>
            <a:ext cx="11809927" cy="6478073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2200" b="1" dirty="0">
                <a:solidFill>
                  <a:srgbClr val="ED18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A.C. equivalent circuit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40" y="5274457"/>
            <a:ext cx="8269369" cy="9880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40" y="694662"/>
            <a:ext cx="6279928" cy="335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53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1" y="154546"/>
            <a:ext cx="11874321" cy="6606862"/>
          </a:xfrm>
        </p:spPr>
        <p:txBody>
          <a:bodyPr/>
          <a:lstStyle/>
          <a:p>
            <a:pPr marL="0" indent="0">
              <a:buNone/>
            </a:pPr>
            <a:endParaRPr lang="en-US" b="1" dirty="0">
              <a:solidFill>
                <a:srgbClr val="ED1846"/>
              </a:solidFill>
              <a:latin typeface="TimesNewRoman"/>
            </a:endParaRPr>
          </a:p>
          <a:p>
            <a:pPr marL="0" indent="0">
              <a:buNone/>
            </a:pPr>
            <a:endParaRPr lang="en-US" b="1" dirty="0">
              <a:solidFill>
                <a:srgbClr val="ED1846"/>
              </a:solidFill>
              <a:latin typeface="TimesNewRoman"/>
            </a:endParaRPr>
          </a:p>
          <a:p>
            <a:pPr marL="0" indent="0">
              <a:buNone/>
            </a:pPr>
            <a:endParaRPr lang="en-US" b="1" dirty="0">
              <a:solidFill>
                <a:srgbClr val="ED1846"/>
              </a:solidFill>
              <a:latin typeface="TimesNewRoman"/>
            </a:endParaRPr>
          </a:p>
          <a:p>
            <a:pPr marL="0" indent="0">
              <a:buNone/>
            </a:pPr>
            <a:endParaRPr lang="en-US" b="1" dirty="0">
              <a:solidFill>
                <a:srgbClr val="ED1846"/>
              </a:solidFill>
              <a:latin typeface="TimesNewRoman"/>
            </a:endParaRPr>
          </a:p>
          <a:p>
            <a:pPr marL="0" indent="0">
              <a:buNone/>
            </a:pPr>
            <a:endParaRPr lang="en-US" b="1" dirty="0">
              <a:solidFill>
                <a:srgbClr val="ED1846"/>
              </a:solidFill>
              <a:latin typeface="TimesNewRoman"/>
            </a:endParaRPr>
          </a:p>
          <a:p>
            <a:pPr marL="0" indent="0">
              <a:buNone/>
            </a:pPr>
            <a:endParaRPr lang="en-US" b="1" dirty="0">
              <a:solidFill>
                <a:srgbClr val="ED1846"/>
              </a:solidFill>
              <a:latin typeface="TimesNewRoman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ED1846"/>
                </a:solidFill>
                <a:latin typeface="TimesNewRoman"/>
              </a:rPr>
              <a:t>Example 2 </a:t>
            </a:r>
            <a:r>
              <a:rPr lang="en-US" sz="2000" dirty="0">
                <a:solidFill>
                  <a:srgbClr val="231F20"/>
                </a:solidFill>
                <a:latin typeface="TimesNewRoman"/>
              </a:rPr>
              <a:t>Calculate the CMRR for the circuit measurements shown in Fig. 25.36.</a:t>
            </a: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NewRoman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217" y="154546"/>
            <a:ext cx="8960580" cy="27277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167" y="3734873"/>
            <a:ext cx="7867683" cy="254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73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54546"/>
            <a:ext cx="11732653" cy="647807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the important properties common to all operational amplifiers (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-amps):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operational amplifier is a multistage amplifier. The input stage of an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-amp is a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amplifier stage.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inverting input and a noninverting input.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high input impedance (usually assumed infinite) at both inputs.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low output impedance (&lt; 200 Ω).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large open-loop voltage gain, typically 105.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voltage gain remains constant over a wide frequency range.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large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CMRR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(&gt; 90 dB).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345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80304"/>
            <a:ext cx="11681138" cy="6677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HW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differential amplifier shown in Fig. 25.14 has a differential voltage gain of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2500 and a CMRR of 30,000. A single-ended input signal of 500 µV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r.m.s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is applied. At the same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time, 1V, 50 Hz interference signal appears on both inputs as a result of radiated pick-up from the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power system.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Determine the common-mode gain.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(ii) Express the CMRR in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(iii) Determine the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r.m.s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output signal.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(iv) Determine the </a:t>
            </a:r>
            <a:r>
              <a:rPr lang="en-US" sz="24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r.m.s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interference voltage on the output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482" y="4293704"/>
            <a:ext cx="4202046" cy="211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13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998</TotalTime>
  <Words>3573</Words>
  <Application>Microsoft Office PowerPoint</Application>
  <PresentationFormat>Widescreen</PresentationFormat>
  <Paragraphs>244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ArialBlack</vt:lpstr>
      <vt:lpstr>Calibri</vt:lpstr>
      <vt:lpstr>Calibri Light</vt:lpstr>
      <vt:lpstr>Times New Roman</vt:lpstr>
      <vt:lpstr>TimesNewRoman</vt:lpstr>
      <vt:lpstr>Wingdings</vt:lpstr>
      <vt:lpstr>Office Theme</vt:lpstr>
      <vt:lpstr>Operational Amplifier</vt:lpstr>
      <vt:lpstr>PowerPoint Presentation</vt:lpstr>
      <vt:lpstr>PowerPoint Presentation</vt:lpstr>
      <vt:lpstr>  Differential Amplifier (DA)  </vt:lpstr>
      <vt:lpstr>PowerPoint Presentation</vt:lpstr>
      <vt:lpstr>Basic Circuit of Differential Amplifier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A.C. Analysis of Differential Amplifier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NINGULWAS</dc:creator>
  <cp:lastModifiedBy>NINGULWAS</cp:lastModifiedBy>
  <cp:revision>131</cp:revision>
  <dcterms:created xsi:type="dcterms:W3CDTF">2020-12-03T08:30:03Z</dcterms:created>
  <dcterms:modified xsi:type="dcterms:W3CDTF">2021-11-10T06:42:41Z</dcterms:modified>
</cp:coreProperties>
</file>