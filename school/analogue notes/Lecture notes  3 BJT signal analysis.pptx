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7" r:id="rId1"/>
  </p:sldMasterIdLst>
  <p:sldIdLst>
    <p:sldId id="256" r:id="rId2"/>
    <p:sldId id="257" r:id="rId3"/>
    <p:sldId id="258" r:id="rId4"/>
    <p:sldId id="259" r:id="rId5"/>
    <p:sldId id="260" r:id="rId6"/>
    <p:sldId id="261" r:id="rId7"/>
    <p:sldId id="262" r:id="rId8"/>
    <p:sldId id="264" r:id="rId9"/>
    <p:sldId id="265" r:id="rId10"/>
    <p:sldId id="266" r:id="rId11"/>
    <p:sldId id="263" r:id="rId12"/>
    <p:sldId id="267" r:id="rId13"/>
    <p:sldId id="268" r:id="rId14"/>
    <p:sldId id="269" r:id="rId15"/>
    <p:sldId id="270" r:id="rId16"/>
    <p:sldId id="271" r:id="rId17"/>
    <p:sldId id="273" r:id="rId18"/>
    <p:sldId id="274" r:id="rId19"/>
    <p:sldId id="275" r:id="rId20"/>
    <p:sldId id="272"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9"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31B4F0-7A0D-4E4A-BCA6-088382004B89}" type="datetimeFigureOut">
              <a:rPr lang="en-US" smtClean="0"/>
              <a:t>11/22/2021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582963-0B9D-49E4-B904-CE07A9BA15DA}" type="slidenum">
              <a:rPr lang="en-US" smtClean="0"/>
              <a:t>‹#›</a:t>
            </a:fld>
            <a:endParaRPr lang="en-US"/>
          </a:p>
        </p:txBody>
      </p:sp>
    </p:spTree>
    <p:extLst>
      <p:ext uri="{BB962C8B-B14F-4D97-AF65-F5344CB8AC3E}">
        <p14:creationId xmlns:p14="http://schemas.microsoft.com/office/powerpoint/2010/main" val="17417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31B4F0-7A0D-4E4A-BCA6-088382004B89}" type="datetimeFigureOut">
              <a:rPr lang="en-US" smtClean="0"/>
              <a:t>11/22/2021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582963-0B9D-49E4-B904-CE07A9BA15DA}" type="slidenum">
              <a:rPr lang="en-US" smtClean="0"/>
              <a:t>‹#›</a:t>
            </a:fld>
            <a:endParaRPr lang="en-US"/>
          </a:p>
        </p:txBody>
      </p:sp>
    </p:spTree>
    <p:extLst>
      <p:ext uri="{BB962C8B-B14F-4D97-AF65-F5344CB8AC3E}">
        <p14:creationId xmlns:p14="http://schemas.microsoft.com/office/powerpoint/2010/main" val="2685817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431B4F0-7A0D-4E4A-BCA6-088382004B89}" type="datetimeFigureOut">
              <a:rPr lang="en-US" smtClean="0"/>
              <a:t>11/22/2021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582963-0B9D-49E4-B904-CE07A9BA15DA}" type="slidenum">
              <a:rPr lang="en-US" smtClean="0"/>
              <a:t>‹#›</a:t>
            </a:fld>
            <a:endParaRPr lang="en-US"/>
          </a:p>
        </p:txBody>
      </p:sp>
    </p:spTree>
    <p:extLst>
      <p:ext uri="{BB962C8B-B14F-4D97-AF65-F5344CB8AC3E}">
        <p14:creationId xmlns:p14="http://schemas.microsoft.com/office/powerpoint/2010/main" val="709971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31B4F0-7A0D-4E4A-BCA6-088382004B89}" type="datetimeFigureOut">
              <a:rPr lang="en-US" smtClean="0"/>
              <a:t>11/22/2021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582963-0B9D-49E4-B904-CE07A9BA15DA}" type="slidenum">
              <a:rPr lang="en-US" smtClean="0"/>
              <a:t>‹#›</a:t>
            </a:fld>
            <a:endParaRPr lang="en-US"/>
          </a:p>
        </p:txBody>
      </p:sp>
    </p:spTree>
    <p:extLst>
      <p:ext uri="{BB962C8B-B14F-4D97-AF65-F5344CB8AC3E}">
        <p14:creationId xmlns:p14="http://schemas.microsoft.com/office/powerpoint/2010/main" val="3003516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31B4F0-7A0D-4E4A-BCA6-088382004B89}" type="datetimeFigureOut">
              <a:rPr lang="en-US" smtClean="0"/>
              <a:t>11/22/2021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3582963-0B9D-49E4-B904-CE07A9BA15DA}" type="slidenum">
              <a:rPr lang="en-US" smtClean="0"/>
              <a:t>‹#›</a:t>
            </a:fld>
            <a:endParaRPr lang="en-US"/>
          </a:p>
        </p:txBody>
      </p:sp>
    </p:spTree>
    <p:extLst>
      <p:ext uri="{BB962C8B-B14F-4D97-AF65-F5344CB8AC3E}">
        <p14:creationId xmlns:p14="http://schemas.microsoft.com/office/powerpoint/2010/main" val="1475722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31B4F0-7A0D-4E4A-BCA6-088382004B89}" type="datetimeFigureOut">
              <a:rPr lang="en-US" smtClean="0"/>
              <a:t>11/22/2021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3582963-0B9D-49E4-B904-CE07A9BA15DA}" type="slidenum">
              <a:rPr lang="en-US" smtClean="0"/>
              <a:t>‹#›</a:t>
            </a:fld>
            <a:endParaRPr lang="en-US"/>
          </a:p>
        </p:txBody>
      </p:sp>
    </p:spTree>
    <p:extLst>
      <p:ext uri="{BB962C8B-B14F-4D97-AF65-F5344CB8AC3E}">
        <p14:creationId xmlns:p14="http://schemas.microsoft.com/office/powerpoint/2010/main" val="133451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31B4F0-7A0D-4E4A-BCA6-088382004B89}" type="datetimeFigureOut">
              <a:rPr lang="en-US" smtClean="0"/>
              <a:t>11/22/2021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3582963-0B9D-49E4-B904-CE07A9BA15DA}" type="slidenum">
              <a:rPr lang="en-US" smtClean="0"/>
              <a:t>‹#›</a:t>
            </a:fld>
            <a:endParaRPr lang="en-US"/>
          </a:p>
        </p:txBody>
      </p:sp>
    </p:spTree>
    <p:extLst>
      <p:ext uri="{BB962C8B-B14F-4D97-AF65-F5344CB8AC3E}">
        <p14:creationId xmlns:p14="http://schemas.microsoft.com/office/powerpoint/2010/main" val="1140349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431B4F0-7A0D-4E4A-BCA6-088382004B89}" type="datetimeFigureOut">
              <a:rPr lang="en-US" smtClean="0"/>
              <a:t>11/22/2021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582963-0B9D-49E4-B904-CE07A9BA15DA}" type="slidenum">
              <a:rPr lang="en-US" smtClean="0"/>
              <a:t>‹#›</a:t>
            </a:fld>
            <a:endParaRPr lang="en-US"/>
          </a:p>
        </p:txBody>
      </p:sp>
    </p:spTree>
    <p:extLst>
      <p:ext uri="{BB962C8B-B14F-4D97-AF65-F5344CB8AC3E}">
        <p14:creationId xmlns:p14="http://schemas.microsoft.com/office/powerpoint/2010/main" val="198905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431B4F0-7A0D-4E4A-BCA6-088382004B89}" type="datetimeFigureOut">
              <a:rPr lang="en-US" smtClean="0"/>
              <a:t>11/22/2021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582963-0B9D-49E4-B904-CE07A9BA15DA}" type="slidenum">
              <a:rPr lang="en-US" smtClean="0"/>
              <a:t>‹#›</a:t>
            </a:fld>
            <a:endParaRPr lang="en-US"/>
          </a:p>
        </p:txBody>
      </p:sp>
    </p:spTree>
    <p:extLst>
      <p:ext uri="{BB962C8B-B14F-4D97-AF65-F5344CB8AC3E}">
        <p14:creationId xmlns:p14="http://schemas.microsoft.com/office/powerpoint/2010/main" val="127323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31B4F0-7A0D-4E4A-BCA6-088382004B89}" type="datetimeFigureOut">
              <a:rPr lang="en-US" smtClean="0"/>
              <a:t>11/22/2021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582963-0B9D-49E4-B904-CE07A9BA15DA}" type="slidenum">
              <a:rPr lang="en-US" smtClean="0"/>
              <a:t>‹#›</a:t>
            </a:fld>
            <a:endParaRPr lang="en-US"/>
          </a:p>
        </p:txBody>
      </p:sp>
    </p:spTree>
    <p:extLst>
      <p:ext uri="{BB962C8B-B14F-4D97-AF65-F5344CB8AC3E}">
        <p14:creationId xmlns:p14="http://schemas.microsoft.com/office/powerpoint/2010/main" val="100664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31B4F0-7A0D-4E4A-BCA6-088382004B89}" type="datetimeFigureOut">
              <a:rPr lang="en-US" smtClean="0"/>
              <a:t>11/22/2021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582963-0B9D-49E4-B904-CE07A9BA15DA}" type="slidenum">
              <a:rPr lang="en-US" smtClean="0"/>
              <a:t>‹#›</a:t>
            </a:fld>
            <a:endParaRPr lang="en-US"/>
          </a:p>
        </p:txBody>
      </p:sp>
    </p:spTree>
    <p:extLst>
      <p:ext uri="{BB962C8B-B14F-4D97-AF65-F5344CB8AC3E}">
        <p14:creationId xmlns:p14="http://schemas.microsoft.com/office/powerpoint/2010/main" val="1869304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31B4F0-7A0D-4E4A-BCA6-088382004B89}" type="datetimeFigureOut">
              <a:rPr lang="en-US" smtClean="0"/>
              <a:t>11/22/2021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582963-0B9D-49E4-B904-CE07A9BA15DA}" type="slidenum">
              <a:rPr lang="en-US" smtClean="0"/>
              <a:t>‹#›</a:t>
            </a:fld>
            <a:endParaRPr lang="en-US"/>
          </a:p>
        </p:txBody>
      </p:sp>
    </p:spTree>
    <p:extLst>
      <p:ext uri="{BB962C8B-B14F-4D97-AF65-F5344CB8AC3E}">
        <p14:creationId xmlns:p14="http://schemas.microsoft.com/office/powerpoint/2010/main" val="2815825982"/>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3.xml"/><Relationship Id="rId5" Type="http://schemas.openxmlformats.org/officeDocument/2006/relationships/image" Target="../media/image52.png"/><Relationship Id="rId4" Type="http://schemas.openxmlformats.org/officeDocument/2006/relationships/image" Target="../media/image51.png"/></Relationships>
</file>

<file path=ppt/slides/_rels/slide3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a:solidFill>
                  <a:srgbClr val="000000"/>
                </a:solidFill>
                <a:latin typeface="Berkeley-Bold"/>
              </a:rPr>
              <a:t>Small-Signal Analysis</a:t>
            </a:r>
            <a:r>
              <a:rPr lang="en-US" dirty="0"/>
              <a:t> </a:t>
            </a:r>
            <a:br>
              <a:rPr lang="en-US" dirty="0"/>
            </a:br>
            <a:br>
              <a:rPr lang="en-US" dirty="0"/>
            </a:br>
            <a:endParaRPr lang="en-US" dirty="0"/>
          </a:p>
        </p:txBody>
      </p:sp>
      <p:sp>
        <p:nvSpPr>
          <p:cNvPr id="4" name="Subtitle 3"/>
          <p:cNvSpPr>
            <a:spLocks noGrp="1"/>
          </p:cNvSpPr>
          <p:nvPr>
            <p:ph type="subTitle" idx="1"/>
          </p:nvPr>
        </p:nvSpPr>
        <p:spPr>
          <a:xfrm>
            <a:off x="1524000" y="3301592"/>
            <a:ext cx="9144000" cy="1655762"/>
          </a:xfrm>
        </p:spPr>
        <p:txBody>
          <a:bodyPr/>
          <a:lstStyle/>
          <a:p>
            <a:r>
              <a:rPr lang="en-US" sz="5400" b="1" dirty="0">
                <a:solidFill>
                  <a:srgbClr val="000000"/>
                </a:solidFill>
                <a:latin typeface="Berkeley-Bold"/>
                <a:ea typeface="+mj-ea"/>
                <a:cs typeface="+mj-cs"/>
              </a:rPr>
              <a:t>BJT</a:t>
            </a:r>
            <a:endParaRPr lang="en-US" dirty="0"/>
          </a:p>
        </p:txBody>
      </p:sp>
    </p:spTree>
    <p:extLst>
      <p:ext uri="{BB962C8B-B14F-4D97-AF65-F5344CB8AC3E}">
        <p14:creationId xmlns:p14="http://schemas.microsoft.com/office/powerpoint/2010/main" val="3502355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3840" y="182880"/>
            <a:ext cx="11780520" cy="6431280"/>
          </a:xfrm>
        </p:spPr>
        <p:txBody>
          <a:bodyPr>
            <a:normAutofit lnSpcReduction="10000"/>
          </a:bodyPr>
          <a:lstStyle/>
          <a:p>
            <a:pPr marL="0" indent="0">
              <a:buNone/>
            </a:pPr>
            <a:r>
              <a:rPr lang="en-US" dirty="0">
                <a:solidFill>
                  <a:srgbClr val="000000"/>
                </a:solidFill>
                <a:latin typeface="Times-Roman"/>
              </a:rPr>
              <a:t>The transistor models are used to perform a small signal ac analysis of a number of standard transistor network configurations</a:t>
            </a:r>
            <a:r>
              <a:rPr lang="en-US" dirty="0"/>
              <a:t> </a:t>
            </a:r>
          </a:p>
          <a:p>
            <a:pPr marL="0" indent="0">
              <a:buNone/>
            </a:pPr>
            <a:br>
              <a:rPr lang="en-US" dirty="0"/>
            </a:br>
            <a:r>
              <a:rPr lang="en-US" b="1" dirty="0">
                <a:solidFill>
                  <a:srgbClr val="00A9EC"/>
                </a:solidFill>
                <a:latin typeface="Berkeley-Black"/>
              </a:rPr>
              <a:t>COMMON-EMITTER FIXED-BIAS CONFIGURATION</a:t>
            </a:r>
            <a:r>
              <a:rPr lang="en-US" dirty="0"/>
              <a:t>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br>
              <a:rPr lang="en-US" dirty="0"/>
            </a:br>
            <a:r>
              <a:rPr lang="en-US" dirty="0"/>
              <a:t>Note </a:t>
            </a:r>
          </a:p>
          <a:p>
            <a:pPr marL="0" indent="0">
              <a:buNone/>
            </a:pPr>
            <a:r>
              <a:rPr lang="en-US" dirty="0"/>
              <a:t>Input signal </a:t>
            </a:r>
            <a:r>
              <a:rPr lang="en-US" b="1" dirty="0"/>
              <a:t>Vi </a:t>
            </a:r>
            <a:r>
              <a:rPr lang="en-US" dirty="0"/>
              <a:t>is applied to the </a:t>
            </a:r>
            <a:r>
              <a:rPr lang="en-US" b="1" dirty="0"/>
              <a:t>base </a:t>
            </a:r>
            <a:r>
              <a:rPr lang="en-US" dirty="0"/>
              <a:t>of the transistor while the output </a:t>
            </a:r>
            <a:r>
              <a:rPr lang="en-US" b="1" dirty="0"/>
              <a:t>Vo</a:t>
            </a:r>
            <a:r>
              <a:rPr lang="en-US" dirty="0"/>
              <a:t> is off the collector. </a:t>
            </a:r>
          </a:p>
          <a:p>
            <a:pPr marL="0" indent="0">
              <a:buNone/>
            </a:pPr>
            <a:r>
              <a:rPr lang="en-US" dirty="0"/>
              <a:t>Input current Ii is not the base current but the source current, while the output current Io is the collector current.</a:t>
            </a:r>
          </a:p>
        </p:txBody>
      </p:sp>
      <p:pic>
        <p:nvPicPr>
          <p:cNvPr id="4" name="Picture 3"/>
          <p:cNvPicPr>
            <a:picLocks noChangeAspect="1"/>
          </p:cNvPicPr>
          <p:nvPr/>
        </p:nvPicPr>
        <p:blipFill>
          <a:blip r:embed="rId2"/>
          <a:stretch>
            <a:fillRect/>
          </a:stretch>
        </p:blipFill>
        <p:spPr>
          <a:xfrm>
            <a:off x="4643437" y="1774814"/>
            <a:ext cx="3784283" cy="3247412"/>
          </a:xfrm>
          <a:prstGeom prst="rect">
            <a:avLst/>
          </a:prstGeom>
        </p:spPr>
      </p:pic>
    </p:spTree>
    <p:extLst>
      <p:ext uri="{BB962C8B-B14F-4D97-AF65-F5344CB8AC3E}">
        <p14:creationId xmlns:p14="http://schemas.microsoft.com/office/powerpoint/2010/main" val="2065961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21920"/>
            <a:ext cx="11902440" cy="6568440"/>
          </a:xfrm>
        </p:spPr>
        <p:txBody>
          <a:bodyPr/>
          <a:lstStyle/>
          <a:p>
            <a:pPr marL="0" indent="0">
              <a:buNone/>
            </a:pPr>
            <a:r>
              <a:rPr lang="en-US" b="1" dirty="0"/>
              <a:t>The small-signal ac analysis begins by:</a:t>
            </a:r>
          </a:p>
          <a:p>
            <a:r>
              <a:rPr lang="en-US" dirty="0"/>
              <a:t>removing the dc effects of VCC</a:t>
            </a:r>
          </a:p>
          <a:p>
            <a:r>
              <a:rPr lang="en-US" dirty="0"/>
              <a:t>replacing the dc blocking capacitors C1 and C2 by short-circuit equivalents, resulting in the network of figure below</a:t>
            </a:r>
          </a:p>
          <a:p>
            <a:endParaRPr lang="en-US" dirty="0"/>
          </a:p>
          <a:p>
            <a:endParaRPr lang="en-US" dirty="0"/>
          </a:p>
          <a:p>
            <a:endParaRPr lang="en-US" dirty="0"/>
          </a:p>
          <a:p>
            <a:r>
              <a:rPr lang="en-US" dirty="0"/>
              <a:t>                                                                    =</a:t>
            </a:r>
          </a:p>
          <a:p>
            <a:endParaRPr lang="en-US" dirty="0"/>
          </a:p>
        </p:txBody>
      </p:sp>
      <p:pic>
        <p:nvPicPr>
          <p:cNvPr id="4" name="Picture 3"/>
          <p:cNvPicPr>
            <a:picLocks noChangeAspect="1"/>
          </p:cNvPicPr>
          <p:nvPr/>
        </p:nvPicPr>
        <p:blipFill>
          <a:blip r:embed="rId2"/>
          <a:stretch>
            <a:fillRect/>
          </a:stretch>
        </p:blipFill>
        <p:spPr>
          <a:xfrm>
            <a:off x="795338" y="2669486"/>
            <a:ext cx="5069205" cy="2849115"/>
          </a:xfrm>
          <a:prstGeom prst="rect">
            <a:avLst/>
          </a:prstGeom>
        </p:spPr>
      </p:pic>
      <p:pic>
        <p:nvPicPr>
          <p:cNvPr id="5" name="Picture 4"/>
          <p:cNvPicPr>
            <a:picLocks noChangeAspect="1"/>
          </p:cNvPicPr>
          <p:nvPr/>
        </p:nvPicPr>
        <p:blipFill>
          <a:blip r:embed="rId3"/>
          <a:stretch>
            <a:fillRect/>
          </a:stretch>
        </p:blipFill>
        <p:spPr>
          <a:xfrm>
            <a:off x="6507481" y="2669486"/>
            <a:ext cx="5129570" cy="2451535"/>
          </a:xfrm>
          <a:prstGeom prst="rect">
            <a:avLst/>
          </a:prstGeom>
        </p:spPr>
      </p:pic>
    </p:spTree>
    <p:extLst>
      <p:ext uri="{BB962C8B-B14F-4D97-AF65-F5344CB8AC3E}">
        <p14:creationId xmlns:p14="http://schemas.microsoft.com/office/powerpoint/2010/main" val="2780727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37160"/>
            <a:ext cx="11917680" cy="6537960"/>
          </a:xfrm>
        </p:spPr>
        <p:txBody>
          <a:bodyPr/>
          <a:lstStyle/>
          <a:p>
            <a:pPr marL="0" indent="0" algn="just">
              <a:buNone/>
            </a:pPr>
            <a:r>
              <a:rPr lang="en-US" dirty="0"/>
              <a:t>The next step is to determine </a:t>
            </a:r>
            <a:r>
              <a:rPr lang="el-GR" dirty="0"/>
              <a:t>β</a:t>
            </a:r>
            <a:r>
              <a:rPr lang="en-US" dirty="0"/>
              <a:t>, re, and ro. </a:t>
            </a:r>
          </a:p>
          <a:p>
            <a:pPr algn="just">
              <a:buFont typeface="Wingdings" panose="05000000000000000000" pitchFamily="2" charset="2"/>
              <a:buChar char="Ø"/>
            </a:pPr>
            <a:r>
              <a:rPr lang="en-US" dirty="0"/>
              <a:t>The magnitude of </a:t>
            </a:r>
            <a:r>
              <a:rPr lang="el-GR" dirty="0"/>
              <a:t>β</a:t>
            </a:r>
            <a:r>
              <a:rPr lang="en-US" dirty="0"/>
              <a:t> is typically obtained from a specification sheet or by direct measurement using a curve tracer or transistor testing instrument. </a:t>
            </a:r>
          </a:p>
          <a:p>
            <a:pPr algn="just">
              <a:buFont typeface="Wingdings" panose="05000000000000000000" pitchFamily="2" charset="2"/>
              <a:buChar char="Ø"/>
            </a:pPr>
            <a:r>
              <a:rPr lang="en-US" dirty="0"/>
              <a:t>The value of re must be determined from a dc analysis of the system, and </a:t>
            </a:r>
          </a:p>
          <a:p>
            <a:pPr algn="just">
              <a:buFont typeface="Wingdings" panose="05000000000000000000" pitchFamily="2" charset="2"/>
              <a:buChar char="Ø"/>
            </a:pPr>
            <a:r>
              <a:rPr lang="en-US" dirty="0"/>
              <a:t>the magnitude of </a:t>
            </a:r>
            <a:r>
              <a:rPr lang="en-US" dirty="0" err="1"/>
              <a:t>ro</a:t>
            </a:r>
            <a:r>
              <a:rPr lang="en-US" dirty="0"/>
              <a:t> is typically obtained from the specification sheet or characteristics. </a:t>
            </a:r>
          </a:p>
          <a:p>
            <a:pPr marL="0" indent="0" algn="just">
              <a:buNone/>
            </a:pPr>
            <a:r>
              <a:rPr lang="en-US" dirty="0"/>
              <a:t>Hence;</a:t>
            </a:r>
          </a:p>
          <a:p>
            <a:pPr marL="0" indent="0" algn="just">
              <a:buNone/>
            </a:pPr>
            <a:r>
              <a:rPr lang="en-US" dirty="0"/>
              <a:t>Input impedance </a:t>
            </a:r>
            <a:r>
              <a:rPr lang="en-US" dirty="0" err="1"/>
              <a:t>Zi</a:t>
            </a:r>
            <a:r>
              <a:rPr lang="en-US" dirty="0"/>
              <a:t> is given by; </a:t>
            </a:r>
          </a:p>
          <a:p>
            <a:pPr marL="0" indent="0" algn="just">
              <a:buNone/>
            </a:pPr>
            <a:endParaRPr lang="en-US" dirty="0"/>
          </a:p>
          <a:p>
            <a:pPr marL="0" indent="0" algn="just">
              <a:buNone/>
            </a:pPr>
            <a:r>
              <a:rPr lang="en-US" dirty="0"/>
              <a:t>For the majority of situations RB is greater than </a:t>
            </a:r>
            <a:r>
              <a:rPr lang="el-GR" dirty="0"/>
              <a:t>β</a:t>
            </a:r>
            <a:r>
              <a:rPr lang="en-US" dirty="0"/>
              <a:t>re by more than a factor of 10 thus;</a:t>
            </a:r>
          </a:p>
          <a:p>
            <a:pPr marL="0" indent="0" algn="just">
              <a:buNone/>
            </a:pPr>
            <a:endParaRPr lang="en-US" dirty="0"/>
          </a:p>
        </p:txBody>
      </p:sp>
      <p:pic>
        <p:nvPicPr>
          <p:cNvPr id="4" name="Picture 3"/>
          <p:cNvPicPr>
            <a:picLocks noChangeAspect="1"/>
          </p:cNvPicPr>
          <p:nvPr/>
        </p:nvPicPr>
        <p:blipFill>
          <a:blip r:embed="rId2"/>
          <a:stretch>
            <a:fillRect/>
          </a:stretch>
        </p:blipFill>
        <p:spPr>
          <a:xfrm>
            <a:off x="5141277" y="3200400"/>
            <a:ext cx="3636646" cy="1051560"/>
          </a:xfrm>
          <a:prstGeom prst="rect">
            <a:avLst/>
          </a:prstGeom>
        </p:spPr>
      </p:pic>
      <p:pic>
        <p:nvPicPr>
          <p:cNvPr id="5" name="Picture 4"/>
          <p:cNvPicPr>
            <a:picLocks noChangeAspect="1"/>
          </p:cNvPicPr>
          <p:nvPr/>
        </p:nvPicPr>
        <p:blipFill>
          <a:blip r:embed="rId3"/>
          <a:stretch>
            <a:fillRect/>
          </a:stretch>
        </p:blipFill>
        <p:spPr>
          <a:xfrm>
            <a:off x="2468879" y="5210416"/>
            <a:ext cx="6097937" cy="1144664"/>
          </a:xfrm>
          <a:prstGeom prst="rect">
            <a:avLst/>
          </a:prstGeom>
        </p:spPr>
      </p:pic>
    </p:spTree>
    <p:extLst>
      <p:ext uri="{BB962C8B-B14F-4D97-AF65-F5344CB8AC3E}">
        <p14:creationId xmlns:p14="http://schemas.microsoft.com/office/powerpoint/2010/main" val="916820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3360" y="167640"/>
            <a:ext cx="11811000" cy="6400800"/>
          </a:xfrm>
        </p:spPr>
        <p:txBody>
          <a:bodyPr/>
          <a:lstStyle/>
          <a:p>
            <a:pPr marL="0" indent="0">
              <a:buNone/>
            </a:pPr>
            <a:r>
              <a:rPr lang="en-US" b="1" dirty="0"/>
              <a:t>Output impedance Zo;</a:t>
            </a:r>
          </a:p>
          <a:p>
            <a:pPr marL="0" indent="0">
              <a:buNone/>
            </a:pPr>
            <a:r>
              <a:rPr lang="en-US" dirty="0"/>
              <a:t>The output impedance of any system is defined as the impedance Zo</a:t>
            </a:r>
          </a:p>
          <a:p>
            <a:pPr marL="0" indent="0">
              <a:buNone/>
            </a:pPr>
            <a:r>
              <a:rPr lang="en-US" dirty="0"/>
              <a:t>determined when Vi = 0. For Figure (a), when Vi = 0, Ii = </a:t>
            </a:r>
            <a:r>
              <a:rPr lang="en-US" dirty="0" err="1"/>
              <a:t>Ib</a:t>
            </a:r>
            <a:r>
              <a:rPr lang="en-US" dirty="0"/>
              <a:t> = 0, resulting in an open-circuit equivalence for the current source. The result is the configuration of figure (b)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(a)                                                                       (b)</a:t>
            </a:r>
          </a:p>
          <a:p>
            <a:pPr marL="0" indent="0">
              <a:buNone/>
            </a:pPr>
            <a:endParaRPr lang="en-US" dirty="0"/>
          </a:p>
        </p:txBody>
      </p:sp>
      <p:pic>
        <p:nvPicPr>
          <p:cNvPr id="4" name="Picture 3"/>
          <p:cNvPicPr>
            <a:picLocks noChangeAspect="1"/>
          </p:cNvPicPr>
          <p:nvPr/>
        </p:nvPicPr>
        <p:blipFill>
          <a:blip r:embed="rId2"/>
          <a:stretch>
            <a:fillRect/>
          </a:stretch>
        </p:blipFill>
        <p:spPr>
          <a:xfrm>
            <a:off x="7040880" y="2531803"/>
            <a:ext cx="4265195" cy="2795064"/>
          </a:xfrm>
          <a:prstGeom prst="rect">
            <a:avLst/>
          </a:prstGeom>
        </p:spPr>
      </p:pic>
      <p:pic>
        <p:nvPicPr>
          <p:cNvPr id="5" name="Picture 4"/>
          <p:cNvPicPr>
            <a:picLocks noChangeAspect="1"/>
          </p:cNvPicPr>
          <p:nvPr/>
        </p:nvPicPr>
        <p:blipFill>
          <a:blip r:embed="rId3"/>
          <a:stretch>
            <a:fillRect/>
          </a:stretch>
        </p:blipFill>
        <p:spPr>
          <a:xfrm>
            <a:off x="350519" y="2418863"/>
            <a:ext cx="6083661" cy="2908004"/>
          </a:xfrm>
          <a:prstGeom prst="rect">
            <a:avLst/>
          </a:prstGeom>
        </p:spPr>
      </p:pic>
    </p:spTree>
    <p:extLst>
      <p:ext uri="{BB962C8B-B14F-4D97-AF65-F5344CB8AC3E}">
        <p14:creationId xmlns:p14="http://schemas.microsoft.com/office/powerpoint/2010/main" val="1475495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59080"/>
            <a:ext cx="11917680" cy="6370320"/>
          </a:xfrm>
        </p:spPr>
        <p:txBody>
          <a:bodyPr/>
          <a:lstStyle/>
          <a:p>
            <a:pPr marL="0" indent="0">
              <a:buNone/>
            </a:pPr>
            <a:r>
              <a:rPr lang="en-US" dirty="0"/>
              <a:t>Hence;</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sz="2400" dirty="0">
                <a:latin typeface="Times New Roman" panose="02020603050405020304" pitchFamily="18" charset="0"/>
                <a:cs typeface="Times New Roman" panose="02020603050405020304" pitchFamily="18" charset="0"/>
              </a:rPr>
              <a:t>Voltage gain Av</a:t>
            </a:r>
          </a:p>
          <a:p>
            <a:pPr marL="0" indent="0">
              <a:buNone/>
            </a:pPr>
            <a:r>
              <a:rPr lang="en-US" sz="2400" dirty="0">
                <a:latin typeface="Times New Roman" panose="02020603050405020304" pitchFamily="18" charset="0"/>
                <a:cs typeface="Times New Roman" panose="02020603050405020304" pitchFamily="18" charset="0"/>
              </a:rPr>
              <a:t>Since the resistors </a:t>
            </a:r>
            <a:r>
              <a:rPr lang="en-US" sz="2400" dirty="0" err="1">
                <a:latin typeface="Times New Roman" panose="02020603050405020304" pitchFamily="18" charset="0"/>
                <a:cs typeface="Times New Roman" panose="02020603050405020304" pitchFamily="18" charset="0"/>
              </a:rPr>
              <a:t>ro</a:t>
            </a:r>
            <a:r>
              <a:rPr lang="en-US" sz="2400" dirty="0">
                <a:latin typeface="Times New Roman" panose="02020603050405020304" pitchFamily="18" charset="0"/>
                <a:cs typeface="Times New Roman" panose="02020603050405020304" pitchFamily="18" charset="0"/>
              </a:rPr>
              <a:t> and RC are in parallel,</a:t>
            </a:r>
          </a:p>
          <a:p>
            <a:pPr marL="0" indent="0">
              <a:buNone/>
            </a:pPr>
            <a:r>
              <a:rPr lang="en-US" sz="2400" dirty="0">
                <a:latin typeface="Times New Roman" panose="02020603050405020304" pitchFamily="18" charset="0"/>
                <a:cs typeface="Times New Roman" panose="02020603050405020304" pitchFamily="18" charset="0"/>
              </a:rPr>
              <a:t>Thus, </a:t>
            </a:r>
          </a:p>
        </p:txBody>
      </p:sp>
      <p:pic>
        <p:nvPicPr>
          <p:cNvPr id="4" name="Picture 3"/>
          <p:cNvPicPr>
            <a:picLocks noChangeAspect="1"/>
          </p:cNvPicPr>
          <p:nvPr/>
        </p:nvPicPr>
        <p:blipFill>
          <a:blip r:embed="rId2"/>
          <a:stretch>
            <a:fillRect/>
          </a:stretch>
        </p:blipFill>
        <p:spPr>
          <a:xfrm>
            <a:off x="1563052" y="753427"/>
            <a:ext cx="4497869" cy="1014413"/>
          </a:xfrm>
          <a:prstGeom prst="rect">
            <a:avLst/>
          </a:prstGeom>
        </p:spPr>
      </p:pic>
      <p:pic>
        <p:nvPicPr>
          <p:cNvPr id="7" name="Picture 6"/>
          <p:cNvPicPr>
            <a:picLocks noChangeAspect="1"/>
          </p:cNvPicPr>
          <p:nvPr/>
        </p:nvPicPr>
        <p:blipFill>
          <a:blip r:embed="rId3"/>
          <a:stretch>
            <a:fillRect/>
          </a:stretch>
        </p:blipFill>
        <p:spPr>
          <a:xfrm>
            <a:off x="1867852" y="5435111"/>
            <a:ext cx="2856548" cy="626598"/>
          </a:xfrm>
          <a:prstGeom prst="rect">
            <a:avLst/>
          </a:prstGeom>
        </p:spPr>
      </p:pic>
      <p:pic>
        <p:nvPicPr>
          <p:cNvPr id="5" name="Picture 4">
            <a:extLst>
              <a:ext uri="{FF2B5EF4-FFF2-40B4-BE49-F238E27FC236}">
                <a16:creationId xmlns:a16="http://schemas.microsoft.com/office/drawing/2014/main" id="{CB93ACAD-0F82-4A7C-9BB1-3D1F52DA54E2}"/>
              </a:ext>
            </a:extLst>
          </p:cNvPr>
          <p:cNvPicPr>
            <a:picLocks noChangeAspect="1"/>
          </p:cNvPicPr>
          <p:nvPr/>
        </p:nvPicPr>
        <p:blipFill>
          <a:blip r:embed="rId4"/>
          <a:stretch>
            <a:fillRect/>
          </a:stretch>
        </p:blipFill>
        <p:spPr>
          <a:xfrm>
            <a:off x="1118566" y="2262187"/>
            <a:ext cx="9239250" cy="1285875"/>
          </a:xfrm>
          <a:prstGeom prst="rect">
            <a:avLst/>
          </a:prstGeom>
        </p:spPr>
      </p:pic>
    </p:spTree>
    <p:extLst>
      <p:ext uri="{BB962C8B-B14F-4D97-AF65-F5344CB8AC3E}">
        <p14:creationId xmlns:p14="http://schemas.microsoft.com/office/powerpoint/2010/main" val="1295268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493519" y="556250"/>
            <a:ext cx="7945181" cy="5722630"/>
          </a:xfrm>
          <a:prstGeom prst="rect">
            <a:avLst/>
          </a:prstGeom>
        </p:spPr>
      </p:pic>
    </p:spTree>
    <p:extLst>
      <p:ext uri="{BB962C8B-B14F-4D97-AF65-F5344CB8AC3E}">
        <p14:creationId xmlns:p14="http://schemas.microsoft.com/office/powerpoint/2010/main" val="40866383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13360"/>
            <a:ext cx="11826240" cy="6522720"/>
          </a:xfrm>
        </p:spPr>
        <p:txBody>
          <a:bodyPr/>
          <a:lstStyle/>
          <a:p>
            <a:pPr marL="0" indent="0">
              <a:buNone/>
            </a:pPr>
            <a:r>
              <a:rPr lang="en-US" dirty="0">
                <a:latin typeface="Times New Roman" panose="02020603050405020304" pitchFamily="18" charset="0"/>
                <a:cs typeface="Times New Roman" panose="02020603050405020304" pitchFamily="18" charset="0"/>
              </a:rPr>
              <a:t>The current gain Ai: </a:t>
            </a:r>
          </a:p>
          <a:p>
            <a:pPr marL="0" indent="0">
              <a:buNone/>
            </a:pPr>
            <a:r>
              <a:rPr lang="en-US" dirty="0">
                <a:latin typeface="Times New Roman" panose="02020603050405020304" pitchFamily="18" charset="0"/>
                <a:cs typeface="Times New Roman" panose="02020603050405020304" pitchFamily="18" charset="0"/>
              </a:rPr>
              <a:t>Applying the current-divider rule to the input and output circuits,</a:t>
            </a:r>
          </a:p>
          <a:p>
            <a:pPr marL="0" indent="0">
              <a:buNone/>
            </a:pP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280160" y="1685121"/>
            <a:ext cx="8125987" cy="4822359"/>
          </a:xfrm>
          <a:prstGeom prst="rect">
            <a:avLst/>
          </a:prstGeom>
        </p:spPr>
      </p:pic>
    </p:spTree>
    <p:extLst>
      <p:ext uri="{BB962C8B-B14F-4D97-AF65-F5344CB8AC3E}">
        <p14:creationId xmlns:p14="http://schemas.microsoft.com/office/powerpoint/2010/main" val="1645872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idx="1"/>
          </p:nvPr>
        </p:nvSpPr>
        <p:spPr>
          <a:xfrm>
            <a:off x="213360" y="3337560"/>
            <a:ext cx="11765280" cy="3291839"/>
          </a:xfrm>
        </p:spPr>
        <p:txBody>
          <a:bodyPr/>
          <a:lstStyle/>
          <a:p>
            <a:r>
              <a:rPr lang="en-US" dirty="0">
                <a:solidFill>
                  <a:schemeClr val="tx1"/>
                </a:solidFill>
              </a:rPr>
              <a:t>Utilizing </a:t>
            </a:r>
            <a:r>
              <a:rPr lang="en-US" dirty="0" err="1">
                <a:solidFill>
                  <a:schemeClr val="tx1"/>
                </a:solidFill>
              </a:rPr>
              <a:t>Ao</a:t>
            </a:r>
            <a:r>
              <a:rPr lang="en-US" dirty="0">
                <a:solidFill>
                  <a:schemeClr val="tx1"/>
                </a:solidFill>
              </a:rPr>
              <a:t> and </a:t>
            </a:r>
            <a:r>
              <a:rPr lang="en-US" dirty="0" err="1">
                <a:solidFill>
                  <a:schemeClr val="tx1"/>
                </a:solidFill>
              </a:rPr>
              <a:t>Zi</a:t>
            </a:r>
            <a:r>
              <a:rPr lang="en-US" dirty="0">
                <a:solidFill>
                  <a:schemeClr val="tx1"/>
                </a:solidFill>
              </a:rPr>
              <a:t>. That is,</a:t>
            </a:r>
          </a:p>
          <a:p>
            <a:endParaRPr lang="en-US" dirty="0">
              <a:solidFill>
                <a:schemeClr val="tx1"/>
              </a:solidFill>
            </a:endParaRPr>
          </a:p>
          <a:p>
            <a:endParaRPr lang="en-US" dirty="0">
              <a:solidFill>
                <a:schemeClr val="tx1"/>
              </a:solidFill>
            </a:endParaRPr>
          </a:p>
          <a:p>
            <a:endParaRPr lang="en-US" dirty="0">
              <a:solidFill>
                <a:schemeClr val="tx1"/>
              </a:solidFill>
            </a:endParaRPr>
          </a:p>
          <a:p>
            <a:r>
              <a:rPr lang="en-US" b="1" dirty="0">
                <a:solidFill>
                  <a:schemeClr val="tx1"/>
                </a:solidFill>
              </a:rPr>
              <a:t>Phase Relationship: </a:t>
            </a:r>
          </a:p>
          <a:p>
            <a:r>
              <a:rPr lang="en-US" dirty="0">
                <a:solidFill>
                  <a:schemeClr val="tx1"/>
                </a:solidFill>
              </a:rPr>
              <a:t>The negative sign in the resulting equation for Av reveals that a 180° phase shift occurs between the input and output signals, as shown in the figure below.</a:t>
            </a:r>
          </a:p>
          <a:p>
            <a:endParaRPr lang="en-US" dirty="0">
              <a:solidFill>
                <a:schemeClr val="tx1"/>
              </a:solidFill>
            </a:endParaRPr>
          </a:p>
        </p:txBody>
      </p:sp>
      <p:pic>
        <p:nvPicPr>
          <p:cNvPr id="4" name="Content Placeholder 3"/>
          <p:cNvPicPr>
            <a:picLocks noGrp="1" noChangeAspect="1"/>
          </p:cNvPicPr>
          <p:nvPr>
            <p:ph idx="4294967295"/>
          </p:nvPr>
        </p:nvPicPr>
        <p:blipFill>
          <a:blip r:embed="rId2"/>
          <a:stretch>
            <a:fillRect/>
          </a:stretch>
        </p:blipFill>
        <p:spPr>
          <a:xfrm>
            <a:off x="0" y="531813"/>
            <a:ext cx="8297863" cy="2559050"/>
          </a:xfrm>
          <a:prstGeom prst="rect">
            <a:avLst/>
          </a:prstGeom>
        </p:spPr>
      </p:pic>
      <p:pic>
        <p:nvPicPr>
          <p:cNvPr id="10" name="Picture 9"/>
          <p:cNvPicPr>
            <a:picLocks noChangeAspect="1"/>
          </p:cNvPicPr>
          <p:nvPr/>
        </p:nvPicPr>
        <p:blipFill>
          <a:blip r:embed="rId3"/>
          <a:stretch>
            <a:fillRect/>
          </a:stretch>
        </p:blipFill>
        <p:spPr>
          <a:xfrm>
            <a:off x="4434273" y="3474720"/>
            <a:ext cx="2981892" cy="1417319"/>
          </a:xfrm>
          <a:prstGeom prst="rect">
            <a:avLst/>
          </a:prstGeom>
        </p:spPr>
      </p:pic>
    </p:spTree>
    <p:extLst>
      <p:ext uri="{BB962C8B-B14F-4D97-AF65-F5344CB8AC3E}">
        <p14:creationId xmlns:p14="http://schemas.microsoft.com/office/powerpoint/2010/main" val="3143142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 y="121920"/>
            <a:ext cx="11841480" cy="6629400"/>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Demonstrating the 180° phase shift between input and output waveforms.</a:t>
            </a:r>
          </a:p>
        </p:txBody>
      </p:sp>
      <p:pic>
        <p:nvPicPr>
          <p:cNvPr id="4" name="Picture 3"/>
          <p:cNvPicPr>
            <a:picLocks noChangeAspect="1"/>
          </p:cNvPicPr>
          <p:nvPr/>
        </p:nvPicPr>
        <p:blipFill>
          <a:blip r:embed="rId2"/>
          <a:stretch>
            <a:fillRect/>
          </a:stretch>
        </p:blipFill>
        <p:spPr>
          <a:xfrm>
            <a:off x="2739389" y="529590"/>
            <a:ext cx="7448881" cy="4392930"/>
          </a:xfrm>
          <a:prstGeom prst="rect">
            <a:avLst/>
          </a:prstGeom>
        </p:spPr>
      </p:pic>
    </p:spTree>
    <p:extLst>
      <p:ext uri="{BB962C8B-B14F-4D97-AF65-F5344CB8AC3E}">
        <p14:creationId xmlns:p14="http://schemas.microsoft.com/office/powerpoint/2010/main" val="1866874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160" y="152400"/>
            <a:ext cx="11795760" cy="6370320"/>
          </a:xfrm>
        </p:spPr>
        <p:txBody>
          <a:bodyPr/>
          <a:lstStyle/>
          <a:p>
            <a:pPr marL="0" indent="0">
              <a:buNone/>
            </a:pPr>
            <a:r>
              <a:rPr lang="en-US" dirty="0"/>
              <a:t>For the network of the figure shown</a:t>
            </a:r>
          </a:p>
          <a:p>
            <a:pPr marL="0" indent="0">
              <a:buNone/>
            </a:pPr>
            <a:endParaRPr lang="en-US" dirty="0"/>
          </a:p>
        </p:txBody>
      </p:sp>
      <p:pic>
        <p:nvPicPr>
          <p:cNvPr id="4" name="Picture 3"/>
          <p:cNvPicPr>
            <a:picLocks noChangeAspect="1"/>
          </p:cNvPicPr>
          <p:nvPr/>
        </p:nvPicPr>
        <p:blipFill>
          <a:blip r:embed="rId2"/>
          <a:stretch>
            <a:fillRect/>
          </a:stretch>
        </p:blipFill>
        <p:spPr>
          <a:xfrm>
            <a:off x="370223" y="715104"/>
            <a:ext cx="10328257" cy="2363375"/>
          </a:xfrm>
          <a:prstGeom prst="rect">
            <a:avLst/>
          </a:prstGeom>
        </p:spPr>
      </p:pic>
      <p:pic>
        <p:nvPicPr>
          <p:cNvPr id="5" name="Picture 4"/>
          <p:cNvPicPr>
            <a:picLocks noChangeAspect="1"/>
          </p:cNvPicPr>
          <p:nvPr/>
        </p:nvPicPr>
        <p:blipFill>
          <a:blip r:embed="rId3"/>
          <a:stretch>
            <a:fillRect/>
          </a:stretch>
        </p:blipFill>
        <p:spPr>
          <a:xfrm>
            <a:off x="2977364" y="2714777"/>
            <a:ext cx="5113973" cy="3807943"/>
          </a:xfrm>
          <a:prstGeom prst="rect">
            <a:avLst/>
          </a:prstGeom>
        </p:spPr>
      </p:pic>
    </p:spTree>
    <p:extLst>
      <p:ext uri="{BB962C8B-B14F-4D97-AF65-F5344CB8AC3E}">
        <p14:creationId xmlns:p14="http://schemas.microsoft.com/office/powerpoint/2010/main" val="30540592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630520" y="58979"/>
            <a:ext cx="7620159" cy="6799021"/>
          </a:xfrm>
          <a:prstGeom prst="rect">
            <a:avLst/>
          </a:prstGeom>
        </p:spPr>
      </p:pic>
    </p:spTree>
    <p:extLst>
      <p:ext uri="{BB962C8B-B14F-4D97-AF65-F5344CB8AC3E}">
        <p14:creationId xmlns:p14="http://schemas.microsoft.com/office/powerpoint/2010/main" val="839633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83333" y="929640"/>
            <a:ext cx="11371239" cy="4983480"/>
          </a:xfrm>
          <a:prstGeom prst="rect">
            <a:avLst/>
          </a:prstGeom>
        </p:spPr>
      </p:pic>
    </p:spTree>
    <p:extLst>
      <p:ext uri="{BB962C8B-B14F-4D97-AF65-F5344CB8AC3E}">
        <p14:creationId xmlns:p14="http://schemas.microsoft.com/office/powerpoint/2010/main" val="1932628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160" y="121920"/>
            <a:ext cx="11856720" cy="6553200"/>
          </a:xfrm>
        </p:spPr>
        <p:txBody>
          <a:bodyPr>
            <a:normAutofit/>
          </a:bodyPr>
          <a:lstStyle/>
          <a:p>
            <a:pPr marL="0" indent="0" algn="ctr">
              <a:buNone/>
            </a:pPr>
            <a:r>
              <a:rPr lang="en-US" b="1" dirty="0"/>
              <a:t>VOLTAGE-DIVIDER BIAS</a:t>
            </a:r>
          </a:p>
          <a:p>
            <a:pPr marL="0" indent="0">
              <a:buNone/>
            </a:pPr>
            <a:r>
              <a:rPr lang="en-US" dirty="0"/>
              <a:t>The name of the configuration is a result of the voltage-divider bias at the</a:t>
            </a:r>
          </a:p>
          <a:p>
            <a:pPr marL="0" indent="0">
              <a:buNone/>
            </a:pPr>
            <a:r>
              <a:rPr lang="en-US" dirty="0"/>
              <a:t>input side to determine the dc level of VB.</a:t>
            </a:r>
          </a:p>
          <a:p>
            <a:pPr marL="0" indent="0">
              <a:buNone/>
            </a:pPr>
            <a:endParaRPr lang="en-US" dirty="0"/>
          </a:p>
          <a:p>
            <a:pPr marL="0" indent="0">
              <a:buNone/>
            </a:pPr>
            <a:endParaRPr lang="en-US" dirty="0"/>
          </a:p>
          <a:p>
            <a:pPr marL="0" indent="0">
              <a:buNone/>
            </a:pPr>
            <a:endParaRPr lang="en-US" dirty="0"/>
          </a:p>
          <a:p>
            <a:pPr marL="0" indent="0">
              <a:buNone/>
            </a:pPr>
            <a:r>
              <a:rPr lang="en-US" dirty="0"/>
              <a:t>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T                                                                                The re equivalent circuit</a:t>
            </a:r>
          </a:p>
        </p:txBody>
      </p:sp>
      <p:pic>
        <p:nvPicPr>
          <p:cNvPr id="5" name="Picture 4"/>
          <p:cNvPicPr>
            <a:picLocks noChangeAspect="1"/>
          </p:cNvPicPr>
          <p:nvPr/>
        </p:nvPicPr>
        <p:blipFill>
          <a:blip r:embed="rId2"/>
          <a:stretch>
            <a:fillRect/>
          </a:stretch>
        </p:blipFill>
        <p:spPr>
          <a:xfrm>
            <a:off x="137161" y="1965960"/>
            <a:ext cx="4201608" cy="4121902"/>
          </a:xfrm>
          <a:prstGeom prst="rect">
            <a:avLst/>
          </a:prstGeom>
        </p:spPr>
      </p:pic>
      <p:pic>
        <p:nvPicPr>
          <p:cNvPr id="6" name="Picture 5"/>
          <p:cNvPicPr>
            <a:picLocks noChangeAspect="1"/>
          </p:cNvPicPr>
          <p:nvPr/>
        </p:nvPicPr>
        <p:blipFill>
          <a:blip r:embed="rId3"/>
          <a:stretch>
            <a:fillRect/>
          </a:stretch>
        </p:blipFill>
        <p:spPr>
          <a:xfrm>
            <a:off x="4791270" y="2941320"/>
            <a:ext cx="7431124" cy="2377440"/>
          </a:xfrm>
          <a:prstGeom prst="rect">
            <a:avLst/>
          </a:prstGeom>
        </p:spPr>
      </p:pic>
    </p:spTree>
    <p:extLst>
      <p:ext uri="{BB962C8B-B14F-4D97-AF65-F5344CB8AC3E}">
        <p14:creationId xmlns:p14="http://schemas.microsoft.com/office/powerpoint/2010/main" val="33107349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 y="0"/>
            <a:ext cx="11871960" cy="6644640"/>
          </a:xfrm>
        </p:spPr>
        <p:txBody>
          <a:bodyPr/>
          <a:lstStyle/>
          <a:p>
            <a:pPr marL="0" indent="0">
              <a:buNone/>
            </a:pPr>
            <a:r>
              <a:rPr lang="en-US" dirty="0">
                <a:latin typeface="Times New Roman" panose="02020603050405020304" pitchFamily="18" charset="0"/>
                <a:cs typeface="Times New Roman" panose="02020603050405020304" pitchFamily="18" charset="0"/>
              </a:rPr>
              <a:t>When VCC is set to zero, one end of R1 and RC is set at ground potential as shown</a:t>
            </a:r>
          </a:p>
          <a:p>
            <a:pPr marL="0" indent="0">
              <a:buNone/>
            </a:pPr>
            <a:r>
              <a:rPr lang="en-US" dirty="0">
                <a:latin typeface="Times New Roman" panose="02020603050405020304" pitchFamily="18" charset="0"/>
                <a:cs typeface="Times New Roman" panose="02020603050405020304" pitchFamily="18" charset="0"/>
              </a:rPr>
              <a:t>Note that R1 and R2 remain part of the input circuit while RC is part of the output circuit. </a:t>
            </a:r>
          </a:p>
          <a:p>
            <a:pPr marL="0" indent="0">
              <a:buNone/>
            </a:pPr>
            <a:r>
              <a:rPr lang="en-US" dirty="0">
                <a:latin typeface="Times New Roman" panose="02020603050405020304" pitchFamily="18" charset="0"/>
                <a:cs typeface="Times New Roman" panose="02020603050405020304" pitchFamily="18" charset="0"/>
              </a:rPr>
              <a:t>The parallel combination of R1 and R2 is defined by;</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err="1">
                <a:latin typeface="Times New Roman" panose="02020603050405020304" pitchFamily="18" charset="0"/>
                <a:cs typeface="Times New Roman" panose="02020603050405020304" pitchFamily="18" charset="0"/>
              </a:rPr>
              <a:t>Zi</a:t>
            </a:r>
            <a:r>
              <a:rPr lang="en-US" b="1"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From equivalent circuit ;</a:t>
            </a:r>
          </a:p>
          <a:p>
            <a:pPr marL="0" indent="0">
              <a:buNone/>
            </a:pP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865120" y="2471702"/>
            <a:ext cx="4388167" cy="1300198"/>
          </a:xfrm>
          <a:prstGeom prst="rect">
            <a:avLst/>
          </a:prstGeom>
        </p:spPr>
      </p:pic>
      <p:pic>
        <p:nvPicPr>
          <p:cNvPr id="5" name="Picture 4"/>
          <p:cNvPicPr>
            <a:picLocks noChangeAspect="1"/>
          </p:cNvPicPr>
          <p:nvPr/>
        </p:nvPicPr>
        <p:blipFill>
          <a:blip r:embed="rId3"/>
          <a:stretch>
            <a:fillRect/>
          </a:stretch>
        </p:blipFill>
        <p:spPr>
          <a:xfrm>
            <a:off x="3555682" y="5449863"/>
            <a:ext cx="3332798" cy="1194777"/>
          </a:xfrm>
          <a:prstGeom prst="rect">
            <a:avLst/>
          </a:prstGeom>
        </p:spPr>
      </p:pic>
    </p:spTree>
    <p:extLst>
      <p:ext uri="{BB962C8B-B14F-4D97-AF65-F5344CB8AC3E}">
        <p14:creationId xmlns:p14="http://schemas.microsoft.com/office/powerpoint/2010/main" val="36309394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160" y="0"/>
            <a:ext cx="11887200" cy="6644640"/>
          </a:xfrm>
        </p:spPr>
        <p:txBody>
          <a:bodyPr/>
          <a:lstStyle/>
          <a:p>
            <a:pPr marL="0" indent="0">
              <a:buNone/>
            </a:pPr>
            <a:r>
              <a:rPr lang="en-US" b="1" dirty="0">
                <a:latin typeface="Times New Roman" panose="02020603050405020304" pitchFamily="18" charset="0"/>
                <a:cs typeface="Times New Roman" panose="02020603050405020304" pitchFamily="18" charset="0"/>
              </a:rPr>
              <a:t>Zo: </a:t>
            </a:r>
          </a:p>
          <a:p>
            <a:pPr marL="0" indent="0">
              <a:buNone/>
            </a:pPr>
            <a:r>
              <a:rPr lang="en-US" dirty="0">
                <a:latin typeface="Times New Roman" panose="02020603050405020304" pitchFamily="18" charset="0"/>
                <a:cs typeface="Times New Roman" panose="02020603050405020304" pitchFamily="18" charset="0"/>
              </a:rPr>
              <a:t>From the  Fig.  with Vi set to 0 V resulting in </a:t>
            </a:r>
            <a:r>
              <a:rPr lang="en-US" dirty="0" err="1">
                <a:latin typeface="Times New Roman" panose="02020603050405020304" pitchFamily="18" charset="0"/>
                <a:cs typeface="Times New Roman" panose="02020603050405020304" pitchFamily="18" charset="0"/>
              </a:rPr>
              <a:t>Ib</a:t>
            </a:r>
            <a:r>
              <a:rPr lang="en-US" dirty="0">
                <a:latin typeface="Times New Roman" panose="02020603050405020304" pitchFamily="18" charset="0"/>
                <a:cs typeface="Times New Roman" panose="02020603050405020304" pitchFamily="18" charset="0"/>
              </a:rPr>
              <a:t> = 0</a:t>
            </a:r>
            <a:r>
              <a:rPr lang="el-GR" dirty="0">
                <a:latin typeface="Times New Roman" panose="02020603050405020304" pitchFamily="18" charset="0"/>
                <a:cs typeface="Times New Roman" panose="02020603050405020304" pitchFamily="18" charset="0"/>
              </a:rPr>
              <a:t>μ</a:t>
            </a:r>
            <a:r>
              <a:rPr lang="en-US" dirty="0">
                <a:latin typeface="Times New Roman" panose="02020603050405020304" pitchFamily="18" charset="0"/>
                <a:cs typeface="Times New Roman" panose="02020603050405020304" pitchFamily="18" charset="0"/>
              </a:rPr>
              <a:t>A and </a:t>
            </a:r>
            <a:r>
              <a:rPr lang="el-GR" dirty="0">
                <a:latin typeface="Times New Roman" panose="02020603050405020304" pitchFamily="18" charset="0"/>
                <a:cs typeface="Times New Roman" panose="02020603050405020304" pitchFamily="18" charset="0"/>
              </a:rPr>
              <a:t>β</a:t>
            </a:r>
            <a:r>
              <a:rPr lang="en-US" dirty="0" err="1">
                <a:latin typeface="Times New Roman" panose="02020603050405020304" pitchFamily="18" charset="0"/>
                <a:cs typeface="Times New Roman" panose="02020603050405020304" pitchFamily="18" charset="0"/>
              </a:rPr>
              <a:t>Ib</a:t>
            </a:r>
            <a:r>
              <a:rPr lang="en-US" dirty="0">
                <a:latin typeface="Times New Roman" panose="02020603050405020304" pitchFamily="18" charset="0"/>
                <a:cs typeface="Times New Roman" panose="02020603050405020304" pitchFamily="18" charset="0"/>
              </a:rPr>
              <a:t> = 0mA</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Av: Since RC and </a:t>
            </a:r>
            <a:r>
              <a:rPr lang="en-US" dirty="0" err="1">
                <a:latin typeface="Times New Roman" panose="02020603050405020304" pitchFamily="18" charset="0"/>
                <a:cs typeface="Times New Roman" panose="02020603050405020304" pitchFamily="18" charset="0"/>
              </a:rPr>
              <a:t>ro</a:t>
            </a:r>
            <a:r>
              <a:rPr lang="en-US" dirty="0">
                <a:latin typeface="Times New Roman" panose="02020603050405020304" pitchFamily="18" charset="0"/>
                <a:cs typeface="Times New Roman" panose="02020603050405020304" pitchFamily="18" charset="0"/>
              </a:rPr>
              <a:t> are in parallel,</a:t>
            </a:r>
          </a:p>
        </p:txBody>
      </p:sp>
      <p:pic>
        <p:nvPicPr>
          <p:cNvPr id="4" name="Picture 3"/>
          <p:cNvPicPr>
            <a:picLocks noChangeAspect="1"/>
          </p:cNvPicPr>
          <p:nvPr/>
        </p:nvPicPr>
        <p:blipFill>
          <a:blip r:embed="rId2"/>
          <a:stretch>
            <a:fillRect/>
          </a:stretch>
        </p:blipFill>
        <p:spPr>
          <a:xfrm>
            <a:off x="1917488" y="1295400"/>
            <a:ext cx="7506759" cy="2636520"/>
          </a:xfrm>
          <a:prstGeom prst="rect">
            <a:avLst/>
          </a:prstGeom>
        </p:spPr>
      </p:pic>
      <p:pic>
        <p:nvPicPr>
          <p:cNvPr id="5" name="Picture 4"/>
          <p:cNvPicPr>
            <a:picLocks noChangeAspect="1"/>
          </p:cNvPicPr>
          <p:nvPr/>
        </p:nvPicPr>
        <p:blipFill>
          <a:blip r:embed="rId3"/>
          <a:stretch>
            <a:fillRect/>
          </a:stretch>
        </p:blipFill>
        <p:spPr>
          <a:xfrm>
            <a:off x="6072187" y="3931920"/>
            <a:ext cx="5592887" cy="2926080"/>
          </a:xfrm>
          <a:prstGeom prst="rect">
            <a:avLst/>
          </a:prstGeom>
        </p:spPr>
      </p:pic>
    </p:spTree>
    <p:extLst>
      <p:ext uri="{BB962C8B-B14F-4D97-AF65-F5344CB8AC3E}">
        <p14:creationId xmlns:p14="http://schemas.microsoft.com/office/powerpoint/2010/main" val="371347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 y="167640"/>
            <a:ext cx="11734800" cy="6553200"/>
          </a:xfrm>
        </p:spPr>
        <p:txBody>
          <a:bodyPr/>
          <a:lstStyle/>
          <a:p>
            <a:r>
              <a:rPr lang="en-US" dirty="0"/>
              <a:t>-</a:t>
            </a:r>
          </a:p>
        </p:txBody>
      </p:sp>
      <p:pic>
        <p:nvPicPr>
          <p:cNvPr id="4" name="Picture 3"/>
          <p:cNvPicPr>
            <a:picLocks noChangeAspect="1"/>
          </p:cNvPicPr>
          <p:nvPr/>
        </p:nvPicPr>
        <p:blipFill>
          <a:blip r:embed="rId2"/>
          <a:stretch>
            <a:fillRect/>
          </a:stretch>
        </p:blipFill>
        <p:spPr>
          <a:xfrm>
            <a:off x="998315" y="762000"/>
            <a:ext cx="7255097" cy="3795713"/>
          </a:xfrm>
          <a:prstGeom prst="rect">
            <a:avLst/>
          </a:prstGeom>
        </p:spPr>
      </p:pic>
      <p:pic>
        <p:nvPicPr>
          <p:cNvPr id="5" name="Picture 4"/>
          <p:cNvPicPr>
            <a:picLocks noChangeAspect="1"/>
          </p:cNvPicPr>
          <p:nvPr/>
        </p:nvPicPr>
        <p:blipFill>
          <a:blip r:embed="rId3"/>
          <a:stretch>
            <a:fillRect/>
          </a:stretch>
        </p:blipFill>
        <p:spPr>
          <a:xfrm>
            <a:off x="998315" y="4813459"/>
            <a:ext cx="6338707" cy="1651635"/>
          </a:xfrm>
          <a:prstGeom prst="rect">
            <a:avLst/>
          </a:prstGeom>
        </p:spPr>
      </p:pic>
    </p:spTree>
    <p:extLst>
      <p:ext uri="{BB962C8B-B14F-4D97-AF65-F5344CB8AC3E}">
        <p14:creationId xmlns:p14="http://schemas.microsoft.com/office/powerpoint/2010/main" val="20334373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 y="198120"/>
            <a:ext cx="11917680" cy="6461760"/>
          </a:xfrm>
        </p:spPr>
        <p:txBody>
          <a:bodyPr/>
          <a:lstStyle/>
          <a:p>
            <a:pPr marL="0" indent="0">
              <a:buNone/>
            </a:pPr>
            <a:r>
              <a:rPr lang="en-US" dirty="0">
                <a:latin typeface="Times New Roman" panose="02020603050405020304" pitchFamily="18" charset="0"/>
                <a:cs typeface="Times New Roman" panose="02020603050405020304" pitchFamily="18" charset="0"/>
              </a:rPr>
              <a:t>Ai: The current gain is given by;</a:t>
            </a:r>
          </a:p>
          <a:p>
            <a:pPr marL="0" indent="0">
              <a:buNone/>
            </a:pP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472565" y="928169"/>
            <a:ext cx="7861095" cy="4390591"/>
          </a:xfrm>
          <a:prstGeom prst="rect">
            <a:avLst/>
          </a:prstGeom>
        </p:spPr>
      </p:pic>
    </p:spTree>
    <p:extLst>
      <p:ext uri="{BB962C8B-B14F-4D97-AF65-F5344CB8AC3E}">
        <p14:creationId xmlns:p14="http://schemas.microsoft.com/office/powerpoint/2010/main" val="1279565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 y="121920"/>
            <a:ext cx="11795760" cy="6446520"/>
          </a:xfrm>
        </p:spPr>
        <p:txBody>
          <a:bodyPr>
            <a:normAutofit lnSpcReduction="10000"/>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b="1" dirty="0"/>
              <a:t>Phase relationship: </a:t>
            </a:r>
          </a:p>
          <a:p>
            <a:pPr marL="0" indent="0">
              <a:buNone/>
            </a:pPr>
            <a:r>
              <a:rPr lang="en-US" dirty="0"/>
              <a:t>The negative sign reveals a 180° phase shift between Vo and Vi</a:t>
            </a:r>
          </a:p>
        </p:txBody>
      </p:sp>
      <p:pic>
        <p:nvPicPr>
          <p:cNvPr id="4" name="Picture 3"/>
          <p:cNvPicPr>
            <a:picLocks noChangeAspect="1"/>
          </p:cNvPicPr>
          <p:nvPr/>
        </p:nvPicPr>
        <p:blipFill>
          <a:blip r:embed="rId2"/>
          <a:stretch>
            <a:fillRect/>
          </a:stretch>
        </p:blipFill>
        <p:spPr>
          <a:xfrm>
            <a:off x="946940" y="247594"/>
            <a:ext cx="8456140" cy="4730325"/>
          </a:xfrm>
          <a:prstGeom prst="rect">
            <a:avLst/>
          </a:prstGeom>
        </p:spPr>
      </p:pic>
    </p:spTree>
    <p:extLst>
      <p:ext uri="{BB962C8B-B14F-4D97-AF65-F5344CB8AC3E}">
        <p14:creationId xmlns:p14="http://schemas.microsoft.com/office/powerpoint/2010/main" val="32625808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 y="152400"/>
            <a:ext cx="11795760" cy="6507480"/>
          </a:xfrm>
        </p:spPr>
        <p:txBody>
          <a:bodyPr/>
          <a:lstStyle/>
          <a:p>
            <a:pPr marL="0" indent="0">
              <a:buNone/>
            </a:pPr>
            <a:r>
              <a:rPr lang="en-US" dirty="0"/>
              <a:t>Example 2</a:t>
            </a:r>
          </a:p>
          <a:p>
            <a:pPr marL="0" indent="0">
              <a:buNone/>
            </a:pPr>
            <a:r>
              <a:rPr lang="en-US" dirty="0"/>
              <a:t>For the network given, determine:</a:t>
            </a:r>
          </a:p>
        </p:txBody>
      </p:sp>
      <p:pic>
        <p:nvPicPr>
          <p:cNvPr id="4" name="Picture 3"/>
          <p:cNvPicPr>
            <a:picLocks noChangeAspect="1"/>
          </p:cNvPicPr>
          <p:nvPr/>
        </p:nvPicPr>
        <p:blipFill>
          <a:blip r:embed="rId2"/>
          <a:stretch>
            <a:fillRect/>
          </a:stretch>
        </p:blipFill>
        <p:spPr>
          <a:xfrm>
            <a:off x="396240" y="3830984"/>
            <a:ext cx="11795760" cy="2585857"/>
          </a:xfrm>
          <a:prstGeom prst="rect">
            <a:avLst/>
          </a:prstGeom>
        </p:spPr>
      </p:pic>
      <p:pic>
        <p:nvPicPr>
          <p:cNvPr id="5" name="Picture 4"/>
          <p:cNvPicPr>
            <a:picLocks noChangeAspect="1"/>
          </p:cNvPicPr>
          <p:nvPr/>
        </p:nvPicPr>
        <p:blipFill>
          <a:blip r:embed="rId3"/>
          <a:stretch>
            <a:fillRect/>
          </a:stretch>
        </p:blipFill>
        <p:spPr>
          <a:xfrm>
            <a:off x="5773004" y="126183"/>
            <a:ext cx="5392301" cy="5392301"/>
          </a:xfrm>
          <a:prstGeom prst="rect">
            <a:avLst/>
          </a:prstGeom>
        </p:spPr>
      </p:pic>
    </p:spTree>
    <p:extLst>
      <p:ext uri="{BB962C8B-B14F-4D97-AF65-F5344CB8AC3E}">
        <p14:creationId xmlns:p14="http://schemas.microsoft.com/office/powerpoint/2010/main" val="132248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84654" y="899160"/>
            <a:ext cx="11257200" cy="4846320"/>
          </a:xfrm>
          <a:prstGeom prst="rect">
            <a:avLst/>
          </a:prstGeom>
        </p:spPr>
      </p:pic>
    </p:spTree>
    <p:extLst>
      <p:ext uri="{BB962C8B-B14F-4D97-AF65-F5344CB8AC3E}">
        <p14:creationId xmlns:p14="http://schemas.microsoft.com/office/powerpoint/2010/main" val="30638351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75360" y="47896"/>
            <a:ext cx="9845040" cy="6524424"/>
          </a:xfrm>
          <a:prstGeom prst="rect">
            <a:avLst/>
          </a:prstGeom>
        </p:spPr>
      </p:pic>
    </p:spTree>
    <p:extLst>
      <p:ext uri="{BB962C8B-B14F-4D97-AF65-F5344CB8AC3E}">
        <p14:creationId xmlns:p14="http://schemas.microsoft.com/office/powerpoint/2010/main" val="5802129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64623" y="426720"/>
            <a:ext cx="11774066" cy="5913120"/>
          </a:xfrm>
          <a:prstGeom prst="rect">
            <a:avLst/>
          </a:prstGeom>
        </p:spPr>
      </p:pic>
    </p:spTree>
    <p:extLst>
      <p:ext uri="{BB962C8B-B14F-4D97-AF65-F5344CB8AC3E}">
        <p14:creationId xmlns:p14="http://schemas.microsoft.com/office/powerpoint/2010/main" val="4383509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 y="106680"/>
            <a:ext cx="11765280" cy="6537960"/>
          </a:xfrm>
        </p:spPr>
        <p:txBody>
          <a:bodyPr/>
          <a:lstStyle/>
          <a:p>
            <a:pPr marL="0" indent="0">
              <a:buNone/>
            </a:pPr>
            <a:r>
              <a:rPr lang="en-US" dirty="0"/>
              <a:t>Please!</a:t>
            </a:r>
          </a:p>
          <a:p>
            <a:pPr marL="0" indent="0" algn="ctr">
              <a:buNone/>
            </a:pPr>
            <a:r>
              <a:rPr lang="en-US" sz="4000" dirty="0"/>
              <a:t>WORK ON CE EMITTER-BIAS CONFIGURATION </a:t>
            </a:r>
          </a:p>
          <a:p>
            <a:pPr marL="0" indent="0" algn="ctr">
              <a:buNone/>
            </a:pPr>
            <a:r>
              <a:rPr lang="en-US" sz="4000" dirty="0"/>
              <a:t>&amp; </a:t>
            </a:r>
          </a:p>
          <a:p>
            <a:pPr marL="0" indent="0" algn="ctr">
              <a:buNone/>
            </a:pPr>
            <a:r>
              <a:rPr lang="en-US" sz="4000" dirty="0"/>
              <a:t>COMMON-BASE CONFIGURATION</a:t>
            </a:r>
          </a:p>
        </p:txBody>
      </p:sp>
    </p:spTree>
    <p:extLst>
      <p:ext uri="{BB962C8B-B14F-4D97-AF65-F5344CB8AC3E}">
        <p14:creationId xmlns:p14="http://schemas.microsoft.com/office/powerpoint/2010/main" val="14786136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9080" y="167640"/>
            <a:ext cx="11689080" cy="6553200"/>
          </a:xfrm>
        </p:spPr>
        <p:txBody>
          <a:bodyPr/>
          <a:lstStyle/>
          <a:p>
            <a:pPr marL="0" indent="0">
              <a:buNone/>
            </a:pPr>
            <a:r>
              <a:rPr lang="en-US" dirty="0"/>
              <a:t>COLLECTOR FEEDBACK CONFIGURATION</a:t>
            </a:r>
          </a:p>
          <a:p>
            <a:pPr marL="0" indent="0">
              <a:buNone/>
            </a:pPr>
            <a:r>
              <a:rPr lang="en-US" dirty="0"/>
              <a:t>The collector feedback network of Fig. below employs a feedback path from collector to base to increase the stability of the system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a:t>
            </a:r>
            <a:r>
              <a:rPr lang="en-US" b="1" dirty="0"/>
              <a:t> =</a:t>
            </a:r>
          </a:p>
          <a:p>
            <a:pPr marL="0" indent="0">
              <a:buNone/>
            </a:pPr>
            <a:endParaRPr lang="en-US" dirty="0"/>
          </a:p>
        </p:txBody>
      </p:sp>
      <p:pic>
        <p:nvPicPr>
          <p:cNvPr id="4" name="Picture 3"/>
          <p:cNvPicPr>
            <a:picLocks noChangeAspect="1"/>
          </p:cNvPicPr>
          <p:nvPr/>
        </p:nvPicPr>
        <p:blipFill>
          <a:blip r:embed="rId2"/>
          <a:stretch>
            <a:fillRect/>
          </a:stretch>
        </p:blipFill>
        <p:spPr>
          <a:xfrm>
            <a:off x="259080" y="1923026"/>
            <a:ext cx="4754880" cy="4302035"/>
          </a:xfrm>
          <a:prstGeom prst="rect">
            <a:avLst/>
          </a:prstGeom>
        </p:spPr>
      </p:pic>
      <p:pic>
        <p:nvPicPr>
          <p:cNvPr id="5" name="Picture 4"/>
          <p:cNvPicPr>
            <a:picLocks noChangeAspect="1"/>
          </p:cNvPicPr>
          <p:nvPr/>
        </p:nvPicPr>
        <p:blipFill>
          <a:blip r:embed="rId3"/>
          <a:stretch>
            <a:fillRect/>
          </a:stretch>
        </p:blipFill>
        <p:spPr>
          <a:xfrm>
            <a:off x="5883503" y="3010624"/>
            <a:ext cx="6064657" cy="2453640"/>
          </a:xfrm>
          <a:prstGeom prst="rect">
            <a:avLst/>
          </a:prstGeom>
        </p:spPr>
      </p:pic>
    </p:spTree>
    <p:extLst>
      <p:ext uri="{BB962C8B-B14F-4D97-AF65-F5344CB8AC3E}">
        <p14:creationId xmlns:p14="http://schemas.microsoft.com/office/powerpoint/2010/main" val="37637898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011680" y="297245"/>
            <a:ext cx="8625840" cy="6533615"/>
          </a:xfrm>
          <a:prstGeom prst="rect">
            <a:avLst/>
          </a:prstGeom>
        </p:spPr>
      </p:pic>
    </p:spTree>
    <p:extLst>
      <p:ext uri="{BB962C8B-B14F-4D97-AF65-F5344CB8AC3E}">
        <p14:creationId xmlns:p14="http://schemas.microsoft.com/office/powerpoint/2010/main" val="11866323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69315" y="207486"/>
            <a:ext cx="7971361" cy="3724434"/>
          </a:xfrm>
          <a:prstGeom prst="rect">
            <a:avLst/>
          </a:prstGeom>
        </p:spPr>
      </p:pic>
      <p:pic>
        <p:nvPicPr>
          <p:cNvPr id="5" name="Picture 4"/>
          <p:cNvPicPr>
            <a:picLocks noChangeAspect="1"/>
          </p:cNvPicPr>
          <p:nvPr/>
        </p:nvPicPr>
        <p:blipFill>
          <a:blip r:embed="rId3"/>
          <a:stretch>
            <a:fillRect/>
          </a:stretch>
        </p:blipFill>
        <p:spPr>
          <a:xfrm>
            <a:off x="1058227" y="3931920"/>
            <a:ext cx="6092444" cy="2727960"/>
          </a:xfrm>
          <a:prstGeom prst="rect">
            <a:avLst/>
          </a:prstGeom>
        </p:spPr>
      </p:pic>
    </p:spTree>
    <p:extLst>
      <p:ext uri="{BB962C8B-B14F-4D97-AF65-F5344CB8AC3E}">
        <p14:creationId xmlns:p14="http://schemas.microsoft.com/office/powerpoint/2010/main" val="39211216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 y="213360"/>
            <a:ext cx="11917680" cy="6492240"/>
          </a:xfrm>
        </p:spPr>
        <p:txBody>
          <a:bodyPr/>
          <a:lstStyle/>
          <a:p>
            <a:pPr marL="0" indent="0">
              <a:buNone/>
            </a:pPr>
            <a:r>
              <a:rPr lang="en-US" dirty="0"/>
              <a:t>Zo;</a:t>
            </a:r>
          </a:p>
          <a:p>
            <a:pPr marL="0" indent="0">
              <a:buNone/>
            </a:pPr>
            <a:r>
              <a:rPr lang="en-US" dirty="0"/>
              <a:t>If we set Vi to zero as required to define Zo, the network will appear as shown in Fig. below. The effect of re is removed and RF appears in parallel with RC</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Thus;</a:t>
            </a:r>
          </a:p>
          <a:p>
            <a:pPr marL="0" indent="0">
              <a:buNone/>
            </a:pPr>
            <a:r>
              <a:rPr lang="en-US" dirty="0"/>
              <a:t>           Zo = RC//RF</a:t>
            </a:r>
          </a:p>
          <a:p>
            <a:pPr marL="0" indent="0">
              <a:buNone/>
            </a:pPr>
            <a:endParaRPr lang="en-US" dirty="0"/>
          </a:p>
        </p:txBody>
      </p:sp>
      <p:pic>
        <p:nvPicPr>
          <p:cNvPr id="4" name="Picture 3"/>
          <p:cNvPicPr>
            <a:picLocks noChangeAspect="1"/>
          </p:cNvPicPr>
          <p:nvPr/>
        </p:nvPicPr>
        <p:blipFill>
          <a:blip r:embed="rId2"/>
          <a:stretch>
            <a:fillRect/>
          </a:stretch>
        </p:blipFill>
        <p:spPr>
          <a:xfrm>
            <a:off x="1876552" y="1833232"/>
            <a:ext cx="8499856" cy="3252496"/>
          </a:xfrm>
          <a:prstGeom prst="rect">
            <a:avLst/>
          </a:prstGeom>
        </p:spPr>
      </p:pic>
    </p:spTree>
    <p:extLst>
      <p:ext uri="{BB962C8B-B14F-4D97-AF65-F5344CB8AC3E}">
        <p14:creationId xmlns:p14="http://schemas.microsoft.com/office/powerpoint/2010/main" val="38343723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13360"/>
            <a:ext cx="11765280" cy="6477000"/>
          </a:xfrm>
        </p:spPr>
        <p:txBody>
          <a:bodyPr/>
          <a:lstStyle/>
          <a:p>
            <a:pPr marL="0" indent="0">
              <a:buNone/>
            </a:pPr>
            <a:r>
              <a:rPr lang="en-US" dirty="0"/>
              <a:t>Av: At node C of Fig</a:t>
            </a:r>
          </a:p>
          <a:p>
            <a:pPr marL="0" indent="0">
              <a:buNone/>
            </a:pPr>
            <a:endParaRPr lang="en-US" dirty="0"/>
          </a:p>
        </p:txBody>
      </p:sp>
      <p:pic>
        <p:nvPicPr>
          <p:cNvPr id="4" name="Picture 3"/>
          <p:cNvPicPr>
            <a:picLocks noChangeAspect="1"/>
          </p:cNvPicPr>
          <p:nvPr/>
        </p:nvPicPr>
        <p:blipFill>
          <a:blip r:embed="rId2"/>
          <a:stretch>
            <a:fillRect/>
          </a:stretch>
        </p:blipFill>
        <p:spPr>
          <a:xfrm>
            <a:off x="3687816" y="213360"/>
            <a:ext cx="6568703" cy="2653887"/>
          </a:xfrm>
          <a:prstGeom prst="rect">
            <a:avLst/>
          </a:prstGeom>
        </p:spPr>
      </p:pic>
      <p:pic>
        <p:nvPicPr>
          <p:cNvPr id="5" name="Picture 4"/>
          <p:cNvPicPr>
            <a:picLocks noChangeAspect="1"/>
          </p:cNvPicPr>
          <p:nvPr/>
        </p:nvPicPr>
        <p:blipFill>
          <a:blip r:embed="rId3"/>
          <a:stretch>
            <a:fillRect/>
          </a:stretch>
        </p:blipFill>
        <p:spPr>
          <a:xfrm>
            <a:off x="1950455" y="2867247"/>
            <a:ext cx="6599185" cy="3938702"/>
          </a:xfrm>
          <a:prstGeom prst="rect">
            <a:avLst/>
          </a:prstGeom>
        </p:spPr>
      </p:pic>
      <p:sp>
        <p:nvSpPr>
          <p:cNvPr id="6" name="Rectangle 5"/>
          <p:cNvSpPr/>
          <p:nvPr/>
        </p:nvSpPr>
        <p:spPr>
          <a:xfrm>
            <a:off x="8564880" y="5307832"/>
            <a:ext cx="3154680" cy="1550168"/>
          </a:xfrm>
          <a:prstGeom prst="rect">
            <a:avLst/>
          </a:prstGeom>
        </p:spPr>
        <p:txBody>
          <a:bodyPr wrap="square">
            <a:spAutoFit/>
          </a:bodyPr>
          <a:lstStyle/>
          <a:p>
            <a:pPr lvl="0">
              <a:lnSpc>
                <a:spcPct val="90000"/>
              </a:lnSpc>
              <a:spcBef>
                <a:spcPts val="1000"/>
              </a:spcBef>
            </a:pPr>
            <a:r>
              <a:rPr lang="en-US" sz="2400" b="1" dirty="0">
                <a:solidFill>
                  <a:prstClr val="black"/>
                </a:solidFill>
              </a:rPr>
              <a:t>Phase relationship: </a:t>
            </a:r>
            <a:r>
              <a:rPr lang="en-US" sz="2400" dirty="0">
                <a:solidFill>
                  <a:prstClr val="black"/>
                </a:solidFill>
              </a:rPr>
              <a:t>The negative sign reveals a 180° phase shift</a:t>
            </a:r>
          </a:p>
          <a:p>
            <a:pPr lvl="0">
              <a:lnSpc>
                <a:spcPct val="90000"/>
              </a:lnSpc>
              <a:spcBef>
                <a:spcPts val="1000"/>
              </a:spcBef>
            </a:pPr>
            <a:r>
              <a:rPr lang="en-US" sz="2400" dirty="0">
                <a:solidFill>
                  <a:prstClr val="black"/>
                </a:solidFill>
              </a:rPr>
              <a:t>between Vo and V</a:t>
            </a:r>
          </a:p>
        </p:txBody>
      </p:sp>
    </p:spTree>
    <p:extLst>
      <p:ext uri="{BB962C8B-B14F-4D97-AF65-F5344CB8AC3E}">
        <p14:creationId xmlns:p14="http://schemas.microsoft.com/office/powerpoint/2010/main" val="31634696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56588" y="640080"/>
            <a:ext cx="11632120" cy="5547360"/>
          </a:xfrm>
          <a:prstGeom prst="rect">
            <a:avLst/>
          </a:prstGeom>
        </p:spPr>
      </p:pic>
    </p:spTree>
    <p:extLst>
      <p:ext uri="{BB962C8B-B14F-4D97-AF65-F5344CB8AC3E}">
        <p14:creationId xmlns:p14="http://schemas.microsoft.com/office/powerpoint/2010/main" val="559354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4294967295"/>
          </p:nvPr>
        </p:nvPicPr>
        <p:blipFill>
          <a:blip r:embed="rId2"/>
          <a:stretch>
            <a:fillRect/>
          </a:stretch>
        </p:blipFill>
        <p:spPr>
          <a:xfrm>
            <a:off x="716280" y="103981"/>
            <a:ext cx="8351520" cy="6090958"/>
          </a:xfrm>
          <a:prstGeom prst="rect">
            <a:avLst/>
          </a:prstGeom>
        </p:spPr>
      </p:pic>
    </p:spTree>
    <p:extLst>
      <p:ext uri="{BB962C8B-B14F-4D97-AF65-F5344CB8AC3E}">
        <p14:creationId xmlns:p14="http://schemas.microsoft.com/office/powerpoint/2010/main" val="18141500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460059" y="117490"/>
            <a:ext cx="9826942" cy="3098149"/>
          </a:xfrm>
          <a:prstGeom prst="rect">
            <a:avLst/>
          </a:prstGeom>
        </p:spPr>
      </p:pic>
      <p:pic>
        <p:nvPicPr>
          <p:cNvPr id="8" name="Picture 7"/>
          <p:cNvPicPr>
            <a:picLocks noChangeAspect="1"/>
          </p:cNvPicPr>
          <p:nvPr/>
        </p:nvPicPr>
        <p:blipFill>
          <a:blip r:embed="rId3"/>
          <a:stretch>
            <a:fillRect/>
          </a:stretch>
        </p:blipFill>
        <p:spPr>
          <a:xfrm>
            <a:off x="3335654" y="3215639"/>
            <a:ext cx="6903932" cy="3695785"/>
          </a:xfrm>
          <a:prstGeom prst="rect">
            <a:avLst/>
          </a:prstGeom>
        </p:spPr>
      </p:pic>
    </p:spTree>
    <p:extLst>
      <p:ext uri="{BB962C8B-B14F-4D97-AF65-F5344CB8AC3E}">
        <p14:creationId xmlns:p14="http://schemas.microsoft.com/office/powerpoint/2010/main" val="23705208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506186" y="213360"/>
            <a:ext cx="8183004" cy="6050280"/>
          </a:xfrm>
          <a:prstGeom prst="rect">
            <a:avLst/>
          </a:prstGeom>
        </p:spPr>
      </p:pic>
    </p:spTree>
    <p:extLst>
      <p:ext uri="{BB962C8B-B14F-4D97-AF65-F5344CB8AC3E}">
        <p14:creationId xmlns:p14="http://schemas.microsoft.com/office/powerpoint/2010/main" val="38517422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797719" y="170656"/>
            <a:ext cx="6791801" cy="3936649"/>
          </a:xfrm>
          <a:prstGeom prst="rect">
            <a:avLst/>
          </a:prstGeom>
        </p:spPr>
      </p:pic>
      <p:pic>
        <p:nvPicPr>
          <p:cNvPr id="5" name="Picture 4"/>
          <p:cNvPicPr>
            <a:picLocks noChangeAspect="1"/>
          </p:cNvPicPr>
          <p:nvPr/>
        </p:nvPicPr>
        <p:blipFill>
          <a:blip r:embed="rId3"/>
          <a:stretch>
            <a:fillRect/>
          </a:stretch>
        </p:blipFill>
        <p:spPr>
          <a:xfrm>
            <a:off x="2042159" y="4107305"/>
            <a:ext cx="5822105" cy="2156335"/>
          </a:xfrm>
          <a:prstGeom prst="rect">
            <a:avLst/>
          </a:prstGeom>
        </p:spPr>
      </p:pic>
    </p:spTree>
    <p:extLst>
      <p:ext uri="{BB962C8B-B14F-4D97-AF65-F5344CB8AC3E}">
        <p14:creationId xmlns:p14="http://schemas.microsoft.com/office/powerpoint/2010/main" val="39067027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idx="1"/>
          </p:nvPr>
        </p:nvSpPr>
        <p:spPr>
          <a:xfrm>
            <a:off x="243840" y="2910840"/>
            <a:ext cx="11734800" cy="3718559"/>
          </a:xfrm>
        </p:spPr>
        <p:txBody>
          <a:bodyPr/>
          <a:lstStyle/>
          <a:p>
            <a:r>
              <a:rPr lang="en-US" b="1" dirty="0">
                <a:solidFill>
                  <a:schemeClr val="tx1"/>
                </a:solidFill>
              </a:rPr>
              <a:t>Example 3 </a:t>
            </a:r>
            <a:r>
              <a:rPr lang="en-US" dirty="0">
                <a:solidFill>
                  <a:schemeClr val="tx1"/>
                </a:solidFill>
              </a:rPr>
              <a:t>For the network given, determine:</a:t>
            </a:r>
          </a:p>
          <a:p>
            <a:endParaRPr lang="en-US" dirty="0">
              <a:solidFill>
                <a:schemeClr val="tx1"/>
              </a:solidFill>
            </a:endParaRPr>
          </a:p>
        </p:txBody>
      </p:sp>
      <p:pic>
        <p:nvPicPr>
          <p:cNvPr id="4" name="Content Placeholder 3"/>
          <p:cNvPicPr>
            <a:picLocks noGrp="1" noChangeAspect="1"/>
          </p:cNvPicPr>
          <p:nvPr>
            <p:ph idx="4294967295"/>
          </p:nvPr>
        </p:nvPicPr>
        <p:blipFill>
          <a:blip r:embed="rId2"/>
          <a:stretch>
            <a:fillRect/>
          </a:stretch>
        </p:blipFill>
        <p:spPr>
          <a:xfrm>
            <a:off x="0" y="326073"/>
            <a:ext cx="7904163" cy="2219325"/>
          </a:xfrm>
          <a:prstGeom prst="rect">
            <a:avLst/>
          </a:prstGeom>
        </p:spPr>
      </p:pic>
      <p:pic>
        <p:nvPicPr>
          <p:cNvPr id="7" name="Picture 6"/>
          <p:cNvPicPr>
            <a:picLocks noChangeAspect="1"/>
          </p:cNvPicPr>
          <p:nvPr/>
        </p:nvPicPr>
        <p:blipFill>
          <a:blip r:embed="rId3"/>
          <a:stretch>
            <a:fillRect/>
          </a:stretch>
        </p:blipFill>
        <p:spPr>
          <a:xfrm>
            <a:off x="376187" y="3451543"/>
            <a:ext cx="1343075" cy="2097405"/>
          </a:xfrm>
          <a:prstGeom prst="rect">
            <a:avLst/>
          </a:prstGeom>
        </p:spPr>
      </p:pic>
      <p:pic>
        <p:nvPicPr>
          <p:cNvPr id="8" name="Picture 7"/>
          <p:cNvPicPr>
            <a:picLocks noChangeAspect="1"/>
          </p:cNvPicPr>
          <p:nvPr/>
        </p:nvPicPr>
        <p:blipFill>
          <a:blip r:embed="rId4"/>
          <a:stretch>
            <a:fillRect/>
          </a:stretch>
        </p:blipFill>
        <p:spPr>
          <a:xfrm>
            <a:off x="376186" y="5899150"/>
            <a:ext cx="10032819" cy="485459"/>
          </a:xfrm>
          <a:prstGeom prst="rect">
            <a:avLst/>
          </a:prstGeom>
        </p:spPr>
      </p:pic>
      <p:pic>
        <p:nvPicPr>
          <p:cNvPr id="9" name="Picture 8"/>
          <p:cNvPicPr>
            <a:picLocks noChangeAspect="1"/>
          </p:cNvPicPr>
          <p:nvPr/>
        </p:nvPicPr>
        <p:blipFill>
          <a:blip r:embed="rId5"/>
          <a:stretch>
            <a:fillRect/>
          </a:stretch>
        </p:blipFill>
        <p:spPr>
          <a:xfrm>
            <a:off x="6126480" y="1894582"/>
            <a:ext cx="5649857" cy="4004569"/>
          </a:xfrm>
          <a:prstGeom prst="rect">
            <a:avLst/>
          </a:prstGeom>
        </p:spPr>
      </p:pic>
    </p:spTree>
    <p:extLst>
      <p:ext uri="{BB962C8B-B14F-4D97-AF65-F5344CB8AC3E}">
        <p14:creationId xmlns:p14="http://schemas.microsoft.com/office/powerpoint/2010/main" val="6483279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828800" y="27635"/>
            <a:ext cx="8183879" cy="6497396"/>
          </a:xfrm>
          <a:prstGeom prst="rect">
            <a:avLst/>
          </a:prstGeom>
        </p:spPr>
      </p:pic>
    </p:spTree>
    <p:extLst>
      <p:ext uri="{BB962C8B-B14F-4D97-AF65-F5344CB8AC3E}">
        <p14:creationId xmlns:p14="http://schemas.microsoft.com/office/powerpoint/2010/main" val="3093996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14400" y="286356"/>
            <a:ext cx="10027920" cy="6019871"/>
          </a:xfrm>
          <a:prstGeom prst="rect">
            <a:avLst/>
          </a:prstGeom>
        </p:spPr>
      </p:pic>
      <p:pic>
        <p:nvPicPr>
          <p:cNvPr id="5" name="Picture 4"/>
          <p:cNvPicPr>
            <a:picLocks noChangeAspect="1"/>
          </p:cNvPicPr>
          <p:nvPr/>
        </p:nvPicPr>
        <p:blipFill>
          <a:blip r:embed="rId3"/>
          <a:stretch>
            <a:fillRect/>
          </a:stretch>
        </p:blipFill>
        <p:spPr>
          <a:xfrm>
            <a:off x="6283642" y="5703285"/>
            <a:ext cx="4658678" cy="1154715"/>
          </a:xfrm>
          <a:prstGeom prst="rect">
            <a:avLst/>
          </a:prstGeom>
        </p:spPr>
      </p:pic>
    </p:spTree>
    <p:extLst>
      <p:ext uri="{BB962C8B-B14F-4D97-AF65-F5344CB8AC3E}">
        <p14:creationId xmlns:p14="http://schemas.microsoft.com/office/powerpoint/2010/main" val="11482261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554480" y="287930"/>
            <a:ext cx="9039020" cy="6250029"/>
          </a:xfrm>
          <a:prstGeom prst="rect">
            <a:avLst/>
          </a:prstGeom>
        </p:spPr>
      </p:pic>
    </p:spTree>
    <p:extLst>
      <p:ext uri="{BB962C8B-B14F-4D97-AF65-F5344CB8AC3E}">
        <p14:creationId xmlns:p14="http://schemas.microsoft.com/office/powerpoint/2010/main" val="42829010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3164</TotalTime>
  <Words>638</Words>
  <Application>Microsoft Office PowerPoint</Application>
  <PresentationFormat>Widescreen</PresentationFormat>
  <Paragraphs>143</Paragraphs>
  <Slides>38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Arial</vt:lpstr>
      <vt:lpstr>Berkeley-Black</vt:lpstr>
      <vt:lpstr>Berkeley-Bold</vt:lpstr>
      <vt:lpstr>Calibri</vt:lpstr>
      <vt:lpstr>Calibri Light</vt:lpstr>
      <vt:lpstr>Times New Roman</vt:lpstr>
      <vt:lpstr>Times-Roman</vt:lpstr>
      <vt:lpstr>Wingdings</vt:lpstr>
      <vt:lpstr>Office Theme</vt:lpstr>
      <vt:lpstr>Small-Signal Analysis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NINGULWAS_</dc:creator>
  <cp:lastModifiedBy>NINGULWAS</cp:lastModifiedBy>
  <cp:revision>48</cp:revision>
  <dcterms:created xsi:type="dcterms:W3CDTF">2020-12-24T05:45:29Z</dcterms:created>
  <dcterms:modified xsi:type="dcterms:W3CDTF">2021-11-22T09:26:52Z</dcterms:modified>
</cp:coreProperties>
</file>