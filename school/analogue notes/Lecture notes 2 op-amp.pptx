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sldIdLst>
    <p:sldId id="312" r:id="rId2"/>
    <p:sldId id="307" r:id="rId3"/>
    <p:sldId id="314" r:id="rId4"/>
    <p:sldId id="338" r:id="rId5"/>
    <p:sldId id="315" r:id="rId6"/>
    <p:sldId id="316" r:id="rId7"/>
    <p:sldId id="317" r:id="rId8"/>
    <p:sldId id="318" r:id="rId9"/>
    <p:sldId id="319" r:id="rId10"/>
    <p:sldId id="320" r:id="rId11"/>
    <p:sldId id="321" r:id="rId12"/>
    <p:sldId id="322" r:id="rId13"/>
    <p:sldId id="323" r:id="rId14"/>
    <p:sldId id="324" r:id="rId15"/>
    <p:sldId id="325" r:id="rId16"/>
    <p:sldId id="326" r:id="rId17"/>
    <p:sldId id="327" r:id="rId18"/>
    <p:sldId id="328" r:id="rId19"/>
    <p:sldId id="329" r:id="rId20"/>
    <p:sldId id="330" r:id="rId21"/>
    <p:sldId id="331" r:id="rId22"/>
    <p:sldId id="332" r:id="rId23"/>
    <p:sldId id="333" r:id="rId24"/>
    <p:sldId id="334" r:id="rId25"/>
    <p:sldId id="335" r:id="rId26"/>
    <p:sldId id="336" r:id="rId27"/>
    <p:sldId id="337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47" autoAdjust="0"/>
    <p:restoredTop sz="94660"/>
  </p:normalViewPr>
  <p:slideViewPr>
    <p:cSldViewPr snapToGrid="0">
      <p:cViewPr varScale="1">
        <p:scale>
          <a:sx n="72" d="100"/>
          <a:sy n="72" d="100"/>
        </p:scale>
        <p:origin x="6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8E5BB-F0B5-4118-85BB-D434A82F39BC}" type="datetimeFigureOut">
              <a:rPr lang="en-US" smtClean="0"/>
              <a:t>11/10/2021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E08FF-6A75-4403-B277-2F5DF6C9D2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509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8E5BB-F0B5-4118-85BB-D434A82F39BC}" type="datetimeFigureOut">
              <a:rPr lang="en-US" smtClean="0"/>
              <a:t>11/10/2021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E08FF-6A75-4403-B277-2F5DF6C9D2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753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8E5BB-F0B5-4118-85BB-D434A82F39BC}" type="datetimeFigureOut">
              <a:rPr lang="en-US" smtClean="0"/>
              <a:t>11/10/2021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E08FF-6A75-4403-B277-2F5DF6C9D2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30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8E5BB-F0B5-4118-85BB-D434A82F39BC}" type="datetimeFigureOut">
              <a:rPr lang="en-US" smtClean="0"/>
              <a:t>11/10/2021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E08FF-6A75-4403-B277-2F5DF6C9D2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225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8E5BB-F0B5-4118-85BB-D434A82F39BC}" type="datetimeFigureOut">
              <a:rPr lang="en-US" smtClean="0"/>
              <a:t>11/10/2021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E08FF-6A75-4403-B277-2F5DF6C9D2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096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8E5BB-F0B5-4118-85BB-D434A82F39BC}" type="datetimeFigureOut">
              <a:rPr lang="en-US" smtClean="0"/>
              <a:t>11/10/2021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E08FF-6A75-4403-B277-2F5DF6C9D2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807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8E5BB-F0B5-4118-85BB-D434A82F39BC}" type="datetimeFigureOut">
              <a:rPr lang="en-US" smtClean="0"/>
              <a:t>11/10/2021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E08FF-6A75-4403-B277-2F5DF6C9D2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130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8E5BB-F0B5-4118-85BB-D434A82F39BC}" type="datetimeFigureOut">
              <a:rPr lang="en-US" smtClean="0"/>
              <a:t>11/10/2021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E08FF-6A75-4403-B277-2F5DF6C9D2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927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8E5BB-F0B5-4118-85BB-D434A82F39BC}" type="datetimeFigureOut">
              <a:rPr lang="en-US" smtClean="0"/>
              <a:t>11/10/2021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E08FF-6A75-4403-B277-2F5DF6C9D2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779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8E5BB-F0B5-4118-85BB-D434A82F39BC}" type="datetimeFigureOut">
              <a:rPr lang="en-US" smtClean="0"/>
              <a:t>11/10/2021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E08FF-6A75-4403-B277-2F5DF6C9D2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038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8E5BB-F0B5-4118-85BB-D434A82F39BC}" type="datetimeFigureOut">
              <a:rPr lang="en-US" smtClean="0"/>
              <a:t>11/10/2021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E08FF-6A75-4403-B277-2F5DF6C9D2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905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08E5BB-F0B5-4118-85BB-D434A82F39BC}" type="datetimeFigureOut">
              <a:rPr lang="en-US" smtClean="0"/>
              <a:t>11/10/2021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AE08FF-6A75-4403-B277-2F5DF6C9D2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383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4691" y="180108"/>
            <a:ext cx="11845636" cy="6567055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>
                <a:solidFill>
                  <a:srgbClr val="4484A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Negative feedback on op-amps</a:t>
            </a:r>
            <a:endParaRPr lang="en-US" dirty="0">
              <a:solidFill>
                <a:srgbClr val="231F2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solidFill>
                <a:srgbClr val="231F2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Negative feedback is one of the most useful concepts in electronics, particularly in op-amp applications.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4484A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Negative feedback </a:t>
            </a: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the process whereby a portion of the output voltage of an amplifier is returned to the input with a phase angle that opposes (or subtracts from) the input signal.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Negative feedback is illustrated in Figure 12–14. The inverting input effectively makes the feedback signal 180° out of phase with the input signal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5448" y="4210897"/>
            <a:ext cx="4537890" cy="2647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746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0456" y="180304"/>
            <a:ext cx="11681138" cy="6677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4385A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Use Negative Feedback?</a:t>
            </a:r>
            <a:br>
              <a:rPr lang="en-US" sz="3600" b="1" dirty="0">
                <a:solidFill>
                  <a:srgbClr val="4385A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inherent open-loop voltage gain of a typical op-amp is very high (usually greater than 100,000). 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Therefore, an extremely small input voltage drives the op-amp into its saturated output states. In fact, even the input offset voltage of the op-amp can drive it into saturation. For example, assume 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8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 mV and </a:t>
            </a:r>
            <a:r>
              <a:rPr lang="en-US" sz="2400" i="1" dirty="0" err="1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800" i="1" dirty="0" err="1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</a:t>
            </a:r>
            <a:r>
              <a:rPr lang="en-US" sz="18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=100,000. 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Then,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Vo =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 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en-US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ol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=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1 mV x100,000=100V</a:t>
            </a:r>
            <a:b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Since the output level of an op-amp can never reach 100 V, it is driven deep into saturation and the output is limited to its maximum output levels, as illustrated in Figure 12–15 for both a positive and a negative input voltage of 1 mV.</a:t>
            </a:r>
            <a:b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usefulness of an op-amp operated without negative feedback is generally limited to comparator applications.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332" y="5058613"/>
            <a:ext cx="5241693" cy="179938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4260" y="5058613"/>
            <a:ext cx="5024393" cy="1687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513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5527" y="193964"/>
            <a:ext cx="11804073" cy="6511636"/>
          </a:xfrm>
        </p:spPr>
        <p:txBody>
          <a:bodyPr>
            <a:noAutofit/>
          </a:bodyPr>
          <a:lstStyle/>
          <a:p>
            <a:pPr marL="0" indent="0" algn="ctr">
              <a:lnSpc>
                <a:spcPct val="17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EC00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OP-AMPS WITH NEGATIVE FEEDBACK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op-amp can be connected using negative feedback to stabilize the gain and increase frequency response. 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Negative feedback takes a portion of the output and applies it back out of phase with the input, creating an effective reduction in gain. 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closed loop gain is usually much less than the open-loop gain and independent of it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4484A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Closed-Loop Voltage Gain, </a:t>
            </a:r>
            <a:r>
              <a:rPr lang="en-US" sz="2400" b="1" i="1" dirty="0" err="1">
                <a:solidFill>
                  <a:srgbClr val="4484A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Acl</a:t>
            </a:r>
            <a:br>
              <a:rPr lang="en-US" sz="2400" b="1" i="1" dirty="0">
                <a:solidFill>
                  <a:srgbClr val="4484A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>
                <a:solidFill>
                  <a:srgbClr val="4484A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closed-loop voltage gain 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the voltage gain of an op-amp with external feedback.</a:t>
            </a:r>
            <a:b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amplifier configuration consists of the op-amp and an external negative feedback circuit that connects the output to the inverting input. </a:t>
            </a:r>
          </a:p>
        </p:txBody>
      </p:sp>
    </p:spTree>
    <p:extLst>
      <p:ext uri="{BB962C8B-B14F-4D97-AF65-F5344CB8AC3E}">
        <p14:creationId xmlns:p14="http://schemas.microsoft.com/office/powerpoint/2010/main" val="2373149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D2AEE-2BE7-466B-A7FC-2836537B1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91" y="132522"/>
            <a:ext cx="11685105" cy="6587780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closed-loop voltage gain is determined by the external component values and can be precisely controlled by them.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4385A7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385A7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Noninverting Amplifier</a:t>
            </a:r>
            <a:b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385A7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An op-amp connected in a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closed-loop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configuration as a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484A8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noninverting amplifier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with a controlled amount of voltage gain is shown in Figure 12–16. The input signal is applied to the noninverting (+) input. The output is applied back to the inverting input through the feedback circuit (closed loop) formed by the input resistor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Ri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and the feedback resistor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Rf.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8459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3964" y="96982"/>
            <a:ext cx="11887200" cy="6622473"/>
          </a:xfrm>
        </p:spPr>
        <p:txBody>
          <a:bodyPr>
            <a:noAutofit/>
          </a:bodyPr>
          <a:lstStyle/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creates negative feedback as follows. 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Resistors </a:t>
            </a:r>
            <a:r>
              <a:rPr lang="en-US" sz="2400" i="1" dirty="0" err="1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400" i="1" dirty="0" err="1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Rf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 a voltage-divider circuit, which reduces </a:t>
            </a:r>
            <a:r>
              <a:rPr lang="en-US" sz="2400" i="1" dirty="0" err="1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Vout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connects the reduced voltage </a:t>
            </a:r>
            <a:r>
              <a:rPr lang="en-US" sz="2400" i="1" dirty="0" err="1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Vf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the inverting input. The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feedback voltage is expressed as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2400" dirty="0">
              <a:solidFill>
                <a:srgbClr val="231F2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2400" dirty="0">
              <a:solidFill>
                <a:srgbClr val="231F2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2400" dirty="0">
              <a:solidFill>
                <a:srgbClr val="231F2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2400" dirty="0">
              <a:solidFill>
                <a:srgbClr val="231F2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2400" dirty="0">
              <a:solidFill>
                <a:srgbClr val="231F2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2400" dirty="0">
              <a:solidFill>
                <a:srgbClr val="231F2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2400" dirty="0">
              <a:solidFill>
                <a:srgbClr val="231F2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2400" dirty="0">
              <a:solidFill>
                <a:srgbClr val="231F2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12.16 Noninverting amplifier.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3737" y="1613621"/>
            <a:ext cx="2342608" cy="10325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8016" y="2867891"/>
            <a:ext cx="4038329" cy="2361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287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363" y="249382"/>
            <a:ext cx="11665527" cy="6414654"/>
          </a:xfrm>
        </p:spPr>
        <p:txBody>
          <a:bodyPr/>
          <a:lstStyle/>
          <a:p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difference of the input voltage, </a:t>
            </a:r>
            <a:r>
              <a:rPr lang="en-US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0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the feedback voltage, </a:t>
            </a:r>
            <a:r>
              <a:rPr lang="en-US" i="1" dirty="0" err="1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000" i="1" dirty="0" err="1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is the differential input to the op-amp, as shown in Figure 12–17. This differential voltage is amplified by the open-loop voltage gain of the op-amp (</a:t>
            </a:r>
            <a:r>
              <a:rPr lang="en-US" i="1" dirty="0" err="1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000" i="1" dirty="0" err="1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</a:t>
            </a: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and produces an output voltage expressed as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rgbClr val="231F2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rgbClr val="231F2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rgbClr val="231F2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8"/>
            <a:endParaRPr lang="en-US" dirty="0">
              <a:solidFill>
                <a:srgbClr val="231F2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8"/>
            <a:endParaRPr lang="en-US" dirty="0">
              <a:solidFill>
                <a:srgbClr val="231F2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8"/>
            <a:endParaRPr lang="en-US" dirty="0">
              <a:solidFill>
                <a:srgbClr val="231F2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57600" lvl="8" indent="0">
              <a:buNone/>
            </a:pP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Figure 12.17        Differential input, </a:t>
            </a:r>
            <a:r>
              <a:rPr lang="en-US" sz="28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0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i="1" dirty="0" err="1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400" i="1" dirty="0" err="1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875" y="2077267"/>
            <a:ext cx="5161251" cy="243455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7044" y="2077267"/>
            <a:ext cx="3688046" cy="2074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0898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01091" y="473264"/>
            <a:ext cx="8049491" cy="6287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006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8545" y="138545"/>
            <a:ext cx="11914910" cy="6553200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Notice that the closed-loop voltage gain is not at all dependent on the op-amp’s open-loop voltage gain under the condition.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closed-loop gain can be set by selecting values of </a:t>
            </a:r>
            <a:r>
              <a:rPr lang="en-US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0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0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rgbClr val="4484A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Voltage-Follower</a:t>
            </a:r>
            <a:br>
              <a:rPr lang="en-US" sz="4000" b="1" dirty="0">
                <a:solidFill>
                  <a:srgbClr val="4484A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solidFill>
                  <a:srgbClr val="4484A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voltage-follower </a:t>
            </a: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 is a special case of the noninverting amplifier where all of the output voltage is fed back to the inverting input by a straight connection, as shown in Figure 12–19. As you can see, the straight feedback connection has a voltage gain of 1 (which means there is no gain). The closed-loop voltage gain of a noninverting amplifier is as previously derived. Since </a:t>
            </a:r>
            <a:r>
              <a:rPr lang="en-US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 for a voltage-follower, the closed-loop voltage gain of the voltage-follower 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522" y="5278582"/>
            <a:ext cx="2209341" cy="72043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9263" y="4765965"/>
            <a:ext cx="2357791" cy="2105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8231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981" y="124691"/>
            <a:ext cx="11970327" cy="6567054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most important features of the voltage-follower configuration are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its very high input impedance and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its very low output impedance.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rgbClr val="4385A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Inverting Amplifier</a:t>
            </a:r>
            <a:br>
              <a:rPr lang="en-US" b="1" dirty="0">
                <a:solidFill>
                  <a:srgbClr val="4385A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op-amp connected as an </a:t>
            </a:r>
            <a:r>
              <a:rPr lang="en-US" b="1" dirty="0">
                <a:solidFill>
                  <a:srgbClr val="4484A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inverting amplifier </a:t>
            </a: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a controlled amount of voltage gain is shown in Figure 12–20. The input signal is applied through a series input resistor </a:t>
            </a:r>
            <a:r>
              <a:rPr lang="en-US" i="1" dirty="0" err="1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</a:t>
            </a:r>
            <a:r>
              <a:rPr lang="en-US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the inverting input. Also, the output is fed back through </a:t>
            </a:r>
            <a:r>
              <a:rPr lang="en-US" i="1" dirty="0" err="1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Rf</a:t>
            </a:r>
            <a:r>
              <a:rPr lang="en-US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the same input. The noninverting (+) input is grounded.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7066" y="3588326"/>
            <a:ext cx="4250803" cy="2923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030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4691" y="110836"/>
            <a:ext cx="11229109" cy="6650182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Note;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infinite input impedance implies zero current at the inverting input. If there is zero current through the input impedance, then there must be 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voltage drop between the inverting and noninverting inputs.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Thus, the voltage at the inverting input is zero because the noninverting (+) input is grounded.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zero voltage at the inverting input terminal is referred to as 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virtual ground. </a:t>
            </a:r>
            <a:b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Since there is no current at the inverting input, the current through 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 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the current through </a:t>
            </a:r>
            <a:r>
              <a:rPr lang="en-US" sz="24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Rf </a:t>
            </a:r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equal, as shown in Figure 12–21(b).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9263" y="4572000"/>
            <a:ext cx="332613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7264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5674" y="255519"/>
            <a:ext cx="9227126" cy="6670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2028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2455" y="232351"/>
            <a:ext cx="11672454" cy="6390121"/>
          </a:xfrm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160000"/>
              </a:lnSpc>
              <a:spcBef>
                <a:spcPts val="0"/>
              </a:spcBef>
              <a:buNone/>
            </a:pPr>
            <a:r>
              <a:rPr lang="en-US" sz="3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Note;</a:t>
            </a:r>
          </a:p>
          <a:p>
            <a:pPr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closed loop gain is independent of the op-amp’s internal open-loop gain. </a:t>
            </a:r>
          </a:p>
          <a:p>
            <a:pPr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Thus, the negative feedback stabilizes the voltage gain.</a:t>
            </a:r>
          </a:p>
          <a:p>
            <a:pPr marL="0" indent="0">
              <a:lnSpc>
                <a:spcPct val="160000"/>
              </a:lnSpc>
              <a:spcBef>
                <a:spcPts val="0"/>
              </a:spcBef>
              <a:buNone/>
            </a:pPr>
            <a:r>
              <a:rPr lang="en-US" sz="3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(The negative sign indicates inversion).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lnSpc>
                <a:spcPct val="160000"/>
              </a:lnSpc>
              <a:spcBef>
                <a:spcPts val="0"/>
              </a:spcBef>
              <a:buNone/>
            </a:pPr>
            <a:b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Effects of negative feedback on op-amp impedances</a:t>
            </a:r>
          </a:p>
          <a:p>
            <a:pPr marL="0" indent="0">
              <a:lnSpc>
                <a:spcPct val="160000"/>
              </a:lnSpc>
              <a:spcBef>
                <a:spcPts val="0"/>
              </a:spcBef>
              <a:buNone/>
            </a:pPr>
            <a:r>
              <a:rPr lang="en-US" sz="3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Negative feedback affects the input and output impedances of an op-amp. </a:t>
            </a:r>
            <a:b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400" b="1" dirty="0">
                <a:solidFill>
                  <a:srgbClr val="4385A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Impedances of the Noninverting Amplifier</a:t>
            </a:r>
            <a:br>
              <a:rPr lang="en-US" sz="3400" b="1" dirty="0">
                <a:solidFill>
                  <a:srgbClr val="4385A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400" b="1" i="1" dirty="0">
                <a:solidFill>
                  <a:srgbClr val="4B8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Impedance </a:t>
            </a:r>
          </a:p>
          <a:p>
            <a:pPr marL="0" indent="0">
              <a:lnSpc>
                <a:spcPct val="160000"/>
              </a:lnSpc>
              <a:spcBef>
                <a:spcPts val="0"/>
              </a:spcBef>
              <a:buNone/>
            </a:pPr>
            <a:r>
              <a:rPr lang="en-US" sz="3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input impedance of a noninverting amplifier can be developed with the aid of Figure 12–23. For this analysis, assume a small differential voltage, </a:t>
            </a:r>
            <a:r>
              <a:rPr lang="en-US" sz="3400" i="1" dirty="0" err="1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Vd</a:t>
            </a:r>
            <a:r>
              <a:rPr lang="en-US" sz="3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exists between the two inputs, as indicated. </a:t>
            </a:r>
          </a:p>
          <a:p>
            <a:pPr marL="0" indent="0">
              <a:lnSpc>
                <a:spcPct val="160000"/>
              </a:lnSpc>
              <a:spcBef>
                <a:spcPts val="0"/>
              </a:spcBef>
              <a:buNone/>
            </a:pPr>
            <a:r>
              <a:rPr lang="en-US" sz="3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means that you cannot assume the op-amp’s input impedance to be infinite or the input current to be zero.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70916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3963" y="180109"/>
            <a:ext cx="11859491" cy="6539346"/>
          </a:xfrm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rgbClr val="231F2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rgbClr val="231F2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rgbClr val="231F2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rgbClr val="231F2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Express the input voltage as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9875" y="682312"/>
            <a:ext cx="3660198" cy="244881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06" y="3491346"/>
            <a:ext cx="10835537" cy="2479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5532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4505" y="512619"/>
            <a:ext cx="10472878" cy="43745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0109" y="304798"/>
            <a:ext cx="11762509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000" dirty="0">
              <a:solidFill>
                <a:srgbClr val="231F20"/>
              </a:solidFill>
              <a:latin typeface="Times-Roman"/>
            </a:endParaRPr>
          </a:p>
          <a:p>
            <a:endParaRPr lang="en-US" sz="1000" dirty="0">
              <a:solidFill>
                <a:srgbClr val="231F20"/>
              </a:solidFill>
              <a:latin typeface="Times-Roman"/>
            </a:endParaRPr>
          </a:p>
          <a:p>
            <a:endParaRPr lang="en-US" sz="1000" dirty="0">
              <a:solidFill>
                <a:srgbClr val="231F20"/>
              </a:solidFill>
              <a:latin typeface="Times-Roman"/>
            </a:endParaRPr>
          </a:p>
          <a:p>
            <a:endParaRPr lang="en-US" sz="1000" dirty="0">
              <a:solidFill>
                <a:srgbClr val="231F20"/>
              </a:solidFill>
              <a:latin typeface="Times-Roman"/>
            </a:endParaRPr>
          </a:p>
          <a:p>
            <a:endParaRPr lang="en-US" sz="1000" dirty="0">
              <a:solidFill>
                <a:srgbClr val="231F20"/>
              </a:solidFill>
              <a:latin typeface="Times-Roman"/>
            </a:endParaRPr>
          </a:p>
          <a:p>
            <a:endParaRPr lang="en-US" sz="1000" dirty="0">
              <a:solidFill>
                <a:srgbClr val="231F20"/>
              </a:solidFill>
              <a:latin typeface="Times-Roman"/>
            </a:endParaRPr>
          </a:p>
          <a:p>
            <a:endParaRPr lang="en-US" sz="1000" dirty="0">
              <a:solidFill>
                <a:srgbClr val="231F20"/>
              </a:solidFill>
              <a:latin typeface="Times-Roman"/>
            </a:endParaRPr>
          </a:p>
          <a:p>
            <a:endParaRPr lang="en-US" sz="1000" dirty="0">
              <a:solidFill>
                <a:srgbClr val="231F20"/>
              </a:solidFill>
              <a:latin typeface="Times-Roman"/>
            </a:endParaRPr>
          </a:p>
          <a:p>
            <a:endParaRPr lang="en-US" sz="1000" dirty="0">
              <a:solidFill>
                <a:srgbClr val="231F20"/>
              </a:solidFill>
              <a:latin typeface="Times-Roman"/>
            </a:endParaRPr>
          </a:p>
          <a:p>
            <a:endParaRPr lang="en-US" sz="1000" dirty="0">
              <a:solidFill>
                <a:srgbClr val="231F20"/>
              </a:solidFill>
              <a:latin typeface="Times-Roman"/>
            </a:endParaRPr>
          </a:p>
          <a:p>
            <a:endParaRPr lang="en-US" sz="1000" dirty="0">
              <a:solidFill>
                <a:srgbClr val="231F20"/>
              </a:solidFill>
              <a:latin typeface="Times-Roman"/>
            </a:endParaRPr>
          </a:p>
          <a:p>
            <a:endParaRPr lang="en-US" sz="1000" dirty="0">
              <a:solidFill>
                <a:srgbClr val="231F20"/>
              </a:solidFill>
              <a:latin typeface="Times-Roman"/>
            </a:endParaRPr>
          </a:p>
          <a:p>
            <a:endParaRPr lang="en-US" sz="1000" dirty="0">
              <a:solidFill>
                <a:srgbClr val="231F20"/>
              </a:solidFill>
              <a:latin typeface="Times-Roman"/>
            </a:endParaRPr>
          </a:p>
          <a:p>
            <a:endParaRPr lang="en-US" sz="1000" dirty="0">
              <a:solidFill>
                <a:srgbClr val="231F20"/>
              </a:solidFill>
              <a:latin typeface="Times-Roman"/>
            </a:endParaRPr>
          </a:p>
          <a:p>
            <a:endParaRPr lang="en-US" sz="1000" dirty="0">
              <a:solidFill>
                <a:srgbClr val="231F20"/>
              </a:solidFill>
              <a:latin typeface="Times-Roman"/>
            </a:endParaRPr>
          </a:p>
          <a:p>
            <a:endParaRPr lang="en-US" sz="1000" dirty="0">
              <a:solidFill>
                <a:srgbClr val="231F20"/>
              </a:solidFill>
              <a:latin typeface="Times-Roman"/>
            </a:endParaRPr>
          </a:p>
          <a:p>
            <a:endParaRPr lang="en-US" sz="1000" dirty="0">
              <a:solidFill>
                <a:srgbClr val="231F20"/>
              </a:solidFill>
              <a:latin typeface="Times-Roman"/>
            </a:endParaRPr>
          </a:p>
          <a:p>
            <a:endParaRPr lang="en-US" sz="1000" dirty="0">
              <a:solidFill>
                <a:srgbClr val="231F20"/>
              </a:solidFill>
              <a:latin typeface="Times-Roman"/>
            </a:endParaRPr>
          </a:p>
          <a:p>
            <a:endParaRPr lang="en-US" sz="1000" dirty="0">
              <a:solidFill>
                <a:srgbClr val="231F20"/>
              </a:solidFill>
              <a:latin typeface="Times-Roman"/>
            </a:endParaRPr>
          </a:p>
          <a:p>
            <a:endParaRPr lang="en-US" sz="1000" dirty="0">
              <a:solidFill>
                <a:srgbClr val="231F20"/>
              </a:solidFill>
              <a:latin typeface="Times-Roman"/>
            </a:endParaRPr>
          </a:p>
          <a:p>
            <a:endParaRPr lang="en-US" sz="1000" dirty="0">
              <a:solidFill>
                <a:srgbClr val="231F20"/>
              </a:solidFill>
              <a:latin typeface="Times-Roman"/>
            </a:endParaRPr>
          </a:p>
          <a:p>
            <a:endParaRPr lang="en-US" sz="1000" dirty="0">
              <a:solidFill>
                <a:srgbClr val="231F20"/>
              </a:solidFill>
              <a:latin typeface="Times-Roman"/>
            </a:endParaRPr>
          </a:p>
          <a:p>
            <a:endParaRPr lang="en-US" sz="1000" dirty="0">
              <a:solidFill>
                <a:srgbClr val="231F20"/>
              </a:solidFill>
              <a:latin typeface="Times-Roman"/>
            </a:endParaRPr>
          </a:p>
          <a:p>
            <a:endParaRPr lang="en-US" sz="1000" dirty="0">
              <a:solidFill>
                <a:srgbClr val="231F20"/>
              </a:solidFill>
              <a:latin typeface="Times-Roman"/>
            </a:endParaRPr>
          </a:p>
          <a:p>
            <a:endParaRPr lang="en-US" sz="1000" dirty="0">
              <a:solidFill>
                <a:srgbClr val="231F20"/>
              </a:solidFill>
              <a:latin typeface="Times-Roman"/>
            </a:endParaRPr>
          </a:p>
          <a:p>
            <a:endParaRPr lang="en-US" sz="1000" dirty="0">
              <a:solidFill>
                <a:srgbClr val="231F20"/>
              </a:solidFill>
              <a:latin typeface="Times-Roman"/>
            </a:endParaRPr>
          </a:p>
          <a:p>
            <a:endParaRPr lang="en-US" sz="1000" dirty="0">
              <a:solidFill>
                <a:srgbClr val="231F20"/>
              </a:solidFill>
              <a:latin typeface="Times-Roman"/>
            </a:endParaRPr>
          </a:p>
          <a:p>
            <a:endParaRPr lang="en-US" sz="1000" dirty="0">
              <a:solidFill>
                <a:srgbClr val="231F20"/>
              </a:solidFill>
              <a:latin typeface="Times-Roman"/>
            </a:endParaRPr>
          </a:p>
          <a:p>
            <a:endParaRPr lang="en-US" sz="2400" dirty="0">
              <a:solidFill>
                <a:srgbClr val="231F20"/>
              </a:solidFill>
              <a:latin typeface="Times-Roman"/>
            </a:endParaRPr>
          </a:p>
          <a:p>
            <a:r>
              <a:rPr lang="en-US" sz="24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equation shows that the input impedance of the noninverting amplifier configuration with negative feedback is much greater than the internal input impedance of the op-amp itself (without feedback).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2400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221004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6255" y="96982"/>
            <a:ext cx="11187545" cy="6079981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4B8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Impedance </a:t>
            </a:r>
          </a:p>
          <a:p>
            <a:pPr marL="0" indent="0">
              <a:buNone/>
            </a:pP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expression for output impedance of a noninverting amplifier can be developed with the aid of Figure 12–24.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918" y="1840182"/>
            <a:ext cx="8043427" cy="459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553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6631" y="1122219"/>
            <a:ext cx="11022751" cy="509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1893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962" y="471055"/>
            <a:ext cx="11540514" cy="6178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5369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9382" y="166254"/>
            <a:ext cx="11734800" cy="6442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equation shows that the output impedance of the noninverting amplifier configuration with negative feedback is much less than the internal output impedance, </a:t>
            </a:r>
            <a:r>
              <a:rPr lang="en-US" i="1" dirty="0" err="1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Zout</a:t>
            </a: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of the </a:t>
            </a:r>
            <a:r>
              <a:rPr lang="en-US" dirty="0" err="1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opamp</a:t>
            </a: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itself (without feedback) because </a:t>
            </a:r>
            <a:r>
              <a:rPr lang="en-US" i="1" dirty="0" err="1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Zout</a:t>
            </a:r>
            <a:r>
              <a:rPr lang="en-US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divided by the factor 1 + </a:t>
            </a:r>
            <a:r>
              <a:rPr lang="en-US" i="1" dirty="0" err="1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AolB</a:t>
            </a:r>
            <a:r>
              <a:rPr lang="en-US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 Determine the input and output impedances of the amplifier in Figure 12–25. The op-amp datasheet gives Zin = 2 M</a:t>
            </a:r>
            <a:r>
              <a:rPr lang="el-GR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Zout</a:t>
            </a: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75</a:t>
            </a:r>
            <a:r>
              <a:rPr lang="el-GR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Aol</a:t>
            </a: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200,000.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 Find the closed-loop voltage gain.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2910" y="3671455"/>
            <a:ext cx="4834134" cy="3186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7983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109" y="124690"/>
            <a:ext cx="11873346" cy="6539345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3000" b="1" dirty="0">
                <a:solidFill>
                  <a:srgbClr val="4385A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Impedances of the Inverting Amplifier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br>
              <a:rPr lang="en-US" sz="4000" b="1" dirty="0">
                <a:solidFill>
                  <a:srgbClr val="4385A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input and output impedances of an inverting op-amp configuration are developed with the aid of Figure 12–26. Both the input signal and the negative feedback are applied, through resistors, to the inverting terminal as shown.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b="1" i="1" dirty="0">
              <a:solidFill>
                <a:srgbClr val="4B836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b="1" i="1" dirty="0">
              <a:solidFill>
                <a:srgbClr val="4B836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b="1" i="1" dirty="0">
              <a:solidFill>
                <a:srgbClr val="4B836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b="1" i="1" dirty="0">
              <a:solidFill>
                <a:srgbClr val="4B836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b="1" i="1" dirty="0">
              <a:solidFill>
                <a:srgbClr val="4B836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b="1" i="1" dirty="0">
              <a:solidFill>
                <a:srgbClr val="4B836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b="1" i="1" dirty="0">
              <a:solidFill>
                <a:srgbClr val="4B836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b="1" i="1" dirty="0">
              <a:solidFill>
                <a:srgbClr val="4B836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1" i="1" dirty="0">
                <a:solidFill>
                  <a:srgbClr val="4B83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Impedance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input impedance for an inverting amplifier is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b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is because the inverting input of the op-amp is at virtual ground (0 V), and the input source simply sees </a:t>
            </a:r>
            <a:r>
              <a:rPr lang="en-US" i="1" dirty="0" err="1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000" i="1" dirty="0" err="1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ground, as shown in Figure 12–27.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6627" y="1648691"/>
            <a:ext cx="5214636" cy="295708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1246" y="4778089"/>
            <a:ext cx="2040033" cy="856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7062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6255" y="96982"/>
            <a:ext cx="11790218" cy="6497782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endParaRPr lang="en-US" sz="2200" b="1" i="1" dirty="0">
              <a:solidFill>
                <a:srgbClr val="4B836A"/>
              </a:solidFill>
              <a:latin typeface="StrayhornMT-ExtraBoldItalic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2200" b="1" i="1" dirty="0">
              <a:solidFill>
                <a:srgbClr val="4B836A"/>
              </a:solidFill>
              <a:latin typeface="StrayhornMT-ExtraBoldItalic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2200" b="1" i="1" dirty="0">
              <a:solidFill>
                <a:srgbClr val="4B836A"/>
              </a:solidFill>
              <a:latin typeface="StrayhornMT-ExtraBoldItalic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2200" b="1" i="1" dirty="0">
              <a:solidFill>
                <a:srgbClr val="4B836A"/>
              </a:solidFill>
              <a:latin typeface="StrayhornMT-ExtraBoldItalic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2200" b="1" i="1" dirty="0">
              <a:solidFill>
                <a:srgbClr val="4B836A"/>
              </a:solidFill>
              <a:latin typeface="StrayhornMT-ExtraBoldItalic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2500" b="1" i="1" dirty="0">
              <a:solidFill>
                <a:srgbClr val="4B836A"/>
              </a:solidFill>
              <a:latin typeface="StrayhornMT-ExtraBoldItalic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500" b="1" i="1" dirty="0">
                <a:solidFill>
                  <a:srgbClr val="4B836A"/>
                </a:solidFill>
                <a:latin typeface="StrayhornMT-ExtraBoldItalic"/>
              </a:rPr>
              <a:t>Output Impedance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500" dirty="0">
                <a:solidFill>
                  <a:srgbClr val="231F20"/>
                </a:solidFill>
                <a:latin typeface="Times-Roman"/>
              </a:rPr>
              <a:t>As with a noninverting amplifier, the output impedance of an inverting amplifier is decreased by the negative feedback. In fact, the expression is the same as for the noninverting case.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2500" b="1" dirty="0">
              <a:solidFill>
                <a:srgbClr val="4385A7"/>
              </a:solidFill>
              <a:latin typeface="StrayhornMT-Bold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br>
              <a:rPr lang="en-US" sz="2500" b="1" dirty="0">
                <a:solidFill>
                  <a:srgbClr val="4385A7"/>
                </a:solidFill>
                <a:latin typeface="StrayhornMT-Bold"/>
              </a:rPr>
            </a:br>
            <a:r>
              <a:rPr lang="en-US" sz="2500" dirty="0">
                <a:solidFill>
                  <a:srgbClr val="231F20"/>
                </a:solidFill>
                <a:latin typeface="Times-Roman"/>
              </a:rPr>
              <a:t>The output impedance of both the noninverting and the inverting amplifier configurations is very low; in fact, it is almost zero in practical cases.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br>
              <a:rPr lang="en-US" sz="2500" dirty="0"/>
            </a:br>
            <a:endParaRPr lang="en-US" sz="25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62" y="162026"/>
            <a:ext cx="4198004" cy="175552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3773" y="4303350"/>
            <a:ext cx="2080782" cy="847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9553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9381" y="180109"/>
            <a:ext cx="11762509" cy="6511636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Because of this near zero output impedance, any load impedance within limits can be connected to the op-amp output and not change the output voltage. The limits for the load impedance are determined by the maximum peak-to-peak swing of the output voltage and the current limit of the op-amp.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Example;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values of the input and output impedances in Figure 12–28. Also, determine the closed-loop voltage gain. The op-amp has the following parameters: Zin = 4 M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Zout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50 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Aol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50,000;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3264" y="3726669"/>
            <a:ext cx="5402407" cy="3131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6371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109" y="152400"/>
            <a:ext cx="11859491" cy="65116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Bandwidth of an OP-Amp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electronic devices work only over a limited range of frequencies. This range of frequencies is called </a:t>
            </a:r>
            <a:r>
              <a:rPr lang="en-US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bandwidth.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OP-amp has a bandwidth i.e., the range of frequencies over which it will work properly. The bandwidth of an OP-amp depends upon the closed-loop gain of the OP-amp circuit. One important parameter is gain-bandwidth product (GBW).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defined as under 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ACL × f2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GBW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ACL = closed-loop gain at frequency f2</a:t>
            </a:r>
          </a:p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frequency at which the closed-loop gain is unity</a:t>
            </a:r>
          </a:p>
        </p:txBody>
      </p:sp>
    </p:spTree>
    <p:extLst>
      <p:ext uri="{BB962C8B-B14F-4D97-AF65-F5344CB8AC3E}">
        <p14:creationId xmlns:p14="http://schemas.microsoft.com/office/powerpoint/2010/main" val="8941012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4691" y="0"/>
            <a:ext cx="11914909" cy="6761018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can be proved that the gain-bandwidth product of an OP-amp is constant. Since an OP-amp is capable of operating as a </a:t>
            </a:r>
            <a:r>
              <a:rPr 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d.c.</a:t>
            </a: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amplifier, its bandwidth is (f2 – 0). </a:t>
            </a:r>
          </a:p>
          <a:p>
            <a:pPr marL="0" lvl="0" indent="0">
              <a:buNone/>
            </a:pP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gain-bandwidth product of an OP-amp is an important parameter because it can be used to find :</a:t>
            </a:r>
          </a:p>
          <a:p>
            <a:pPr marL="0" lvl="0" indent="0">
              <a:buNone/>
            </a:pP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The maximum value of ACL at a given value of f2.</a:t>
            </a:r>
          </a:p>
          <a:p>
            <a:pPr marL="0" lvl="0" indent="0">
              <a:buNone/>
            </a:pP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(ii) The value of f2 for a given value of ACL.</a:t>
            </a:r>
            <a:endParaRPr lang="en-US" dirty="0">
              <a:solidFill>
                <a:srgbClr val="231F2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Example; </a:t>
            </a:r>
          </a:p>
          <a:p>
            <a:pPr marL="0" indent="0">
              <a:buNone/>
            </a:pP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OP-amp has a gain-bandwidth product of 15 </a:t>
            </a:r>
            <a:r>
              <a:rPr lang="en-US" dirty="0" err="1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MHz.</a:t>
            </a: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Determine the</a:t>
            </a:r>
            <a:b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bandwidth of OP-amp when ACL = 500. Also find the maximum value of ACL when f2 = 200 kHz.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02443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109" y="96982"/>
            <a:ext cx="11845636" cy="6580909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Slew Rate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slew rate of an OP-amp is a measure of how fast the output voltage can change and is measured in volts per microsecond (V/µs).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slew rate of an OP-amp is 0.5V/µs, it means that the output from the amplifier can change by 0.5 V every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μs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frequency is a function of time, the slew rate can be used to determine the maximum operating frequency of the OP-amp as follows: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operating frequency,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fmax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Slew rate /2π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Vpk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Vpk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peak output voltage.</a:t>
            </a:r>
          </a:p>
          <a:p>
            <a:pPr marL="0" indent="0">
              <a:buNone/>
            </a:pPr>
            <a:r>
              <a:rPr lang="en-US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Example;</a:t>
            </a:r>
          </a:p>
          <a:p>
            <a:pPr marL="0" indent="0">
              <a:buNone/>
            </a:pPr>
            <a:r>
              <a:rPr lang="en-US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the maximum operating frequency for the circuit shown in Fig.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25.44. The slew rate is 0.5 V/µs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5168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29349" y="332166"/>
            <a:ext cx="3755669" cy="290979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01781" y="2715492"/>
            <a:ext cx="11679383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Figure 25.44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2.The amplifier in Fig. 25.44 is being used to amplify an input signal to a peak output voltage of 100 mV. What is the maximum operating frequency of the amplifier?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Note; The above examples show that an </a:t>
            </a:r>
            <a:r>
              <a:rPr lang="en-US" sz="2800" i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</a:t>
            </a:r>
            <a:r>
              <a:rPr lang="en-US" sz="28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-amp can be operated at a much higher frequency when being used as a small-signal amplifier than when being used as a large-signal amplifier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72330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6255" y="166254"/>
            <a:ext cx="11804072" cy="6497781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 Response of an OP-Amp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operating frequency has a significant effect on the operation of an OP-amp. The following are the important points regarding the frequency response of an OP-amp 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The maximum operating frequency of an OP-amp is given by;</a:t>
            </a:r>
          </a:p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fmax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Slew rate /2π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Vpk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Thus, the peak output voltage limits the maximum operating frequency.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(ii) When the maximum operating frequency of an OP-amp is exceeded, the result is a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distorted output waveform.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(iii) Increasing the operating frequency of an OP-amp beyond a certain point will 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Decrease the maximum output voltage swing.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Decrease the open-loop voltage gain.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Decrease the input impedance.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Increase the output impedance</a:t>
            </a:r>
          </a:p>
        </p:txBody>
      </p:sp>
    </p:spTree>
    <p:extLst>
      <p:ext uri="{BB962C8B-B14F-4D97-AF65-F5344CB8AC3E}">
        <p14:creationId xmlns:p14="http://schemas.microsoft.com/office/powerpoint/2010/main" val="21279321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Finally; </a:t>
            </a:r>
          </a:p>
          <a:p>
            <a:pPr marL="0" indent="0" algn="ctr">
              <a:buNone/>
            </a:pPr>
            <a:endParaRPr lang="en-US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Identify the applications of op-amps</a:t>
            </a:r>
          </a:p>
        </p:txBody>
      </p:sp>
    </p:spTree>
    <p:extLst>
      <p:ext uri="{BB962C8B-B14F-4D97-AF65-F5344CB8AC3E}">
        <p14:creationId xmlns:p14="http://schemas.microsoft.com/office/powerpoint/2010/main" val="31747845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1105</TotalTime>
  <Words>1941</Words>
  <Application>Microsoft Office PowerPoint</Application>
  <PresentationFormat>Widescreen</PresentationFormat>
  <Paragraphs>165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Arial</vt:lpstr>
      <vt:lpstr>Calibri</vt:lpstr>
      <vt:lpstr>Calibri Light</vt:lpstr>
      <vt:lpstr>StrayhornMT-Bold</vt:lpstr>
      <vt:lpstr>StrayhornMT-ExtraBoldItalic</vt:lpstr>
      <vt:lpstr>Times New Roman</vt:lpstr>
      <vt:lpstr>Times-Roman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NINGULWAS</dc:creator>
  <cp:lastModifiedBy>NINGULWAS</cp:lastModifiedBy>
  <cp:revision>126</cp:revision>
  <dcterms:created xsi:type="dcterms:W3CDTF">2020-12-03T08:30:03Z</dcterms:created>
  <dcterms:modified xsi:type="dcterms:W3CDTF">2021-11-10T07:27:10Z</dcterms:modified>
</cp:coreProperties>
</file>