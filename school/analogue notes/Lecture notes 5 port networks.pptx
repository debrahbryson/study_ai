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94" r:id="rId4"/>
    <p:sldId id="258" r:id="rId5"/>
    <p:sldId id="259" r:id="rId6"/>
    <p:sldId id="260" r:id="rId7"/>
    <p:sldId id="285" r:id="rId8"/>
    <p:sldId id="286" r:id="rId9"/>
    <p:sldId id="287" r:id="rId10"/>
    <p:sldId id="261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6" r:id="rId22"/>
    <p:sldId id="277" r:id="rId23"/>
    <p:sldId id="278" r:id="rId24"/>
    <p:sldId id="288" r:id="rId25"/>
    <p:sldId id="289" r:id="rId26"/>
    <p:sldId id="295" r:id="rId27"/>
    <p:sldId id="296" r:id="rId28"/>
    <p:sldId id="297" r:id="rId29"/>
    <p:sldId id="298" r:id="rId30"/>
    <p:sldId id="299" r:id="rId31"/>
    <p:sldId id="300" r:id="rId32"/>
    <p:sldId id="301" r:id="rId33"/>
    <p:sldId id="302" r:id="rId34"/>
    <p:sldId id="303" r:id="rId35"/>
    <p:sldId id="304" r:id="rId36"/>
    <p:sldId id="305" r:id="rId37"/>
    <p:sldId id="306" r:id="rId38"/>
    <p:sldId id="307" r:id="rId39"/>
    <p:sldId id="308" r:id="rId40"/>
    <p:sldId id="309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76" autoAdjust="0"/>
    <p:restoredTop sz="94660"/>
  </p:normalViewPr>
  <p:slideViewPr>
    <p:cSldViewPr snapToGrid="0">
      <p:cViewPr varScale="1">
        <p:scale>
          <a:sx n="71" d="100"/>
          <a:sy n="71" d="100"/>
        </p:scale>
        <p:origin x="1536" y="-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7DDBE-CAAA-4A62-B79C-C67341973400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8814A-5A9C-4385-9D34-061C23A3D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273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7DDBE-CAAA-4A62-B79C-C67341973400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8814A-5A9C-4385-9D34-061C23A3D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03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7DDBE-CAAA-4A62-B79C-C67341973400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8814A-5A9C-4385-9D34-061C23A3D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49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7DDBE-CAAA-4A62-B79C-C67341973400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8814A-5A9C-4385-9D34-061C23A3D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087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7DDBE-CAAA-4A62-B79C-C67341973400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8814A-5A9C-4385-9D34-061C23A3D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039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7DDBE-CAAA-4A62-B79C-C67341973400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8814A-5A9C-4385-9D34-061C23A3D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097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7DDBE-CAAA-4A62-B79C-C67341973400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8814A-5A9C-4385-9D34-061C23A3D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005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7DDBE-CAAA-4A62-B79C-C67341973400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8814A-5A9C-4385-9D34-061C23A3D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248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7DDBE-CAAA-4A62-B79C-C67341973400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8814A-5A9C-4385-9D34-061C23A3D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489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7DDBE-CAAA-4A62-B79C-C67341973400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8814A-5A9C-4385-9D34-061C23A3D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758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7DDBE-CAAA-4A62-B79C-C67341973400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8814A-5A9C-4385-9D34-061C23A3D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0279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17649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54530" y="3765449"/>
            <a:ext cx="5449871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7DDBE-CAAA-4A62-B79C-C67341973400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8814A-5A9C-4385-9D34-061C23A3D5D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540115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7DDBE-CAAA-4A62-B79C-C67341973400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8814A-5A9C-4385-9D34-061C23A3D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582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7DDBE-CAAA-4A62-B79C-C67341973400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8814A-5A9C-4385-9D34-061C23A3D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7845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7DDBE-CAAA-4A62-B79C-C67341973400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8814A-5A9C-4385-9D34-061C23A3D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6874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7DDBE-CAAA-4A62-B79C-C67341973400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8814A-5A9C-4385-9D34-061C23A3D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741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7DDBE-CAAA-4A62-B79C-C67341973400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8814A-5A9C-4385-9D34-061C23A3D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522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73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66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1000"/>
                </a:schemeClr>
              </a:gs>
              <a:gs pos="75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8000"/>
                </a:schemeClr>
              </a:gs>
              <a:gs pos="72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937DDBE-CAAA-4A62-B79C-C67341973400}" type="datetimeFigureOut">
              <a:rPr lang="en-US" smtClean="0"/>
              <a:t>1/2/2023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08814A-5A9C-4385-9D34-061C23A3D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2391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Linear_circuit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hyperlink" Target="https://en.wikipedia.org/wiki/Complex_number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58700-548A-4A92-9FFB-AAE5EE29BC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br>
              <a:rPr kumimoji="0" lang="en-US" sz="2200" b="0" i="0" u="none" strike="noStrike" kern="1200" cap="none" spc="-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Black"/>
                <a:ea typeface="+mj-ea"/>
                <a:cs typeface="Arial Black"/>
              </a:rPr>
            </a:br>
            <a:r>
              <a:rPr kumimoji="0" lang="en-US" sz="3600" b="0" i="0" u="none" strike="noStrike" kern="1200" cap="none" spc="-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kumimoji="0" lang="en-US" sz="3600" b="0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-P</a:t>
            </a:r>
            <a:r>
              <a:rPr kumimoji="0" lang="en-US" sz="3600" b="0" i="0" u="none" strike="noStrike" kern="1200" cap="none" spc="-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ORT  CIRCUITS</a:t>
            </a:r>
            <a:b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/>
                <a:ea typeface="+mj-ea"/>
                <a:cs typeface="Arial Black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191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D5099A9A-8C95-4009-B292-BC5F61402E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35070" cy="6858000"/>
          </a:xfrm>
        </p:spPr>
      </p:pic>
    </p:spTree>
    <p:extLst>
      <p:ext uri="{BB962C8B-B14F-4D97-AF65-F5344CB8AC3E}">
        <p14:creationId xmlns:p14="http://schemas.microsoft.com/office/powerpoint/2010/main" val="3322497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15823-E995-42EB-89DA-5188D4E35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C4652-9D18-43AF-9C1A-1C2AD914F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53248"/>
            <a:ext cx="9037983" cy="4878856"/>
          </a:xfrm>
        </p:spPr>
        <p:txBody>
          <a:bodyPr/>
          <a:lstStyle/>
          <a:p>
            <a:pPr algn="just"/>
            <a:r>
              <a:rPr lang="en-US" dirty="0"/>
              <a:t>A pair of terminals through which a current may enter or leave a network is known as a port. Two-terminal devices or elements (such as resistors, capacitors, and inductors) result in one-port networks. </a:t>
            </a:r>
          </a:p>
          <a:p>
            <a:pPr algn="just"/>
            <a:r>
              <a:rPr lang="en-US" dirty="0"/>
              <a:t>Most of the circuits we have dealt with so far are two-terminal or one-port circuits, represented in Fig.1(a). We have considered the voltage across or current through a single pair of terminals—such as the two terminals of a resistor, a capacitor, or an inductor.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69E4EF-7434-487E-BE6B-83B0387BE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9950" y="4569929"/>
            <a:ext cx="2324100" cy="216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788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153C3-F8FF-43A4-B559-FA0A04A3D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8574CA-5F0D-49FE-ADCB-9C06C67AEC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792244"/>
          </a:xfrm>
        </p:spPr>
      </p:pic>
    </p:spTree>
    <p:extLst>
      <p:ext uri="{BB962C8B-B14F-4D97-AF65-F5344CB8AC3E}">
        <p14:creationId xmlns:p14="http://schemas.microsoft.com/office/powerpoint/2010/main" val="245554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AC7D6-2342-46CA-AD85-0366FAEE0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24D8717-05EB-4C4C-A0DA-FC71E0AE0D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270124" cy="6858000"/>
          </a:xfrm>
        </p:spPr>
      </p:pic>
    </p:spTree>
    <p:extLst>
      <p:ext uri="{BB962C8B-B14F-4D97-AF65-F5344CB8AC3E}">
        <p14:creationId xmlns:p14="http://schemas.microsoft.com/office/powerpoint/2010/main" val="3655911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64A28-9CF6-4B77-A9AD-82984D62A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B00C12-86C2-4BA3-9AF0-894391CFB7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65802"/>
          </a:xfrm>
        </p:spPr>
      </p:pic>
    </p:spTree>
    <p:extLst>
      <p:ext uri="{BB962C8B-B14F-4D97-AF65-F5344CB8AC3E}">
        <p14:creationId xmlns:p14="http://schemas.microsoft.com/office/powerpoint/2010/main" val="1865805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2E40D-FA2F-411C-8A6C-0C9908BAA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043" y="124179"/>
            <a:ext cx="8873067" cy="6592710"/>
          </a:xfrm>
        </p:spPr>
        <p:txBody>
          <a:bodyPr>
            <a:normAutofit lnSpcReduction="10000"/>
          </a:bodyPr>
          <a:lstStyle/>
          <a:p>
            <a:pPr marL="0" marR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 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two-port network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four-terminals network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) is an electrical network (circuit) or device with two </a:t>
            </a:r>
            <a:r>
              <a:rPr lang="en-US" sz="2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pairs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of terminals to connect to external circuits. </a:t>
            </a:r>
          </a:p>
          <a:p>
            <a:pPr marL="0" marR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 terminals constitute a port if the currents applied to them satisfy the port condition: </a:t>
            </a:r>
          </a:p>
          <a:p>
            <a:pPr marL="114300" marR="0" indent="-4572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 electric current entering one terminal must equal </a:t>
            </a:r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8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current emerging from the other terminal on the same port. </a:t>
            </a:r>
          </a:p>
          <a:p>
            <a:pPr marL="0" marR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ports constitute interfaces where:</a:t>
            </a:r>
          </a:p>
          <a:p>
            <a:pPr marL="114300" marR="0" indent="-4572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network connects to other networks, </a:t>
            </a:r>
          </a:p>
          <a:p>
            <a:pPr marL="114300" marR="0" indent="-4572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points where signals are applied or outputs are taken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a two-port network, often port 1 is considered the input port and port 2 is considered the output port.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866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9CF62-E953-405F-B5C6-02E752383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" y="101601"/>
            <a:ext cx="9042400" cy="6615288"/>
          </a:xfrm>
        </p:spPr>
        <p:txBody>
          <a:bodyPr>
            <a:noAutofit/>
          </a:bodyPr>
          <a:lstStyle/>
          <a:p>
            <a:pPr marL="0" marR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two-port network model is used in mathematical circuit analysis techniques to isolate portions of larger circuits. </a:t>
            </a:r>
          </a:p>
          <a:p>
            <a:pPr marL="0" marR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two-port network is regarded as a </a:t>
            </a:r>
            <a:r>
              <a:rPr lang="en-US" sz="2200" dirty="0">
                <a:solidFill>
                  <a:srgbClr val="FFFF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"black box" 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its properties specified by a matrix of numbers. </a:t>
            </a:r>
          </a:p>
          <a:p>
            <a:pPr marL="0" marR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Advantages; </a:t>
            </a:r>
          </a:p>
          <a:p>
            <a:pPr marL="114300" marR="0" indent="-4572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FFFF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response of the network to signals applied to the ports</a:t>
            </a:r>
          </a:p>
          <a:p>
            <a:pPr marL="0" marR="0" indent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200" dirty="0">
                <a:solidFill>
                  <a:srgbClr val="FFFF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`can be calculated easily, without solving for all the internal 	voltages and currents in the network.</a:t>
            </a:r>
          </a:p>
          <a:p>
            <a:pPr marL="114300" marR="0" indent="-4572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FFFF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It also allows similar circuits or devices to be compared 		easily. </a:t>
            </a:r>
            <a:endParaRPr lang="en-US" sz="2200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Any 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2" tooltip="Linear circuit"/>
              </a:rPr>
              <a:t>linear circuit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with four terminals can be regarded as a two-port network provided that it does not contain an independent source and satisfies the port conditions.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765952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9D5034-BDCD-4AB1-893D-85BA2C93CE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3511" y="259645"/>
                <a:ext cx="8737600" cy="6479822"/>
              </a:xfrm>
            </p:spPr>
            <p:txBody>
              <a:bodyPr>
                <a:norm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Examples of circuits analyzed as two-ports are </a:t>
                </a:r>
                <a:r>
                  <a:rPr lang="en-US" sz="240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filters, matching networks, transmission lines, transformers, and small-signal models for transistors (such as the hybrid-pi model). </a:t>
                </a:r>
              </a:p>
              <a:p>
                <a:pPr marL="0" marR="0">
                  <a:lnSpc>
                    <a:spcPct val="107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 two-port mathematical models, the network is described by a 2 by 2 square matrix of </a:t>
                </a:r>
                <a:r>
                  <a:rPr lang="en-U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hlinkClick r:id="rId2" tooltip="Complex number"/>
                  </a:rPr>
                  <a:t>complex numbers</a:t>
                </a:r>
                <a:r>
                  <a:rPr lang="en-U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marR="0">
                  <a:lnSpc>
                    <a:spcPct val="107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common models that are used are referred to as </a:t>
                </a:r>
                <a:r>
                  <a:rPr lang="en-US" sz="240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z-</a:t>
                </a:r>
                <a:r>
                  <a:rPr lang="en-US" sz="2400" i="1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parameters</a:t>
                </a:r>
                <a:r>
                  <a:rPr lang="en-US" sz="240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 </a:t>
                </a:r>
                <a:r>
                  <a:rPr lang="en-US" sz="2400" i="1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y-parameters</a:t>
                </a:r>
                <a:r>
                  <a:rPr lang="en-US" sz="240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 </a:t>
                </a:r>
                <a:r>
                  <a:rPr lang="en-US" sz="2400" i="1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h-parameters</a:t>
                </a:r>
                <a:r>
                  <a:rPr lang="en-US" sz="240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 </a:t>
                </a:r>
                <a:r>
                  <a:rPr lang="en-US" sz="2400" i="1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g-parameters</a:t>
                </a:r>
                <a:r>
                  <a:rPr lang="en-US" sz="240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 </a:t>
                </a:r>
                <a:r>
                  <a:rPr lang="en-US" sz="2400" i="1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ABCD-parameters</a:t>
                </a:r>
                <a:r>
                  <a:rPr lang="en-US" sz="240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>
                  <a:solidFill>
                    <a:srgbClr val="FFFF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These are usually expressed in matrix notation, and they establish relations between the variables</a:t>
                </a:r>
                <a:endParaRPr lang="en-US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 marR="0">
                  <a:lnSpc>
                    <a:spcPct val="107000"/>
                  </a:lnSpc>
                  <a:spcBef>
                    <a:spcPts val="0"/>
                  </a:spcBef>
                  <a:spcAft>
                    <a:spcPts val="120"/>
                  </a:spcAft>
                  <a:buFont typeface="Wingdings" panose="05000000000000000000" pitchFamily="2" charset="2"/>
                  <a:buChar char="q"/>
                </a:pPr>
                <a:r>
                  <a:rPr lang="en-U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voltage across port 1</a:t>
                </a:r>
                <a:endParaRPr lang="en-US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 marR="0">
                  <a:lnSpc>
                    <a:spcPct val="107000"/>
                  </a:lnSpc>
                  <a:spcBef>
                    <a:spcPts val="0"/>
                  </a:spcBef>
                  <a:spcAft>
                    <a:spcPts val="120"/>
                  </a:spcAft>
                  <a:buFont typeface="Wingdings" panose="05000000000000000000" pitchFamily="2" charset="2"/>
                  <a:buChar char="q"/>
                </a:pPr>
                <a:r>
                  <a:rPr lang="en-U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I1= current into port 1</a:t>
                </a:r>
                <a:endParaRPr lang="en-US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 marR="0">
                  <a:lnSpc>
                    <a:spcPct val="107000"/>
                  </a:lnSpc>
                  <a:spcBef>
                    <a:spcPts val="0"/>
                  </a:spcBef>
                  <a:spcAft>
                    <a:spcPts val="120"/>
                  </a:spcAft>
                  <a:buFont typeface="Wingdings" panose="05000000000000000000" pitchFamily="2" charset="2"/>
                  <a:buChar char="q"/>
                </a:pPr>
                <a:r>
                  <a:rPr lang="en-U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V2 = voltage across port 2</a:t>
                </a:r>
                <a:endParaRPr lang="en-US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 marR="0">
                  <a:lnSpc>
                    <a:spcPct val="107000"/>
                  </a:lnSpc>
                  <a:spcBef>
                    <a:spcPts val="0"/>
                  </a:spcBef>
                  <a:spcAft>
                    <a:spcPts val="120"/>
                  </a:spcAft>
                  <a:buFont typeface="Wingdings" panose="05000000000000000000" pitchFamily="2" charset="2"/>
                  <a:buChar char="q"/>
                </a:pPr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I2=current into port 2</a:t>
                </a:r>
                <a:endParaRPr lang="en-US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9D5034-BDCD-4AB1-893D-85BA2C93CE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3511" y="259645"/>
                <a:ext cx="8737600" cy="6479822"/>
              </a:xfrm>
              <a:blipFill>
                <a:blip r:embed="rId3"/>
                <a:stretch>
                  <a:fillRect l="-1047" t="-7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0575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404F8-576B-40C7-A134-8836C7657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880564-A131-4B7E-BF45-186AA14347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81248"/>
          </a:xfrm>
        </p:spPr>
      </p:pic>
    </p:spTree>
    <p:extLst>
      <p:ext uri="{BB962C8B-B14F-4D97-AF65-F5344CB8AC3E}">
        <p14:creationId xmlns:p14="http://schemas.microsoft.com/office/powerpoint/2010/main" val="3942195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F12C2-D6B1-43D1-8BA8-FD3D00E83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2F5928-138C-4D1C-8E7C-F9563E8B26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22951"/>
          </a:xfrm>
        </p:spPr>
      </p:pic>
    </p:spTree>
    <p:extLst>
      <p:ext uri="{BB962C8B-B14F-4D97-AF65-F5344CB8AC3E}">
        <p14:creationId xmlns:p14="http://schemas.microsoft.com/office/powerpoint/2010/main" val="3559966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EDCC8-F6E2-4AD9-A484-4039ECB65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49ED32-0B93-40A7-A571-023E16ADC0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9144000" cy="6912615"/>
          </a:xfrm>
        </p:spPr>
      </p:pic>
    </p:spTree>
    <p:extLst>
      <p:ext uri="{BB962C8B-B14F-4D97-AF65-F5344CB8AC3E}">
        <p14:creationId xmlns:p14="http://schemas.microsoft.com/office/powerpoint/2010/main" val="1567044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86E7F-6D63-405D-858D-CBB718301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9608E9-681C-4797-830F-4735A36F6E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9144000" cy="6799783"/>
          </a:xfrm>
        </p:spPr>
      </p:pic>
    </p:spTree>
    <p:extLst>
      <p:ext uri="{BB962C8B-B14F-4D97-AF65-F5344CB8AC3E}">
        <p14:creationId xmlns:p14="http://schemas.microsoft.com/office/powerpoint/2010/main" val="2226617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64D12-E80E-40B8-87BB-958C2DC3C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272F27-DD6F-4335-8B67-855B4D0BA5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935756"/>
          </a:xfrm>
        </p:spPr>
      </p:pic>
    </p:spTree>
    <p:extLst>
      <p:ext uri="{BB962C8B-B14F-4D97-AF65-F5344CB8AC3E}">
        <p14:creationId xmlns:p14="http://schemas.microsoft.com/office/powerpoint/2010/main" val="1642575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2C9AE-5C81-4FEA-B46D-E1077B236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FFF956-D192-427F-A9F6-10B782D335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22710"/>
          </a:xfrm>
        </p:spPr>
      </p:pic>
    </p:spTree>
    <p:extLst>
      <p:ext uri="{BB962C8B-B14F-4D97-AF65-F5344CB8AC3E}">
        <p14:creationId xmlns:p14="http://schemas.microsoft.com/office/powerpoint/2010/main" val="12218554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7D86A-062E-46A4-9D70-F2AABD130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2C0A8D-490E-412E-9B4C-0E5E19AC65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97010"/>
          </a:xfrm>
        </p:spPr>
      </p:pic>
    </p:spTree>
    <p:extLst>
      <p:ext uri="{BB962C8B-B14F-4D97-AF65-F5344CB8AC3E}">
        <p14:creationId xmlns:p14="http://schemas.microsoft.com/office/powerpoint/2010/main" val="28662681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8DBFD-BAAF-4CB3-ADA3-9E9B0C586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10A3C7-A7AA-42FD-9518-C6C4E79865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07373"/>
          </a:xfrm>
        </p:spPr>
      </p:pic>
    </p:spTree>
    <p:extLst>
      <p:ext uri="{BB962C8B-B14F-4D97-AF65-F5344CB8AC3E}">
        <p14:creationId xmlns:p14="http://schemas.microsoft.com/office/powerpoint/2010/main" val="10285628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3EFB1-14A8-4BA4-B99C-1D35494C3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414EA4-6FBE-4007-8F57-BF3AE275C2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69604"/>
          </a:xfrm>
        </p:spPr>
      </p:pic>
    </p:spTree>
    <p:extLst>
      <p:ext uri="{BB962C8B-B14F-4D97-AF65-F5344CB8AC3E}">
        <p14:creationId xmlns:p14="http://schemas.microsoft.com/office/powerpoint/2010/main" val="26248850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E51C3-712C-467A-B6F9-144C6A2C2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D577F7-41EE-4782-A7E9-0DFDF8FA12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95602" cy="6858000"/>
          </a:xfrm>
        </p:spPr>
      </p:pic>
    </p:spTree>
    <p:extLst>
      <p:ext uri="{BB962C8B-B14F-4D97-AF65-F5344CB8AC3E}">
        <p14:creationId xmlns:p14="http://schemas.microsoft.com/office/powerpoint/2010/main" val="19112404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F85EF-7ECF-45C1-B2EF-13C4F1BD0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AAE309-FEDD-45CA-A5FF-A739C48BD5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-1"/>
            <a:ext cx="9230497" cy="6805536"/>
          </a:xfrm>
        </p:spPr>
      </p:pic>
    </p:spTree>
    <p:extLst>
      <p:ext uri="{BB962C8B-B14F-4D97-AF65-F5344CB8AC3E}">
        <p14:creationId xmlns:p14="http://schemas.microsoft.com/office/powerpoint/2010/main" val="30268823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48A85-A5B1-4675-B04B-E5E82B695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176606-1BF6-463D-AC27-FE139721AB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26898"/>
          </a:xfrm>
        </p:spPr>
      </p:pic>
    </p:spTree>
    <p:extLst>
      <p:ext uri="{BB962C8B-B14F-4D97-AF65-F5344CB8AC3E}">
        <p14:creationId xmlns:p14="http://schemas.microsoft.com/office/powerpoint/2010/main" val="15544072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22247-BCDA-4818-9393-2EB4F85B5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C7ECB48-5DB5-477E-963B-27346038C1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-1"/>
            <a:ext cx="9149757" cy="6746790"/>
          </a:xfrm>
        </p:spPr>
      </p:pic>
    </p:spTree>
    <p:extLst>
      <p:ext uri="{BB962C8B-B14F-4D97-AF65-F5344CB8AC3E}">
        <p14:creationId xmlns:p14="http://schemas.microsoft.com/office/powerpoint/2010/main" val="24629491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248AF-658C-4301-8077-41F028577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CF23EA-DBB0-495F-AE1A-7FCE616B9F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19254"/>
          </a:xfrm>
        </p:spPr>
      </p:pic>
    </p:spTree>
    <p:extLst>
      <p:ext uri="{BB962C8B-B14F-4D97-AF65-F5344CB8AC3E}">
        <p14:creationId xmlns:p14="http://schemas.microsoft.com/office/powerpoint/2010/main" val="25192483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D7845-BF38-4FC6-9697-769902F86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281" y="111211"/>
            <a:ext cx="8896865" cy="6549081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Detemine</a:t>
            </a:r>
            <a:r>
              <a:rPr lang="en-US" dirty="0"/>
              <a:t> the Z parameter matrix of the port networks below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F1E565-2D52-452E-A0FF-7EBC0B1D7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89" y="988540"/>
            <a:ext cx="8785257" cy="286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3434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BC7E255-42B1-42CB-8659-FC99A1AE98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416" y="1828801"/>
            <a:ext cx="8228174" cy="3472247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F0F03C-46E0-4A5C-A4D1-EB3094793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416" y="735266"/>
            <a:ext cx="8007180" cy="87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6877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87CA8-A5FE-44FF-B14E-C78A1AC80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494" y="416859"/>
            <a:ext cx="8767482" cy="6441141"/>
          </a:xfrm>
        </p:spPr>
        <p:txBody>
          <a:bodyPr/>
          <a:lstStyle/>
          <a:p>
            <a:pPr algn="just"/>
            <a:r>
              <a:rPr lang="en-US" dirty="0"/>
              <a:t>We have also studied four-terminal or two-port circuits involving op amps, transistors, and transformers, as shown in </a:t>
            </a:r>
            <a:r>
              <a:rPr lang="en-US" dirty="0" err="1"/>
              <a:t>Fig.b</a:t>
            </a:r>
            <a:r>
              <a:rPr lang="en-US" dirty="0"/>
              <a:t> 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In general, a network may have n ports.</a:t>
            </a:r>
          </a:p>
          <a:p>
            <a:pPr algn="just"/>
            <a:r>
              <a:rPr lang="en-US" dirty="0"/>
              <a:t> A port is an access to the network and consists of a pair of terminals; the current entering one terminal leaves through the other terminal so that the net current entering the port equals zero.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02C764-B96F-4B13-862D-FFC2B8172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594" y="1287420"/>
            <a:ext cx="4116418" cy="258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4550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1CE8E-3433-4357-8227-A615ABF3C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ADMITTANCE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1C475-3278-4365-8E39-BC382CD44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059" y="1169894"/>
            <a:ext cx="8812469" cy="5526741"/>
          </a:xfrm>
        </p:spPr>
        <p:txBody>
          <a:bodyPr/>
          <a:lstStyle/>
          <a:p>
            <a:r>
              <a:rPr lang="en-US" dirty="0"/>
              <a:t>Admittance parameters are obtained by expressing the terminal currents in terms of the terminal voltages</a:t>
            </a:r>
          </a:p>
          <a:p>
            <a:r>
              <a:rPr lang="en-US" dirty="0"/>
              <a:t>In either Fig. (a) or (b), the terminal currents can be expressed in terms of the terminal voltages as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49643C-000D-49C5-89B8-F970511D8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063" y="2542512"/>
            <a:ext cx="4327878" cy="17729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318FAA-9095-4E94-9E23-14F361DEF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354" y="2958351"/>
            <a:ext cx="3383150" cy="22591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724D91-2EA3-4555-A168-192A091B9D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5824" y="4419177"/>
            <a:ext cx="3724835" cy="239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5277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387A9-1780-406F-BB92-AF510E0DB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706" y="134471"/>
            <a:ext cx="8740588" cy="6589057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The y terms are known as the admittance parameters (or, simply, y pa- </a:t>
            </a:r>
            <a:r>
              <a:rPr lang="en-US" dirty="0" err="1"/>
              <a:t>rameters</a:t>
            </a:r>
            <a:r>
              <a:rPr lang="en-US" dirty="0"/>
              <a:t>) and have units of siemens.</a:t>
            </a:r>
          </a:p>
          <a:p>
            <a:pPr algn="just"/>
            <a:r>
              <a:rPr lang="en-US" dirty="0"/>
              <a:t>The values of the parameters can be determined by setting V1 = 0	I2 (input port short-circuited) or V2 = 0 (output port short-circuited). Thus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Since the y parameters are obtained by short-circuiting the input or out- put port, they are also called the short-circuit admittance parameters. Specifically,</a:t>
            </a:r>
          </a:p>
          <a:p>
            <a:r>
              <a:rPr lang="en-US" dirty="0"/>
              <a:t>y11 = Short-circuit input admittance</a:t>
            </a:r>
          </a:p>
          <a:p>
            <a:r>
              <a:rPr lang="en-US" dirty="0"/>
              <a:t>y12 = Short-circuit transfer admittance from port 2 to port 1</a:t>
            </a:r>
          </a:p>
          <a:p>
            <a:r>
              <a:rPr lang="en-US" dirty="0"/>
              <a:t> y21 = Short-circuit transfer admittance from port 1 to port 2 </a:t>
            </a:r>
          </a:p>
          <a:p>
            <a:r>
              <a:rPr lang="en-US" dirty="0"/>
              <a:t>y22 = Short-circuit output admittance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932FB6-0B46-40FB-809A-D87BDEA00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752" y="1738767"/>
            <a:ext cx="5546957" cy="244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5002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4AECE-080E-429B-B678-7E6135DD6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76" y="215153"/>
            <a:ext cx="9036424" cy="6481482"/>
          </a:xfrm>
        </p:spPr>
        <p:txBody>
          <a:bodyPr/>
          <a:lstStyle/>
          <a:p>
            <a:pPr algn="just"/>
            <a:r>
              <a:rPr lang="en-US" dirty="0"/>
              <a:t> y11 and y21 are obtained by connecting a current I1 to port 1 and short-circuiting port 2 as in Fig. (a), finding V1 and I2, and then calculating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Similarly, y12 and y22 are obtained by connecting a current source I2 to port 2 and short-circuiting port 1 as in Fig. (b), finding I1 and V2, and then getting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This procedure provides us with a means of calculating or measuring the y parameters. </a:t>
            </a:r>
          </a:p>
          <a:p>
            <a:pPr algn="just"/>
            <a:r>
              <a:rPr lang="en-US" dirty="0"/>
              <a:t>The impedance and admittance parameters are collectively referred to as immittance parameters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03613A-3CD3-4568-9CEC-5D9073DC9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419" y="1490983"/>
            <a:ext cx="3629181" cy="10236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6339F3-C1B5-489B-8F60-A2BB0C42E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6546" y="3566696"/>
            <a:ext cx="3587054" cy="103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7866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43876-A6D2-46B4-A563-B64C73CFD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494" y="255495"/>
            <a:ext cx="8700247" cy="6400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/>
              <a:t>The general equivalent circuit for y parameters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Examples</a:t>
            </a:r>
          </a:p>
          <a:p>
            <a:pPr marL="457200" indent="-457200">
              <a:buAutoNum type="arabicPeriod"/>
            </a:pPr>
            <a:r>
              <a:rPr lang="en-US" dirty="0"/>
              <a:t>Obtain the y parameters for the П network shown in figure</a:t>
            </a:r>
          </a:p>
          <a:p>
            <a:pPr marL="457200" indent="-457200">
              <a:buAutoNum type="arabicPeriod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BC3DE4-EAA0-48F4-B0BF-C40A1BDD1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189" y="914401"/>
            <a:ext cx="5104593" cy="23313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F18C4E-124D-435F-A851-39392586F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6189" y="4112651"/>
            <a:ext cx="4891622" cy="2543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171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696B6-F4C5-4658-97AD-227F8D911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259" y="215153"/>
            <a:ext cx="8780929" cy="654871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Solution</a:t>
            </a:r>
          </a:p>
          <a:p>
            <a:r>
              <a:rPr lang="en-US" dirty="0"/>
              <a:t>To find y11 and y21, short-circuit the output port and connect a current source I1 to the input port as in Fig.(a)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0332A2-F7B0-41C5-9505-E861DD2FE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208" y="1456918"/>
            <a:ext cx="3832345" cy="22946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4A555D-5DE0-4B96-9A4E-61065C7CA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74" y="4244625"/>
            <a:ext cx="8031105" cy="2294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9628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E3EBB-E126-42C1-8F37-9E9C35DA5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259" y="215153"/>
            <a:ext cx="8955741" cy="6508376"/>
          </a:xfrm>
        </p:spPr>
        <p:txBody>
          <a:bodyPr/>
          <a:lstStyle/>
          <a:p>
            <a:r>
              <a:rPr lang="en-US" dirty="0"/>
              <a:t>To get y12 and y22, short-circuit the input port and connect a current source I2 to the output port as in Fig.(b).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CFB2E8-26C2-4CD2-A691-92796D07A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020" y="964139"/>
            <a:ext cx="4541960" cy="26634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36675E-FD96-4862-A782-0A5D7755A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397" y="3875734"/>
            <a:ext cx="8555762" cy="2175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0592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EF9E8-0511-4BBF-B017-A5BD2854E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365" y="147919"/>
            <a:ext cx="8807823" cy="6494928"/>
          </a:xfrm>
        </p:spPr>
        <p:txBody>
          <a:bodyPr/>
          <a:lstStyle/>
          <a:p>
            <a:r>
              <a:rPr lang="en-US" dirty="0"/>
              <a:t>2. Obtain the y parameters for the T network shown in Fig.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3. Determine the y parameters for the two-port shown in Fig.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171E36-F31A-4E41-BA87-432F985C9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757" y="846773"/>
            <a:ext cx="4436196" cy="23625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0727A2C-0D07-49F0-8DB8-A251D9C3E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0919" y="3792692"/>
            <a:ext cx="4045034" cy="288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2796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03E95-350B-4DEF-A25B-6B8910433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HYBRID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DA6DA-FEDA-4039-B8C6-CAD57AB2A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599" y="1196789"/>
            <a:ext cx="8700247" cy="5526740"/>
          </a:xfrm>
        </p:spPr>
        <p:txBody>
          <a:bodyPr/>
          <a:lstStyle/>
          <a:p>
            <a:pPr algn="just"/>
            <a:r>
              <a:rPr lang="en-US" dirty="0"/>
              <a:t>The z and y parameters of a two-port network do not always exist. So there is a need for developing another set of parameters. </a:t>
            </a:r>
          </a:p>
          <a:p>
            <a:pPr algn="just"/>
            <a:r>
              <a:rPr lang="en-US" dirty="0"/>
              <a:t>This third set of parameters is based on making V1 and I2 the dependent variables.  Thus, we obtain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FD2732-4A1F-4DAB-929D-B225B73B3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79" y="3301859"/>
            <a:ext cx="6840227" cy="285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0013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24373-8110-4A19-87B0-C89657FF6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471" y="161365"/>
            <a:ext cx="8901953" cy="6494929"/>
          </a:xfrm>
        </p:spPr>
        <p:txBody>
          <a:bodyPr/>
          <a:lstStyle/>
          <a:p>
            <a:r>
              <a:rPr lang="en-US" dirty="0"/>
              <a:t>The h terms are known as the hybrid parameters (or, simply, h parameters) because they are a hybrid combination of ratios. </a:t>
            </a:r>
          </a:p>
          <a:p>
            <a:r>
              <a:rPr lang="en-US" dirty="0"/>
              <a:t>They are very useful for describing electronic devices such as transistors; it is much easier to measure experimentally the h parameters of such devices than to measure their z or y parameters. </a:t>
            </a:r>
          </a:p>
          <a:p>
            <a:r>
              <a:rPr lang="en-US" dirty="0"/>
              <a:t>The values of the parameters are determined as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8BEA70-EFB4-4195-9256-8B36D248B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828" y="3227294"/>
            <a:ext cx="5663821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0964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917F0-AD64-49F1-B25B-EF56F290D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365" y="416859"/>
            <a:ext cx="8888505" cy="6279776"/>
          </a:xfrm>
        </p:spPr>
        <p:txBody>
          <a:bodyPr/>
          <a:lstStyle/>
          <a:p>
            <a:r>
              <a:rPr lang="en-US" dirty="0"/>
              <a:t>It is evident that the parameters h11, h12, h21, and h22 represent an impedance, a voltage gain, a current gain, and an admittance, respectively. This is why they are called the hybrid parameters. </a:t>
            </a:r>
          </a:p>
          <a:p>
            <a:pPr marL="0" indent="0">
              <a:buNone/>
            </a:pPr>
            <a:r>
              <a:rPr lang="en-US" dirty="0"/>
              <a:t>To be specific,</a:t>
            </a:r>
          </a:p>
          <a:p>
            <a:r>
              <a:rPr lang="en-US" dirty="0"/>
              <a:t>h11 = Short-circuit input impedance</a:t>
            </a:r>
          </a:p>
          <a:p>
            <a:r>
              <a:rPr lang="en-US" dirty="0"/>
              <a:t>h12 = Open-circuit reverse voltage gain </a:t>
            </a:r>
          </a:p>
          <a:p>
            <a:r>
              <a:rPr lang="en-US" dirty="0"/>
              <a:t>h21 = Short-circuit forward current gain </a:t>
            </a:r>
          </a:p>
          <a:p>
            <a:r>
              <a:rPr lang="en-US" dirty="0"/>
              <a:t>h22 = Open-circuit output admittance</a:t>
            </a:r>
          </a:p>
          <a:p>
            <a:pPr marL="0" indent="0">
              <a:buNone/>
            </a:pPr>
            <a:r>
              <a:rPr lang="en-US" dirty="0"/>
              <a:t>The h-parameter equivalent network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B9B9A1-DFFD-4AD3-A2DA-218713859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848" y="4239258"/>
            <a:ext cx="4673352" cy="230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2144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4624C-0E35-4D9A-AFAA-69DCA5CC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812" y="174812"/>
            <a:ext cx="8794376" cy="6454587"/>
          </a:xfrm>
        </p:spPr>
        <p:txBody>
          <a:bodyPr/>
          <a:lstStyle/>
          <a:p>
            <a:r>
              <a:rPr lang="en-US" dirty="0"/>
              <a:t>The procedure for calculating the h parameters is similar to that used for the z or y parameters. </a:t>
            </a:r>
          </a:p>
          <a:p>
            <a:r>
              <a:rPr lang="en-US" dirty="0"/>
              <a:t> Voltage or current source  is applied to the appropriate port, short-circuit or open-circuit the other port, depending on the parameter of interest, and perform regular circuit analysis. </a:t>
            </a:r>
          </a:p>
          <a:p>
            <a:r>
              <a:rPr lang="en-US" dirty="0"/>
              <a:t>For reciprocal networks, h12 = -h21. </a:t>
            </a:r>
          </a:p>
          <a:p>
            <a:r>
              <a:rPr lang="en-US" dirty="0"/>
              <a:t>Note; </a:t>
            </a:r>
          </a:p>
          <a:p>
            <a:r>
              <a:rPr lang="en-US" dirty="0"/>
              <a:t>A set of parameters closely related to the h parameters are the g-parameters or inverse hybrid parameters. </a:t>
            </a:r>
          </a:p>
          <a:p>
            <a:r>
              <a:rPr lang="en-US" dirty="0"/>
              <a:t>These are used to describe the terminal currents and voltages as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A9819F-1DFF-47A3-BD65-77132F05F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933" y="4347030"/>
            <a:ext cx="5752031" cy="2282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0291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8DACA-EFE6-499F-BA25-FB57A9B14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471" y="201706"/>
            <a:ext cx="8807823" cy="6884893"/>
          </a:xfrm>
        </p:spPr>
        <p:txBody>
          <a:bodyPr/>
          <a:lstStyle/>
          <a:p>
            <a:r>
              <a:rPr lang="en-US" dirty="0"/>
              <a:t>Examples</a:t>
            </a:r>
          </a:p>
          <a:p>
            <a:pPr marL="457200" indent="-457200">
              <a:buAutoNum type="arabicPeriod"/>
            </a:pPr>
            <a:r>
              <a:rPr lang="en-US" dirty="0"/>
              <a:t>Find the hybrid parameters for the two-port network of Fig.</a:t>
            </a:r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Solution </a:t>
            </a:r>
          </a:p>
          <a:p>
            <a:pPr marL="0" indent="0">
              <a:buNone/>
            </a:pPr>
            <a:r>
              <a:rPr lang="en-US" dirty="0"/>
              <a:t>To find h11 and h21, short-circuit the output port and connect a current source I1 to the input port as shown in Fig.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68C2B8-1004-4FB1-8D22-F51F05F3F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955" y="1364505"/>
            <a:ext cx="3827605" cy="20644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B596A9-2A94-44EA-B559-954073BDA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0020" y="4748595"/>
            <a:ext cx="4912074" cy="2064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9007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BF45A-2D35-4F29-8C82-8998CD3DA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624" y="2960378"/>
            <a:ext cx="8673352" cy="3897621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To obtain h12 and h22, we open-circuit the input port and connect a voltage source V2 to the output port as in Fig.(b).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1D1E02-AFCA-4292-965C-B7C323BFF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836" y="4168588"/>
            <a:ext cx="4975740" cy="26442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75871C-8397-4E82-B0AB-FEAB2C1E4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2241" y="201707"/>
            <a:ext cx="4383537" cy="11712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711B59-E973-4764-84B8-459E309AFD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1937" y="2050170"/>
            <a:ext cx="4220126" cy="12784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6A75777-2F32-4C32-B3C7-506F1C51E1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1300" y="1551307"/>
            <a:ext cx="4290763" cy="317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0360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DCCFD-E158-454A-BBC3-9103E7251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74812"/>
            <a:ext cx="8713694" cy="6911788"/>
          </a:xfrm>
        </p:spPr>
        <p:txBody>
          <a:bodyPr/>
          <a:lstStyle/>
          <a:p>
            <a:r>
              <a:rPr lang="en-US" dirty="0"/>
              <a:t>By voltage division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Determine the h parameters for the circuit in Fig.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F15699-DC65-4ED7-BB8A-3D90E948D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305" y="641605"/>
            <a:ext cx="4814047" cy="36334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2267C5-9551-42E5-AF49-46EDFCEDC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739" y="4865964"/>
            <a:ext cx="3709308" cy="199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9125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886</TotalTime>
  <Words>824</Words>
  <Application>Microsoft Office PowerPoint</Application>
  <PresentationFormat>On-screen Show (4:3)</PresentationFormat>
  <Paragraphs>136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9" baseType="lpstr">
      <vt:lpstr>Arial</vt:lpstr>
      <vt:lpstr>Arial Black</vt:lpstr>
      <vt:lpstr>Calibri</vt:lpstr>
      <vt:lpstr>Cambria Math</vt:lpstr>
      <vt:lpstr>Century Gothic</vt:lpstr>
      <vt:lpstr>Times New Roman</vt:lpstr>
      <vt:lpstr>Wingdings</vt:lpstr>
      <vt:lpstr>Wingdings 3</vt:lpstr>
      <vt:lpstr>Ion</vt:lpstr>
      <vt:lpstr> TWO-PORT  CIRCUITS </vt:lpstr>
      <vt:lpstr>PowerPoint Presentation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ADMITTANCE PARAMETERS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HYBRID PARAMETERS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NINGULWAS</dc:creator>
  <cp:lastModifiedBy>Ningulwas Ignasi</cp:lastModifiedBy>
  <cp:revision>65</cp:revision>
  <dcterms:created xsi:type="dcterms:W3CDTF">2021-01-25T07:17:16Z</dcterms:created>
  <dcterms:modified xsi:type="dcterms:W3CDTF">2023-01-02T10:08:14Z</dcterms:modified>
</cp:coreProperties>
</file>